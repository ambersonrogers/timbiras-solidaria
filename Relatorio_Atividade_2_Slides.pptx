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731520"/>
            <a:ext cx="9448495" cy="457200"/>
          </a:xfrm>
          <a:prstGeom prst="roundRect">
            <a:avLst/>
          </a:prstGeom>
          <a:solidFill>
            <a:srgbClr val="0F3D2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B981"/>
                </a:solidFill>
                <a:latin typeface="Arial"/>
              </a:defRPr>
            </a:pPr>
            <a:r>
              <a:t>UNIVERSIDADE ESTADUAL DO MARANHÃO — UEMA | POLO DE TIMBIRAS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484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BD5E1"/>
                </a:solidFill>
                <a:latin typeface="Arial"/>
              </a:defRPr>
            </a:pPr>
            <a:r>
              <a:t>CST em Análise e Desenvolvimento de Sistemas | Disciplina: Desenvolvimento Web | Nota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4484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0B981"/>
                </a:solidFill>
                <a:latin typeface="Arial"/>
              </a:defRPr>
            </a:pPr>
            <a:r>
              <a:t>Timbiras Solidária 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Arial"/>
              </a:defRPr>
            </a:pPr>
            <a:r>
              <a:t>Como a tecnologia web pode encurtar distâncias, combater a fome e unir uma comunidade inteira em torno do ODS 2 da ONU.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572000"/>
            <a:ext cx="9448495" cy="1463040"/>
          </a:xfrm>
          <a:prstGeom prst="roundRect">
            <a:avLst/>
          </a:prstGeom>
          <a:solidFill>
            <a:srgbClr val="0C321D"/>
          </a:solidFill>
          <a:ln>
            <a:solidFill>
              <a:srgbClr val="145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EQUIPE TIMBIRANOS:</a:t>
            </a:r>
          </a:p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200">
                <a:solidFill>
                  <a:srgbClr val="CBD5E1"/>
                </a:solidFill>
                <a:latin typeface="Arial"/>
              </a:defRPr>
            </a:pPr>
            <a:r>
              <a:t>Polo Universitário de Timbiras — Maranhão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A fome não é um número abstrato: ela tem nome, endereço e rosto.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Timbiras é uma cidade acolhedora, forte e trabalhadora, banhada pelas águas do Rio Itapecuru. Mas, como tantas cidades do interior do Maranhão, muitas famílias de bairros como Forquilha, Mutirão, Alto Fogoso, Olaria e de povoados rurais distantes enfrentam dias difíceis para garantir o básico na mesa.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O Encontro de Duas Realidades: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De um lado, pequenos produtores rurais e comerciantes com vontade de ajudar e excedentes de produção. Do outro, famílias precisando de amparo imediato. O projeto Timbiras Solidária nasceu para ser a ponte digital entre a generosidade de quem pode doar e a dignidade de quem precisa receber.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371600"/>
            <a:ext cx="457200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Compromisso Real com o ODS 2 da ONU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Fome Zero e Agricultura Sustentável: foco na mobilização comunitária com valorização do agricultor familiar local.</a:t>
            </a:r>
            <a:br/>
          </a:p>
          <a:p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Público-Alvo que Abraçamos: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Cidadãos comuns: Que desejam doar 1 cesta ou 1 kg de alimento;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Comércio e feirantes: Que exercem cidadania e responsabilidade social;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Agricultura familiar: Que abastece a cidade com alimentos frescos;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Poder público e voluntários: Para transparência e distribuição ágil.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 Salto da Primeira para a Segunda Etapa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Na Nota 1, criamos uma interface estática em HTML5, CSS3 e Bootstrap. Era organizada e responsiva, mas funcionava como um panfleto digital: passiva e sem diálogo direto com quem acessava.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Na Nota 2, nossa missão foi dar vida e coração a esse projeto. Uma causa comunitária precisa de calor humano, resposta imediata e acolhimento.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Adotamos o React 19 para que cada elemento na tela reaja instantaneamente aos sentimentos e intenções do usuário, sem scripts soltos ou telas quebradas.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EFCE8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B45309"/>
                </a:solidFill>
                <a:latin typeface="Arial"/>
              </a:defRPr>
            </a:pPr>
            <a:r>
              <a:t>O Que Mudou na Experiência de Quem Usa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Retorno Imediato: Ao enviar uma doação, a meta comunitária sobe na mesma hora no topo do site e um Recibo Solidário com código exclusivo surge na tela.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Menos Esforço para Fazer o Bem: Botões de clique rápido ('1 Cesta', '2 Cestas', '5 Cestas') evitam digitação demorada no celular.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Chave PIX com 1 Toque: Cópia instantânea da chave institucional com aviso de confirmação na tela.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Trilha Sonora Acolhedora: Player com a canção 'Imagine', que respeita o usuário e pode ser pausado, mutado ou recolhido a qualquer momento.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4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Os Sentidos da Aplicação (Eventos JavaScript)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onSubmit (Doar.jsx): Interrompe o recarregamento brusco da página, confere se os campos estão corretos, grava no localStorage e avisa que a ajuda está a caminho.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onChange (PrestacaoContas.jsx): Filtra os bairros de Timbiras enquanto o morador digita, com busca inteligente sem travar.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onClick na Navbar: Menu hambúrguer no celular que abre suavemente e fecha sozinho ao tocar em qualquer link.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Clipboard API: Cópia suave da chave PIX sem selecionar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A Música que Conecta Gerações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Nenhum projeto comunitário vive só de botões; ele vive de sentimento. O componente PlayerAudio.jsx traz a música 'Imagine' como pano de fundo de esperança.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Tratamento Cuidadoso de Áudio: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Respeito à política de autoplay: A música não assusta o usuário; ela inicia suavemente apenas quando há interação voluntária do visitante com a página.</a:t>
            </a:r>
            <a:br/>
            <a:r>
              <a:t>• Controles completos: Controle deslizante de volume, botão mudo, equalizador com barras animadas em CSS e botão para minimizar o tocador para o canto da tela.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5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Por Que Usar a API do IBGE?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Poderíamos ter inventado nomes em um arquivo fixo, mas a disciplina nos desafiou a trabalhar como profissionais da web trabalham: consumindo dados reais de servidores públicos em tempo real.</a:t>
            </a:r>
          </a:p>
          <a:p>
            <a:br/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Endpoint Oficial Consultado:</a:t>
            </a:r>
          </a:p>
          <a:p>
            <a:pPr>
              <a:defRPr sz="1100" b="1">
                <a:solidFill>
                  <a:srgbClr val="0284C7"/>
                </a:solidFill>
                <a:latin typeface="Courier New"/>
              </a:defRPr>
            </a:pPr>
            <a:r>
              <a:t>https://servicodados.ibge.gov.br/api/v1/localidades/estados/MA/municipios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Obtivemos com precisão o Código Oficial do IBGE (ID de 7 dígitos), a Microrregião e a Mesorregião de Timbiras e cidades parceiras da Região dos Cocais.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9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284C7"/>
                </a:solidFill>
                <a:latin typeface="Arial"/>
              </a:defRPr>
            </a:pPr>
            <a:r>
              <a:t>Tratamento Humano dos Estados de Rede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1. Momento da Espera (Loading):</a:t>
            </a:r>
            <a:br/>
            <a:r>
              <a:t> Em conexões 3G ou 4G do interior, a resposta pode demorar. Exibimos um spinner amigável com a mensagem: 'Consultando base pública do IBGE...'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2. Quando a Conexão Falha (Error):</a:t>
            </a:r>
            <a:br/>
            <a:r>
              <a:t> A vida real tem quedas de sinal. Em vez de tela branca ou quebra do sistema, exibimos um aviso explicativo e o botão 'Recarregar API'.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3. Quando os Dados Chegam (Success):</a:t>
            </a:r>
            <a:br/>
            <a:r>
              <a:t> Convertemos o JSON com response.json() e preenchemos 217 cidades, dando destaque a Timbiras, Codó, Coroatá, Caxias, Peritoró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38BDF8"/>
                </a:solidFill>
                <a:latin typeface="Arial"/>
              </a:defRPr>
            </a:pPr>
            <a:r>
              <a:t>Código de Integração Assíncrona</a:t>
            </a:r>
          </a:p>
          <a:p>
            <a:br/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useEffect(() =&gt; {</a:t>
            </a:r>
            <a:br/>
            <a:r>
              <a:t>  const controlador = new AbortController();</a:t>
            </a:r>
            <a:br/>
            <a:br/>
            <a:r>
              <a:t>  fetch('https://servicodados.ibge.gov.br/.../municipios', {</a:t>
            </a:r>
            <a:br/>
            <a:r>
              <a:t>    signal: controlador.signal // Previne memory leak</a:t>
            </a:r>
            <a:br/>
            <a:r>
              <a:t>  })</a:t>
            </a:r>
            <a:br/>
            <a:r>
              <a:t>    .then(res =&gt; {</a:t>
            </a:r>
            <a:br/>
            <a:r>
              <a:t>      if (!res.ok) throw new Error('Falha na API');</a:t>
            </a:r>
            <a:br/>
            <a:r>
              <a:t>      return res.json(); // Converte fluxo em JSON</a:t>
            </a:r>
            <a:br/>
            <a:r>
              <a:t>    })</a:t>
            </a:r>
            <a:br/>
            <a:r>
              <a:t>    .then(dados =&gt; setMunicipiosIbge(dados))</a:t>
            </a:r>
            <a:br/>
            <a:r>
              <a:t>    .catch(err =&gt; {</a:t>
            </a:r>
            <a:br/>
            <a:r>
              <a:t>      if (err.name !== 'AbortError')</a:t>
            </a:r>
            <a:br/>
            <a:r>
              <a:t>        setErro('Sinal instável. Tente novamente.');</a:t>
            </a:r>
            <a:br/>
            <a:r>
              <a:t>    })</a:t>
            </a:r>
            <a:br/>
            <a:r>
              <a:t>    .finally(() =&gt; setCarregando(false));</a:t>
            </a:r>
            <a:br/>
            <a:br/>
            <a:r>
              <a:t>  return () =&gt; controlador.abort();</a:t>
            </a:r>
            <a:br/>
            <a:r>
              <a:t>}, []);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Cruzando Dados do IBGE com o Mapa Leaflet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O Voo da Esperança (mapa.flyTo):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Usamos o hook useMemo para cruzar a lista oficial do IBGE com as coordenadas geográficas de cada cidade parceira. Quando o morador clica no card de Coroatá ou Codó, o mapa faz uma transição suave de câmera até a cidade, com marcador e detalhes da distância rodoviária até Timbiras.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Busca Ampla por Qualquer Cidade: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Além das cidades dos Cocais, o usuário pode selecionar qualquer município do Maranhão no dropdown dinâmico para planejar novos polos solidários.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475488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500" b="1">
                <a:solidFill>
                  <a:srgbClr val="00873E"/>
                </a:solidFill>
                <a:latin typeface="Arial"/>
              </a:defRPr>
            </a:pPr>
            <a:r>
              <a:t>Árvore Modular de Componentes</a:t>
            </a:r>
          </a:p>
          <a:p>
            <a:br/>
            <a:pPr>
              <a:defRPr sz="1100">
                <a:solidFill>
                  <a:srgbClr val="1E293B"/>
                </a:solidFill>
                <a:latin typeface="Courier New"/>
              </a:defRPr>
            </a:pPr>
            <a:r>
              <a:t>App.jsx (Orquestrador Global)</a:t>
            </a:r>
            <a:br/>
            <a:r>
              <a:t>├── Navbar.jsx (Menu &amp; Mobile Toggle)</a:t>
            </a:r>
            <a:br/>
            <a:r>
              <a:t>├── Hero.jsx (Banner &amp; Metas ao Vivo)</a:t>
            </a:r>
            <a:br/>
            <a:r>
              <a:t>├── ConsumoApi.jsx (IBGE &amp; Leaflet)</a:t>
            </a:r>
            <a:br/>
            <a:r>
              <a:t>├── SobreCompleto.jsx (História &amp; Ação)</a:t>
            </a:r>
            <a:br/>
            <a:r>
              <a:t>├── ComoFunciona.jsx (4 Passos)</a:t>
            </a:r>
            <a:br/>
            <a:r>
              <a:t>├── Fluxo.jsx (Percurso do Alimento)</a:t>
            </a:r>
            <a:br/>
            <a:r>
              <a:t>├── PrestacaoContas.jsx (Bairros)</a:t>
            </a:r>
            <a:br/>
            <a:r>
              <a:t>├── Doar.jsx (Chips, PIX &amp; Recibo)</a:t>
            </a:r>
            <a:br/>
            <a:r>
              <a:t>├── PlayerAudio.jsx (Trilha Sonora)</a:t>
            </a:r>
            <a:br/>
            <a:r>
              <a:t>├── Contato.jsx (Ouvidoria Local)</a:t>
            </a:r>
            <a:br/>
            <a:r>
              <a:t>└── Footer.jsx (Créditos &amp; Acessos)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371600"/>
            <a:ext cx="603504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Navegação SPA &amp; Hooks Utilizados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Sem Aquele 'Piscar Branco' do Navegador: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Em sites antigos, cada clique recarregava toda a página, perdendo os formulários e parando a música. Como uma Single Page Application (SPA), a navegação ocorre por rolagem suave (smooth scroll), mantendo o áudio tocando e os dados preservados.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Hooks que Deram Vida à Aplicação: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useState: Guarda o total arrecadado, a busca por bairros e o menu aberto;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useEffect: Conecta à API do IBGE e escuta cliques para ativar o áudio;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useRef: Controla o som sem precisar redesenhar a tela inteira;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localStorage: Preserva as doações cadastradas mesmo fechando o navegador.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O Que Deu Errado e Como Consertamos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1. O Desafio do Menu no Celular:</a:t>
            </a:r>
            <a:br/>
            <a:r>
              <a:t> Em telas pequenas os botões quebravam em várias linhas. Criamos um menu hambúrguer com estado React que se recolhe perfeitamente.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2. O Dado da API Visível na Interface:</a:t>
            </a:r>
            <a:br/>
            <a:r>
              <a:t> Inicialmente usávamos a API apenas internamente. O professor pontuou que precisava ser visual. Criamos os cards com código IBGE de 7 dígitos e microrregião.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3. Aviso de Re-renderização no Linter:</a:t>
            </a:r>
            <a:br/>
            <a:r>
              <a:t> O linter apontava risco de loop com setState síncrono. Refatoramos a inicialização e limpamos o fluxo.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Bateria de Testes Executados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Build de Produção (Vite):</a:t>
            </a:r>
            <a:br/>
            <a:r>
              <a:t> Compilado em menos de 800ms gerando pacotes minificados em dist/.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Análise Estática (Oxlint):</a:t>
            </a:r>
            <a:br/>
            <a:r>
              <a:t> 0 erros de sintaxe e 0 alertas de React em todo o projeto.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Validação de Formulários:</a:t>
            </a:r>
            <a:br/>
            <a:r>
              <a:t> Bloqueio de campos em branco com alertas nativos amigáveis.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Teste em Celulares Reais:</a:t>
            </a:r>
            <a:br/>
            <a:r>
              <a:t> Testado em smartphones Android e iOS dos integrantes, avaliando toque, rolagem e botão PIX.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Arial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103120"/>
            <a:ext cx="47548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00873E"/>
                </a:solidFill>
                <a:latin typeface="Arial"/>
              </a:defRPr>
            </a:pPr>
            <a:r>
              <a:t>Código-Fonte no GitHub</a:t>
            </a:r>
          </a:p>
          <a:p>
            <a:br/>
            <a:pPr algn="ctr">
              <a:defRPr sz="1200">
                <a:solidFill>
                  <a:srgbClr val="1E293B"/>
                </a:solidFill>
                <a:latin typeface="Arial"/>
              </a:defRPr>
            </a:pPr>
            <a:r>
              <a:t>Histórico completo de versões, commits explicativos da equipe, componentes React e instruções de execução.</a:t>
            </a:r>
          </a:p>
          <a:p>
            <a:br/>
            <a:pPr algn="ctr">
              <a:defRPr sz="1100" b="1">
                <a:solidFill>
                  <a:srgbClr val="00873E"/>
                </a:solidFill>
                <a:latin typeface="Courier New"/>
              </a:defRPr>
            </a:pPr>
            <a:r>
              <a:t>https://github.com/ambersonrogers/timbiras-solidaria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475488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800" b="1">
                <a:solidFill>
                  <a:srgbClr val="0284C7"/>
                </a:solidFill>
                <a:latin typeface="Arial"/>
              </a:defRPr>
            </a:pPr>
            <a:r>
              <a:t>Aplicação no Ar (Vercel)</a:t>
            </a:r>
          </a:p>
          <a:p>
            <a:br/>
            <a:pPr algn="ctr">
              <a:defRPr sz="1200">
                <a:solidFill>
                  <a:srgbClr val="1E293B"/>
                </a:solidFill>
                <a:latin typeface="Arial"/>
              </a:defRPr>
            </a:pPr>
            <a:r>
              <a:t>Deploy em nuvem de alta velocidade, com roteamento de SPA configurado via vercel.json e acesso mundial.</a:t>
            </a:r>
          </a:p>
          <a:p>
            <a:br/>
            <a:pPr algn="ctr">
              <a:defRPr sz="1100" b="1">
                <a:solidFill>
                  <a:srgbClr val="0284C7"/>
                </a:solidFill>
                <a:latin typeface="Courier New"/>
              </a:defRPr>
            </a:pPr>
            <a:r>
              <a:t>https://timbiras-solidaria.vercel.app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577840"/>
            <a:ext cx="99669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73E"/>
                </a:solidFill>
                <a:latin typeface="Arial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10 / 13</a:t>
            </a:r>
          </a:p>
        </p:txBody>
      </p:sp>
      <p:pic>
        <p:nvPicPr>
          <p:cNvPr id="8" name="Picture 7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94960" cy="29265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1. Tela Inicial &amp; Painel de Metas (Desktop)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Destaque para o acolhimento visual, imagem real da agricultura familiar, contador reativo de 12 cestas e barra de progresso da meta comunitária.</a:t>
            </a:r>
          </a:p>
        </p:txBody>
      </p:sp>
      <p:pic>
        <p:nvPicPr>
          <p:cNvPr id="10" name="Picture 9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4273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2. Rota Solidária &amp; Dados Oficiais do IBGE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Cards gerados do JSON da API do IBGE, exibindo código oficial (Timbiras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11 / 13</a:t>
            </a:r>
          </a:p>
        </p:txBody>
      </p:sp>
      <p:pic>
        <p:nvPicPr>
          <p:cNvPr id="8" name="Picture 7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394960" cy="36769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45309"/>
                </a:solidFill>
                <a:latin typeface="Arial"/>
              </a:defRPr>
            </a:pPr>
            <a:r>
              <a:t>3. Formulário de Doação &amp; PIX Instantâneo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Seleção facilitada por chips ('1 Cesta', '2 Cestas', '5 Cestas'), chave PIX com botão de cópia instantânea e validação nativa de formulário.</a:t>
            </a:r>
          </a:p>
        </p:txBody>
      </p:sp>
      <p:pic>
        <p:nvPicPr>
          <p:cNvPr id="10" name="Picture 9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4067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46634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Arial"/>
              </a:defRPr>
            </a:pPr>
            <a:r>
              <a:t>4. Transparência Pública por Bairro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Busca instantânea por bairros (Mutirão, Centro, Olaria, etc.), destaque para a Zona Rural (35 cestas) e somatório oficial de 215 cestas entregues.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12 / 13</a:t>
            </a:r>
          </a:p>
        </p:txBody>
      </p:sp>
      <p:pic>
        <p:nvPicPr>
          <p:cNvPr id="8" name="Picture 7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070401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0" y="1371600"/>
            <a:ext cx="7498079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 bIns="365760"/>
          <a:lstStyle/>
          <a:p>
            <a:pPr algn="ctr">
              <a:defRPr sz="1800" b="1">
                <a:solidFill>
                  <a:srgbClr val="00873E"/>
                </a:solidFill>
                <a:latin typeface="Arial"/>
              </a:defRPr>
            </a:pPr>
            <a:r>
              <a:t>Pensado para a Realidade de Quem Acessa pelo Celular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No interior do Maranhão, a esmagadora maioria das pessoas navega exclusivamente pelo smartphone. Por isso, a adaptação mobile foi prioridade técnica e humana: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Menu Retrátil Acessível: O botão hambúrguer é fácil de tocar com o polegar, não polui a visão inicial e recolhe sozinho assim que o usuário clica na seção.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Cards em Coluna Única: Os 13 bairros e os municípios do IBGE se reorganizam automaticamente em cascata vertical, sem barra de rolagem horizontal quebrada.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Player Compacto: A trilha sonora fica ancorada no canto inferior sem atrapalhar a leitura nem os formulários.</a:t>
            </a:r>
          </a:p>
          <a:p>
            <a:br/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Teclado Numérico Otimizado: Campos de quantidade e valores abrem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873E"/>
                </a:solidFill>
                <a:latin typeface="Arial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411480"/>
            <a:ext cx="2286000" cy="365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63640"/>
            <a:ext cx="1109441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Timbiras Solidária — ADS UEMA 2026 | Polo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327648"/>
            <a:ext cx="24990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Arial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572000"/>
          </a:xfrm>
          <a:prstGeom prst="roundRect">
            <a:avLst/>
          </a:prstGeom>
          <a:solidFill>
            <a:srgbClr val="F0FDF4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600" b="1">
                <a:solidFill>
                  <a:srgbClr val="00873E"/>
                </a:solidFill>
                <a:latin typeface="Arial"/>
              </a:defRPr>
            </a:pPr>
            <a:r>
              <a:t>Muito Além de Linhas de Código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Tecnologia Feita por Pessoas, Para Pessoas: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Aprendemos que um framework moderno como o React ou uma API governamental só têm valor quando resolvem um problema humano real. O código ganha vida quando serve para combater a fome e valorizar a nossa terra.</a:t>
            </a:r>
          </a:p>
          <a:p>
            <a:br/>
            <a:pPr>
              <a:defRPr sz="1400" b="1">
                <a:solidFill>
                  <a:srgbClr val="00873E"/>
                </a:solidFill>
                <a:latin typeface="Arial"/>
              </a:defRPr>
            </a:pPr>
            <a:r>
              <a:t>Prontos para a Nota 3: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5720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defRPr sz="1500" b="1">
                <a:solidFill>
                  <a:srgbClr val="00873E"/>
                </a:solidFill>
                <a:latin typeface="Arial"/>
              </a:defRPr>
            </a:pPr>
            <a:r>
              <a:t>Referências Bibliográficas (Normas ABNT)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