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berson Rogers Lindoso da Silva" userId="1e7355cac7a206dd" providerId="LiveId" clId="{F3CFAD84-59F1-4795-A6D8-6D79CCCB1EA4}"/>
    <pc:docChg chg="undo custSel modSld">
      <pc:chgData name="Amberson Rogers Lindoso da Silva" userId="1e7355cac7a206dd" providerId="LiveId" clId="{F3CFAD84-59F1-4795-A6D8-6D79CCCB1EA4}" dt="2026-09-18T01:50:52.296" v="53" actId="403"/>
      <pc:docMkLst>
        <pc:docMk/>
      </pc:docMkLst>
      <pc:sldChg chg="modSp mod">
        <pc:chgData name="Amberson Rogers Lindoso da Silva" userId="1e7355cac7a206dd" providerId="LiveId" clId="{F3CFAD84-59F1-4795-A6D8-6D79CCCB1EA4}" dt="2026-09-18T01:46:35.762" v="18" actId="20577"/>
        <pc:sldMkLst>
          <pc:docMk/>
          <pc:sldMk cId="0" sldId="256"/>
        </pc:sldMkLst>
        <pc:spChg chg="mod">
          <ac:chgData name="Amberson Rogers Lindoso da Silva" userId="1e7355cac7a206dd" providerId="LiveId" clId="{F3CFAD84-59F1-4795-A6D8-6D79CCCB1EA4}" dt="2026-09-18T01:45:28.002" v="7" actId="403"/>
          <ac:spMkLst>
            <pc:docMk/>
            <pc:sldMk cId="0" sldId="256"/>
            <ac:spMk id="3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46:35.762" v="18" actId="20577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8T01:49:21.731" v="36" actId="123"/>
        <pc:sldMkLst>
          <pc:docMk/>
          <pc:sldMk cId="0" sldId="257"/>
        </pc:sldMkLst>
        <pc:spChg chg="mod">
          <ac:chgData name="Amberson Rogers Lindoso da Silva" userId="1e7355cac7a206dd" providerId="LiveId" clId="{F3CFAD84-59F1-4795-A6D8-6D79CCCB1EA4}" dt="2026-09-18T01:49:21.731" v="36" actId="123"/>
          <ac:spMkLst>
            <pc:docMk/>
            <pc:sldMk cId="0" sldId="257"/>
            <ac:spMk id="8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49:16.728" v="35" actId="12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49:12.366" v="34" actId="123"/>
          <ac:spMkLst>
            <pc:docMk/>
            <pc:sldMk cId="0" sldId="257"/>
            <ac:spMk id="13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8T01:49:05.764" v="33" actId="123"/>
        <pc:sldMkLst>
          <pc:docMk/>
          <pc:sldMk cId="0" sldId="258"/>
        </pc:sldMkLst>
        <pc:spChg chg="mod">
          <ac:chgData name="Amberson Rogers Lindoso da Silva" userId="1e7355cac7a206dd" providerId="LiveId" clId="{F3CFAD84-59F1-4795-A6D8-6D79CCCB1EA4}" dt="2026-09-18T01:49:05.764" v="33" actId="123"/>
          <ac:spMkLst>
            <pc:docMk/>
            <pc:sldMk cId="0" sldId="258"/>
            <ac:spMk id="8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49:01.537" v="32" actId="12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48:56.405" v="31" actId="123"/>
          <ac:spMkLst>
            <pc:docMk/>
            <pc:sldMk cId="0" sldId="258"/>
            <ac:spMk id="13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8T01:50:52.296" v="53" actId="403"/>
        <pc:sldMkLst>
          <pc:docMk/>
          <pc:sldMk cId="0" sldId="259"/>
        </pc:sldMkLst>
        <pc:spChg chg="mod">
          <ac:chgData name="Amberson Rogers Lindoso da Silva" userId="1e7355cac7a206dd" providerId="LiveId" clId="{F3CFAD84-59F1-4795-A6D8-6D79CCCB1EA4}" dt="2026-09-18T01:50:08.622" v="49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50:52.296" v="53" actId="403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8T01:50:40.555" v="52" actId="2711"/>
          <ac:spMkLst>
            <pc:docMk/>
            <pc:sldMk cId="0" sldId="259"/>
            <ac:spMk id="1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6858000" cy="15081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150" b="1">
                <a:solidFill>
                  <a:srgbClr val="FFFFFF"/>
                </a:solidFill>
                <a:latin typeface="Segoe UI"/>
              </a:defRPr>
            </a:pPr>
            <a:r>
              <a:rPr sz="1400" dirty="0">
                <a:solidFill>
                  <a:schemeClr val="bg1"/>
                </a:solidFill>
              </a:rPr>
              <a:t>UNIVERSIDADE ESTADUAL DO MARANHÃO – UEMA</a:t>
            </a:r>
          </a:p>
          <a:p>
            <a:pPr algn="just">
              <a:defRPr sz="1050" b="1">
                <a:solidFill>
                  <a:srgbClr val="4ADE80"/>
                </a:solidFill>
                <a:latin typeface="Segoe UI"/>
              </a:defRPr>
            </a:pPr>
            <a:r>
              <a:rPr sz="1400" dirty="0">
                <a:solidFill>
                  <a:schemeClr val="bg1"/>
                </a:solidFill>
              </a:rPr>
              <a:t>NÚCLEO DE TECNOLOGIAS PARA EDUCAÇÃO – UEMANET</a:t>
            </a:r>
          </a:p>
          <a:p>
            <a:pPr algn="just">
              <a:defRPr sz="950" b="1">
                <a:solidFill>
                  <a:srgbClr val="E2E8F0"/>
                </a:solidFill>
                <a:latin typeface="Segoe UI"/>
              </a:defRPr>
            </a:pPr>
            <a:r>
              <a:rPr sz="1400" dirty="0">
                <a:solidFill>
                  <a:schemeClr val="bg1"/>
                </a:solidFill>
              </a:rPr>
              <a:t>CURSO SUPERIOR DE TECNOLOGIA EM ANÁLISE E DESENVOLVIMENTO DE SISTEMAS</a:t>
            </a:r>
          </a:p>
          <a:p>
            <a:pPr algn="just">
              <a:defRPr sz="900" b="1">
                <a:solidFill>
                  <a:srgbClr val="CBD5E1"/>
                </a:solidFill>
                <a:latin typeface="Segoe UI"/>
              </a:defRPr>
            </a:pPr>
            <a:r>
              <a:rPr sz="1400" dirty="0">
                <a:solidFill>
                  <a:schemeClr val="bg1"/>
                </a:solidFill>
              </a:rPr>
              <a:t>DISCIPLINA: DESENVOLVIMENTO WEB</a:t>
            </a:r>
          </a:p>
          <a:p>
            <a:pPr algn="just">
              <a:defRPr sz="900" b="1">
                <a:solidFill>
                  <a:srgbClr val="CBD5E1"/>
                </a:solidFill>
                <a:latin typeface="Segoe UI"/>
              </a:defRPr>
            </a:pPr>
            <a:r>
              <a:rPr sz="1400" dirty="0">
                <a:solidFill>
                  <a:schemeClr val="bg1"/>
                </a:solidFill>
              </a:rPr>
              <a:t>DOCENTE: PROF. EDILSON CARLOS SILVA LIMA</a:t>
            </a:r>
          </a:p>
          <a:p>
            <a:pPr algn="just">
              <a:defRPr sz="900" b="1">
                <a:solidFill>
                  <a:srgbClr val="CBD5E1"/>
                </a:solidFill>
                <a:latin typeface="Segoe UI"/>
              </a:defRPr>
            </a:pPr>
            <a:r>
              <a:rPr sz="1400" dirty="0">
                <a:solidFill>
                  <a:schemeClr val="bg1"/>
                </a:solidFill>
              </a:rPr>
              <a:t>TUTORA: PROF.ª SIMONE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45775" cy="13716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926080" y="1965960"/>
            <a:ext cx="6339535" cy="365760"/>
          </a:xfrm>
          <a:prstGeom prst="roundRect">
            <a:avLst/>
          </a:prstGeom>
          <a:solidFill>
            <a:srgbClr val="0C321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4ADE80"/>
                </a:solidFill>
                <a:latin typeface="Segoe UI"/>
              </a:defRPr>
            </a:pPr>
            <a:r>
              <a:rPr lang="pt-BR" dirty="0"/>
              <a:t>TECNOLOGIA A SERVIÇO DA VIDA  •  ODS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Segoe UI"/>
              </a:rPr>
              <a:t>TIMBIRAS </a:t>
            </a:r>
            <a:r>
              <a:rPr sz="4600" b="1">
                <a:solidFill>
                  <a:srgbClr val="4ADE80"/>
                </a:solidFill>
                <a:latin typeface="Segoe UI"/>
              </a:rPr>
              <a:t>SOLIDÁRIA </a:t>
            </a:r>
            <a:r>
              <a:rPr sz="4000">
                <a:solidFill>
                  <a:srgbClr val="FFFFFF"/>
                </a:solidFill>
                <a:latin typeface="Segoe UI"/>
              </a:rPr>
              <a:t>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66160"/>
            <a:ext cx="88998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Plataforma Web Comunitária de Mapeamento, Solidariedade e Resiliência Alimentar no Interior do Maranhão</a:t>
            </a:r>
          </a:p>
          <a:p>
            <a:pPr algn="ctr">
              <a:defRPr sz="1250">
                <a:solidFill>
                  <a:srgbClr val="CBD5E1"/>
                </a:solidFill>
                <a:latin typeface="Segoe UI"/>
              </a:defRPr>
            </a:pPr>
            <a:r>
              <a:t>Uma ponte digital entre a generosidade de quem pode doar e a dignidade de quem precisa receber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4754880"/>
            <a:ext cx="8899855" cy="1508760"/>
          </a:xfrm>
          <a:prstGeom prst="roundRect">
            <a:avLst/>
          </a:prstGeom>
          <a:solidFill>
            <a:srgbClr val="0C321D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64592" rtlCol="0" anchor="ctr"/>
          <a:lstStyle/>
          <a:p>
            <a:pPr algn="ctr">
              <a:defRPr sz="1250" b="1">
                <a:solidFill>
                  <a:srgbClr val="4ADE80"/>
                </a:solidFill>
                <a:latin typeface="Segoe UI"/>
              </a:defRPr>
            </a:pPr>
            <a:r>
              <a:t>EQUIPE TIMBIRANOS</a:t>
            </a:r>
          </a:p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Amberson Lindoso  •  Kelly Sousa  •  Jhony Fernandes  •  Weldes Reis</a:t>
            </a:r>
          </a:p>
          <a:p>
            <a:pPr algn="ctr">
              <a:defRPr sz="1150">
                <a:solidFill>
                  <a:srgbClr val="94A3B8"/>
                </a:solidFill>
                <a:latin typeface="Segoe UI"/>
              </a:defRPr>
            </a:pPr>
            <a:r>
              <a:t>Polo Universitário de Timbiras — Maranhão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1. Nossa Terra, Nossa Gente: Por Que Timbiras?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1. INTRODUÇÃO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943600" cy="21390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1E293B"/>
                </a:solidFill>
                <a:latin typeface="Segoe UI"/>
              </a:defRPr>
            </a:pPr>
            <a:r>
              <a:rPr dirty="0"/>
              <a:t>A </a:t>
            </a:r>
            <a:r>
              <a:rPr dirty="0" err="1"/>
              <a:t>fome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abstrato</a:t>
            </a:r>
            <a:r>
              <a:rPr dirty="0"/>
              <a:t>: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tem</a:t>
            </a:r>
            <a:r>
              <a:rPr dirty="0"/>
              <a:t> </a:t>
            </a:r>
            <a:r>
              <a:rPr dirty="0" err="1"/>
              <a:t>nome</a:t>
            </a:r>
            <a:r>
              <a:rPr dirty="0"/>
              <a:t>, </a:t>
            </a:r>
            <a:r>
              <a:rPr dirty="0" err="1"/>
              <a:t>endereço</a:t>
            </a:r>
            <a:r>
              <a:rPr dirty="0"/>
              <a:t> e </a:t>
            </a:r>
            <a:r>
              <a:rPr dirty="0" err="1"/>
              <a:t>rosto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bairros e </a:t>
            </a:r>
            <a:r>
              <a:rPr dirty="0" err="1"/>
              <a:t>na</a:t>
            </a:r>
            <a:r>
              <a:rPr dirty="0"/>
              <a:t> zona rural da </a:t>
            </a:r>
            <a:r>
              <a:rPr dirty="0" err="1"/>
              <a:t>nossa</a:t>
            </a:r>
            <a:r>
              <a:rPr dirty="0"/>
              <a:t> </a:t>
            </a:r>
            <a:r>
              <a:rPr dirty="0" err="1"/>
              <a:t>cidade</a:t>
            </a:r>
            <a:r>
              <a:rPr dirty="0"/>
              <a:t>.</a:t>
            </a:r>
          </a:p>
          <a:p>
            <a:pPr algn="just"/>
            <a:br>
              <a:rPr dirty="0"/>
            </a:br>
            <a:r>
              <a:rPr dirty="0"/>
              <a:t>Timbiras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cidade</a:t>
            </a:r>
            <a:r>
              <a:rPr dirty="0"/>
              <a:t> </a:t>
            </a:r>
            <a:r>
              <a:rPr dirty="0" err="1"/>
              <a:t>acolhedora</a:t>
            </a:r>
            <a:r>
              <a:rPr dirty="0"/>
              <a:t>, forte e </a:t>
            </a:r>
            <a:r>
              <a:rPr dirty="0" err="1"/>
              <a:t>trabalhadora</a:t>
            </a:r>
            <a:r>
              <a:rPr dirty="0"/>
              <a:t>, </a:t>
            </a:r>
            <a:r>
              <a:rPr dirty="0" err="1"/>
              <a:t>banhada</a:t>
            </a:r>
            <a:r>
              <a:rPr dirty="0"/>
              <a:t> </a:t>
            </a:r>
            <a:r>
              <a:rPr dirty="0" err="1"/>
              <a:t>pelas</a:t>
            </a:r>
            <a:r>
              <a:rPr dirty="0"/>
              <a:t> </a:t>
            </a:r>
            <a:r>
              <a:rPr dirty="0" err="1"/>
              <a:t>águas</a:t>
            </a:r>
            <a:r>
              <a:rPr dirty="0"/>
              <a:t> do Rio </a:t>
            </a:r>
            <a:r>
              <a:rPr dirty="0" err="1"/>
              <a:t>Itapecuru</a:t>
            </a:r>
            <a:r>
              <a:rPr dirty="0"/>
              <a:t>. Mas,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tantas</a:t>
            </a:r>
            <a:r>
              <a:rPr dirty="0"/>
              <a:t> </a:t>
            </a:r>
            <a:r>
              <a:rPr dirty="0" err="1"/>
              <a:t>cidades</a:t>
            </a:r>
            <a:r>
              <a:rPr dirty="0"/>
              <a:t> do interior do Maranhão,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famílias</a:t>
            </a:r>
            <a:r>
              <a:rPr dirty="0"/>
              <a:t> de bairros </a:t>
            </a:r>
            <a:r>
              <a:rPr dirty="0" err="1"/>
              <a:t>como</a:t>
            </a:r>
            <a:r>
              <a:rPr dirty="0"/>
              <a:t> Forquilha, </a:t>
            </a:r>
            <a:r>
              <a:rPr dirty="0" err="1"/>
              <a:t>Mutirão</a:t>
            </a:r>
            <a:r>
              <a:rPr dirty="0"/>
              <a:t>, Alto </a:t>
            </a:r>
            <a:r>
              <a:rPr dirty="0" err="1"/>
              <a:t>Fogoso</a:t>
            </a:r>
            <a:r>
              <a:rPr dirty="0"/>
              <a:t>, Olaria e </a:t>
            </a:r>
            <a:r>
              <a:rPr dirty="0" err="1"/>
              <a:t>povoados</a:t>
            </a:r>
            <a:r>
              <a:rPr dirty="0"/>
              <a:t> </a:t>
            </a:r>
            <a:r>
              <a:rPr dirty="0" err="1"/>
              <a:t>rurais</a:t>
            </a:r>
            <a:r>
              <a:rPr dirty="0"/>
              <a:t> </a:t>
            </a:r>
            <a:r>
              <a:rPr dirty="0" err="1"/>
              <a:t>distantes</a:t>
            </a:r>
            <a:r>
              <a:rPr dirty="0"/>
              <a:t> </a:t>
            </a:r>
            <a:r>
              <a:rPr dirty="0" err="1"/>
              <a:t>enfrentam</a:t>
            </a:r>
            <a:r>
              <a:rPr dirty="0"/>
              <a:t> </a:t>
            </a:r>
            <a:r>
              <a:rPr dirty="0" err="1"/>
              <a:t>dias</a:t>
            </a:r>
            <a:r>
              <a:rPr dirty="0"/>
              <a:t> </a:t>
            </a:r>
            <a:r>
              <a:rPr dirty="0" err="1"/>
              <a:t>difíceis</a:t>
            </a:r>
            <a:r>
              <a:rPr dirty="0"/>
              <a:t> para </a:t>
            </a:r>
            <a:r>
              <a:rPr dirty="0" err="1"/>
              <a:t>garantir</a:t>
            </a:r>
            <a:r>
              <a:rPr dirty="0"/>
              <a:t> o </a:t>
            </a:r>
            <a:r>
              <a:rPr dirty="0" err="1"/>
              <a:t>básico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mesa.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94360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3840480"/>
            <a:ext cx="73152" cy="219456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55778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400" b="1">
                <a:solidFill>
                  <a:srgbClr val="00873E"/>
                </a:solidFill>
                <a:latin typeface="Segoe UI"/>
              </a:defRPr>
            </a:pPr>
            <a:r>
              <a:rPr dirty="0"/>
              <a:t>O </a:t>
            </a:r>
            <a:r>
              <a:rPr dirty="0" err="1"/>
              <a:t>Encontro</a:t>
            </a:r>
            <a:r>
              <a:rPr dirty="0"/>
              <a:t> de Duas </a:t>
            </a:r>
            <a:r>
              <a:rPr dirty="0" err="1"/>
              <a:t>Realidades</a:t>
            </a:r>
            <a:endParaRPr dirty="0"/>
          </a:p>
          <a:p>
            <a:pPr algn="just"/>
            <a:br>
              <a:rPr dirty="0"/>
            </a:br>
            <a:r>
              <a:rPr dirty="0"/>
              <a:t>De um </a:t>
            </a:r>
            <a:r>
              <a:rPr dirty="0" err="1"/>
              <a:t>lado</a:t>
            </a:r>
            <a:r>
              <a:rPr dirty="0"/>
              <a:t>, </a:t>
            </a:r>
            <a:r>
              <a:rPr dirty="0" err="1"/>
              <a:t>pequenos</a:t>
            </a:r>
            <a:r>
              <a:rPr dirty="0"/>
              <a:t> </a:t>
            </a:r>
            <a:r>
              <a:rPr dirty="0" err="1"/>
              <a:t>agricultores</a:t>
            </a:r>
            <a:r>
              <a:rPr dirty="0"/>
              <a:t> e </a:t>
            </a:r>
            <a:r>
              <a:rPr dirty="0" err="1"/>
              <a:t>comerciantes</a:t>
            </a:r>
            <a:r>
              <a:rPr dirty="0"/>
              <a:t> com </a:t>
            </a:r>
            <a:r>
              <a:rPr dirty="0" err="1"/>
              <a:t>vontade</a:t>
            </a:r>
            <a:r>
              <a:rPr dirty="0"/>
              <a:t> de </a:t>
            </a:r>
            <a:r>
              <a:rPr dirty="0" err="1"/>
              <a:t>ajudar</a:t>
            </a:r>
            <a:r>
              <a:rPr dirty="0"/>
              <a:t> e </a:t>
            </a:r>
            <a:r>
              <a:rPr dirty="0" err="1"/>
              <a:t>excedentes</a:t>
            </a:r>
            <a:r>
              <a:rPr dirty="0"/>
              <a:t> de </a:t>
            </a:r>
            <a:r>
              <a:rPr dirty="0" err="1"/>
              <a:t>colheita</a:t>
            </a:r>
            <a:r>
              <a:rPr dirty="0"/>
              <a:t>. Do outro, </a:t>
            </a:r>
            <a:r>
              <a:rPr dirty="0" err="1"/>
              <a:t>famílias</a:t>
            </a:r>
            <a:r>
              <a:rPr dirty="0"/>
              <a:t> </a:t>
            </a:r>
            <a:r>
              <a:rPr dirty="0" err="1"/>
              <a:t>precisando</a:t>
            </a:r>
            <a:r>
              <a:rPr dirty="0"/>
              <a:t> de </a:t>
            </a:r>
            <a:r>
              <a:rPr dirty="0" err="1"/>
              <a:t>auxílio</a:t>
            </a:r>
            <a:r>
              <a:rPr dirty="0"/>
              <a:t> </a:t>
            </a:r>
            <a:r>
              <a:rPr dirty="0" err="1"/>
              <a:t>imediato</a:t>
            </a:r>
            <a:r>
              <a:rPr dirty="0"/>
              <a:t>. O Timbiras </a:t>
            </a:r>
            <a:r>
              <a:rPr dirty="0" err="1"/>
              <a:t>Solidária</a:t>
            </a:r>
            <a:r>
              <a:rPr dirty="0"/>
              <a:t> </a:t>
            </a:r>
            <a:r>
              <a:rPr dirty="0" err="1"/>
              <a:t>nasceu</a:t>
            </a:r>
            <a:r>
              <a:rPr dirty="0"/>
              <a:t> para ser a </a:t>
            </a:r>
            <a:r>
              <a:rPr dirty="0" err="1"/>
              <a:t>ponte</a:t>
            </a:r>
            <a:r>
              <a:rPr dirty="0"/>
              <a:t> digital entre a </a:t>
            </a:r>
            <a:r>
              <a:rPr dirty="0" err="1"/>
              <a:t>generosidade</a:t>
            </a:r>
            <a:r>
              <a:rPr dirty="0"/>
              <a:t> de quem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doar</a:t>
            </a:r>
            <a:r>
              <a:rPr dirty="0"/>
              <a:t> e a </a:t>
            </a:r>
            <a:r>
              <a:rPr dirty="0" err="1"/>
              <a:t>dignidade</a:t>
            </a:r>
            <a:r>
              <a:rPr dirty="0"/>
              <a:t> de quem </a:t>
            </a:r>
            <a:r>
              <a:rPr dirty="0" err="1"/>
              <a:t>precisa</a:t>
            </a:r>
            <a:r>
              <a:rPr dirty="0"/>
              <a:t> </a:t>
            </a:r>
            <a:r>
              <a:rPr dirty="0" err="1"/>
              <a:t>receber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234440"/>
            <a:ext cx="4510735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23760" y="1417320"/>
            <a:ext cx="3977639" cy="42165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Compromisso</a:t>
            </a:r>
            <a:r>
              <a:rPr sz="1600" dirty="0"/>
              <a:t> Real com o ODS 2</a:t>
            </a:r>
          </a:p>
          <a:p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rPr sz="1400" dirty="0" err="1"/>
              <a:t>Fome</a:t>
            </a:r>
            <a:r>
              <a:rPr sz="1400" dirty="0"/>
              <a:t> Zero e Agricultura </a:t>
            </a:r>
            <a:r>
              <a:rPr sz="1400" dirty="0" err="1"/>
              <a:t>Sustentável</a:t>
            </a:r>
            <a:r>
              <a:rPr sz="1400" dirty="0"/>
              <a:t>: </a:t>
            </a:r>
            <a:r>
              <a:rPr sz="1400" dirty="0" err="1"/>
              <a:t>nosso</a:t>
            </a:r>
            <a:r>
              <a:rPr sz="1400" dirty="0"/>
              <a:t> </a:t>
            </a:r>
            <a:r>
              <a:rPr sz="1400" dirty="0" err="1"/>
              <a:t>foco</a:t>
            </a:r>
            <a:r>
              <a:rPr sz="1400" dirty="0"/>
              <a:t> </a:t>
            </a:r>
            <a:r>
              <a:rPr sz="1400" dirty="0" err="1"/>
              <a:t>não</a:t>
            </a:r>
            <a:r>
              <a:rPr sz="1400" dirty="0"/>
              <a:t> é </a:t>
            </a:r>
            <a:r>
              <a:rPr sz="1400" dirty="0" err="1"/>
              <a:t>assistencialismo</a:t>
            </a:r>
            <a:r>
              <a:rPr sz="1400" dirty="0"/>
              <a:t> </a:t>
            </a:r>
            <a:r>
              <a:rPr sz="1400" dirty="0" err="1"/>
              <a:t>frio</a:t>
            </a:r>
            <a:r>
              <a:rPr sz="1400" dirty="0"/>
              <a:t>, mas </a:t>
            </a:r>
            <a:r>
              <a:rPr sz="1400" dirty="0" err="1"/>
              <a:t>mobilização</a:t>
            </a:r>
            <a:r>
              <a:rPr sz="1400" dirty="0"/>
              <a:t> </a:t>
            </a:r>
            <a:r>
              <a:rPr sz="1400" dirty="0" err="1"/>
              <a:t>comunitária</a:t>
            </a:r>
            <a:r>
              <a:rPr sz="1400" dirty="0"/>
              <a:t> com </a:t>
            </a:r>
            <a:r>
              <a:rPr sz="1400" dirty="0" err="1"/>
              <a:t>valorização</a:t>
            </a:r>
            <a:r>
              <a:rPr sz="1400" dirty="0"/>
              <a:t> do </a:t>
            </a:r>
            <a:r>
              <a:rPr sz="1400" dirty="0" err="1"/>
              <a:t>agricultor</a:t>
            </a:r>
            <a:r>
              <a:rPr sz="1400" dirty="0"/>
              <a:t> familiar local.</a:t>
            </a:r>
          </a:p>
          <a:p>
            <a:pPr algn="just"/>
            <a:br>
              <a:rPr sz="2400" dirty="0"/>
            </a:br>
            <a:r>
              <a:rPr sz="2400" dirty="0"/>
              <a:t>Público-Alvo </a:t>
            </a:r>
            <a:r>
              <a:rPr sz="2400" dirty="0" err="1"/>
              <a:t>que</a:t>
            </a:r>
            <a:r>
              <a:rPr sz="2400" dirty="0"/>
              <a:t> </a:t>
            </a:r>
            <a:r>
              <a:rPr sz="2400" dirty="0" err="1"/>
              <a:t>Abraçamos</a:t>
            </a:r>
            <a:r>
              <a:rPr sz="2400" dirty="0"/>
              <a:t>: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Cidadãos</a:t>
            </a:r>
            <a:r>
              <a:rPr sz="1400" dirty="0"/>
              <a:t> </a:t>
            </a:r>
            <a:r>
              <a:rPr sz="1400" dirty="0" err="1"/>
              <a:t>comuns</a:t>
            </a:r>
            <a:r>
              <a:rPr sz="1400" dirty="0"/>
              <a:t>: 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querem</a:t>
            </a:r>
            <a:r>
              <a:rPr sz="1400" dirty="0"/>
              <a:t> </a:t>
            </a:r>
            <a:r>
              <a:rPr sz="1400" dirty="0" err="1"/>
              <a:t>doar</a:t>
            </a:r>
            <a:r>
              <a:rPr sz="1400" dirty="0"/>
              <a:t> 1 cesta </a:t>
            </a:r>
            <a:r>
              <a:rPr sz="1400" dirty="0" err="1"/>
              <a:t>ou</a:t>
            </a:r>
            <a:r>
              <a:rPr sz="1400" dirty="0"/>
              <a:t> 1 kg de </a:t>
            </a:r>
            <a:r>
              <a:rPr sz="1400" dirty="0" err="1"/>
              <a:t>alimento</a:t>
            </a:r>
            <a:r>
              <a:rPr sz="1400" dirty="0"/>
              <a:t>;</a:t>
            </a:r>
            <a:endParaRPr lang="pt-BR"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Comércio e </a:t>
            </a:r>
            <a:r>
              <a:rPr sz="1400" dirty="0" err="1"/>
              <a:t>feirantes</a:t>
            </a:r>
            <a:r>
              <a:rPr sz="1400" dirty="0"/>
              <a:t>: 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exercem</a:t>
            </a:r>
            <a:r>
              <a:rPr sz="1400" dirty="0"/>
              <a:t> </a:t>
            </a:r>
            <a:r>
              <a:rPr sz="1400" dirty="0" err="1"/>
              <a:t>cidadania</a:t>
            </a:r>
            <a:r>
              <a:rPr sz="1400" dirty="0"/>
              <a:t> </a:t>
            </a:r>
            <a:r>
              <a:rPr sz="1400" dirty="0" err="1"/>
              <a:t>ativa</a:t>
            </a:r>
            <a:r>
              <a:rPr sz="1400" dirty="0"/>
              <a:t>;</a:t>
            </a:r>
            <a:endParaRPr lang="pt-BR"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Agricultura familiar: 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abastece</a:t>
            </a:r>
            <a:r>
              <a:rPr sz="1400" dirty="0"/>
              <a:t> a </a:t>
            </a:r>
            <a:r>
              <a:rPr sz="1400" dirty="0" err="1"/>
              <a:t>cidade</a:t>
            </a:r>
            <a:r>
              <a:rPr sz="1400" dirty="0"/>
              <a:t> com </a:t>
            </a:r>
            <a:r>
              <a:rPr sz="1400" dirty="0" err="1"/>
              <a:t>alimentos</a:t>
            </a:r>
            <a:r>
              <a:rPr sz="1400" dirty="0"/>
              <a:t> frescos;</a:t>
            </a:r>
            <a:endParaRPr lang="pt-BR"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Poder </a:t>
            </a:r>
            <a:r>
              <a:rPr sz="1400" dirty="0" err="1"/>
              <a:t>público</a:t>
            </a:r>
            <a:r>
              <a:rPr sz="1400" dirty="0"/>
              <a:t> &amp; </a:t>
            </a:r>
            <a:r>
              <a:rPr sz="1400" dirty="0" err="1"/>
              <a:t>voluntários</a:t>
            </a:r>
            <a:r>
              <a:rPr sz="1400" dirty="0"/>
              <a:t>:  Para </a:t>
            </a:r>
            <a:r>
              <a:rPr sz="1400" dirty="0" err="1"/>
              <a:t>transparência</a:t>
            </a:r>
            <a:r>
              <a:rPr sz="1400" dirty="0"/>
              <a:t> e </a:t>
            </a:r>
            <a:r>
              <a:rPr sz="1400" dirty="0" err="1"/>
              <a:t>logística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Do Cartaz Estático à Aplicação Viva e Dinâmica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248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dirty="0"/>
              <a:t>O Salto da </a:t>
            </a:r>
            <a:r>
              <a:rPr dirty="0" err="1"/>
              <a:t>Primeira</a:t>
            </a:r>
            <a:r>
              <a:rPr dirty="0"/>
              <a:t> para a Segunda Etapa</a:t>
            </a:r>
          </a:p>
          <a:p>
            <a:pPr algn="just"/>
            <a:br>
              <a:rPr dirty="0"/>
            </a:br>
            <a:r>
              <a:rPr sz="1600" dirty="0"/>
              <a:t>Na Nota 1, </a:t>
            </a:r>
            <a:r>
              <a:rPr sz="1600" dirty="0" err="1"/>
              <a:t>criamos</a:t>
            </a:r>
            <a:r>
              <a:rPr sz="1600" dirty="0"/>
              <a:t> </a:t>
            </a:r>
            <a:r>
              <a:rPr sz="1600" dirty="0" err="1"/>
              <a:t>uma</a:t>
            </a:r>
            <a:r>
              <a:rPr sz="1600" dirty="0"/>
              <a:t> interface </a:t>
            </a:r>
            <a:r>
              <a:rPr sz="1600" dirty="0" err="1"/>
              <a:t>estática</a:t>
            </a:r>
            <a:r>
              <a:rPr sz="1600" dirty="0"/>
              <a:t> </a:t>
            </a:r>
            <a:r>
              <a:rPr sz="1600" dirty="0" err="1"/>
              <a:t>em</a:t>
            </a:r>
            <a:r>
              <a:rPr sz="1600" dirty="0"/>
              <a:t> HTML5, CSS3 e Bootstrap. Era </a:t>
            </a:r>
            <a:r>
              <a:rPr sz="1600" dirty="0" err="1"/>
              <a:t>bonita</a:t>
            </a:r>
            <a:r>
              <a:rPr sz="1600" dirty="0"/>
              <a:t> e </a:t>
            </a:r>
            <a:r>
              <a:rPr sz="1600" dirty="0" err="1"/>
              <a:t>organizada</a:t>
            </a:r>
            <a:r>
              <a:rPr sz="1600" dirty="0"/>
              <a:t>, mas </a:t>
            </a:r>
            <a:r>
              <a:rPr sz="1600" dirty="0" err="1"/>
              <a:t>funcionava</a:t>
            </a:r>
            <a:r>
              <a:rPr sz="1600" dirty="0"/>
              <a:t> </a:t>
            </a:r>
            <a:r>
              <a:rPr sz="1600" dirty="0" err="1"/>
              <a:t>como</a:t>
            </a:r>
            <a:r>
              <a:rPr sz="1600" dirty="0"/>
              <a:t> um </a:t>
            </a:r>
            <a:r>
              <a:rPr sz="1600" dirty="0" err="1"/>
              <a:t>panfleto</a:t>
            </a:r>
            <a:r>
              <a:rPr sz="1600" dirty="0"/>
              <a:t> digital: </a:t>
            </a:r>
            <a:r>
              <a:rPr sz="1600" dirty="0" err="1"/>
              <a:t>parada</a:t>
            </a:r>
            <a:r>
              <a:rPr sz="1600" dirty="0"/>
              <a:t>, </a:t>
            </a:r>
            <a:r>
              <a:rPr sz="1600" dirty="0" err="1"/>
              <a:t>passiva</a:t>
            </a:r>
            <a:r>
              <a:rPr sz="1600" dirty="0"/>
              <a:t> e </a:t>
            </a:r>
            <a:r>
              <a:rPr sz="1600" dirty="0" err="1"/>
              <a:t>sem</a:t>
            </a:r>
            <a:r>
              <a:rPr sz="1600" dirty="0"/>
              <a:t> </a:t>
            </a:r>
            <a:r>
              <a:rPr sz="1600" dirty="0" err="1"/>
              <a:t>diálogo</a:t>
            </a:r>
            <a:r>
              <a:rPr sz="1600" dirty="0"/>
              <a:t> </a:t>
            </a:r>
            <a:r>
              <a:rPr sz="1600" dirty="0" err="1"/>
              <a:t>direto</a:t>
            </a:r>
            <a:r>
              <a:rPr sz="1600" dirty="0"/>
              <a:t> com quem </a:t>
            </a:r>
            <a:r>
              <a:rPr sz="1600" dirty="0" err="1"/>
              <a:t>acessava</a:t>
            </a:r>
            <a:r>
              <a:rPr sz="1600" dirty="0"/>
              <a:t>.</a:t>
            </a:r>
          </a:p>
          <a:p>
            <a:pPr algn="just"/>
            <a:br>
              <a:rPr sz="1600" dirty="0"/>
            </a:br>
            <a:r>
              <a:rPr sz="1600" dirty="0"/>
              <a:t>Na Nota 2, </a:t>
            </a:r>
            <a:r>
              <a:rPr sz="1600" dirty="0" err="1"/>
              <a:t>nossa</a:t>
            </a:r>
            <a:r>
              <a:rPr sz="1600" dirty="0"/>
              <a:t> </a:t>
            </a:r>
            <a:r>
              <a:rPr sz="1600" dirty="0" err="1"/>
              <a:t>missão</a:t>
            </a:r>
            <a:r>
              <a:rPr sz="1600" dirty="0"/>
              <a:t> </a:t>
            </a:r>
            <a:r>
              <a:rPr sz="1600" dirty="0" err="1"/>
              <a:t>foi</a:t>
            </a:r>
            <a:r>
              <a:rPr sz="1600" dirty="0"/>
              <a:t> </a:t>
            </a:r>
            <a:r>
              <a:rPr sz="1600" dirty="0" err="1"/>
              <a:t>dar</a:t>
            </a:r>
            <a:r>
              <a:rPr sz="1600" dirty="0"/>
              <a:t> </a:t>
            </a:r>
            <a:r>
              <a:rPr sz="1600" dirty="0" err="1"/>
              <a:t>vida</a:t>
            </a:r>
            <a:r>
              <a:rPr sz="1600" dirty="0"/>
              <a:t> e </a:t>
            </a:r>
            <a:r>
              <a:rPr sz="1600" dirty="0" err="1"/>
              <a:t>coração</a:t>
            </a:r>
            <a:r>
              <a:rPr sz="1600" dirty="0"/>
              <a:t> </a:t>
            </a:r>
            <a:r>
              <a:rPr sz="1600" dirty="0" err="1"/>
              <a:t>ao</a:t>
            </a:r>
            <a:r>
              <a:rPr sz="1600" dirty="0"/>
              <a:t> </a:t>
            </a:r>
            <a:r>
              <a:rPr sz="1600" dirty="0" err="1"/>
              <a:t>projeto</a:t>
            </a:r>
            <a:r>
              <a:rPr sz="1600" dirty="0"/>
              <a:t>: </a:t>
            </a:r>
            <a:r>
              <a:rPr sz="1600" dirty="0" err="1"/>
              <a:t>quando</a:t>
            </a:r>
            <a:r>
              <a:rPr sz="1600" dirty="0"/>
              <a:t> </a:t>
            </a:r>
            <a:r>
              <a:rPr sz="1600" dirty="0" err="1"/>
              <a:t>alguém</a:t>
            </a:r>
            <a:r>
              <a:rPr sz="1600" dirty="0"/>
              <a:t> </a:t>
            </a:r>
            <a:r>
              <a:rPr sz="1600" dirty="0" err="1"/>
              <a:t>preenche</a:t>
            </a:r>
            <a:r>
              <a:rPr sz="1600" dirty="0"/>
              <a:t> </a:t>
            </a:r>
            <a:r>
              <a:rPr sz="1600" dirty="0" err="1"/>
              <a:t>uma</a:t>
            </a:r>
            <a:r>
              <a:rPr sz="1600" dirty="0"/>
              <a:t> </a:t>
            </a:r>
            <a:r>
              <a:rPr sz="1600" dirty="0" err="1"/>
              <a:t>doação</a:t>
            </a:r>
            <a:r>
              <a:rPr sz="1600" dirty="0"/>
              <a:t>, </a:t>
            </a:r>
            <a:r>
              <a:rPr sz="1600" dirty="0" err="1"/>
              <a:t>precisa</a:t>
            </a:r>
            <a:r>
              <a:rPr sz="1600" dirty="0"/>
              <a:t> </a:t>
            </a:r>
            <a:r>
              <a:rPr sz="1600" dirty="0" err="1"/>
              <a:t>sentir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aquele</a:t>
            </a:r>
            <a:r>
              <a:rPr sz="1600" dirty="0"/>
              <a:t> </a:t>
            </a:r>
            <a:r>
              <a:rPr sz="1600" dirty="0" err="1"/>
              <a:t>ato</a:t>
            </a:r>
            <a:r>
              <a:rPr sz="1600" dirty="0"/>
              <a:t> </a:t>
            </a:r>
            <a:r>
              <a:rPr sz="1600" dirty="0" err="1"/>
              <a:t>gerou</a:t>
            </a:r>
            <a:r>
              <a:rPr sz="1600" dirty="0"/>
              <a:t> </a:t>
            </a:r>
            <a:r>
              <a:rPr sz="1600" dirty="0" err="1"/>
              <a:t>uma</a:t>
            </a:r>
            <a:r>
              <a:rPr sz="1600" dirty="0"/>
              <a:t> </a:t>
            </a:r>
            <a:r>
              <a:rPr sz="1600" dirty="0" err="1"/>
              <a:t>resposta</a:t>
            </a:r>
            <a:r>
              <a:rPr sz="1600" dirty="0"/>
              <a:t> no </a:t>
            </a:r>
            <a:r>
              <a:rPr sz="1600" dirty="0" err="1"/>
              <a:t>mundo</a:t>
            </a:r>
            <a:r>
              <a:rPr sz="1600" dirty="0"/>
              <a:t>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66360" cy="1874519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4160520"/>
            <a:ext cx="73152" cy="18745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4800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400" b="1">
                <a:solidFill>
                  <a:srgbClr val="B45309"/>
                </a:solidFill>
                <a:latin typeface="Segoe UI"/>
              </a:defRPr>
            </a:pPr>
            <a:r>
              <a:rPr dirty="0" err="1"/>
              <a:t>Interação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Acolhe</a:t>
            </a:r>
            <a:endParaRPr dirty="0"/>
          </a:p>
          <a:p>
            <a:pPr algn="just"/>
            <a:br>
              <a:rPr dirty="0"/>
            </a:br>
            <a:r>
              <a:rPr dirty="0" err="1"/>
              <a:t>Abraçamos</a:t>
            </a:r>
            <a:r>
              <a:rPr dirty="0"/>
              <a:t> o React 19 para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elemento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tela</a:t>
            </a:r>
            <a:r>
              <a:rPr dirty="0"/>
              <a:t> </a:t>
            </a:r>
            <a:r>
              <a:rPr dirty="0" err="1"/>
              <a:t>reaja</a:t>
            </a:r>
            <a:r>
              <a:rPr dirty="0"/>
              <a:t> </a:t>
            </a:r>
            <a:r>
              <a:rPr dirty="0" err="1"/>
              <a:t>imediatamente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sentimentos</a:t>
            </a:r>
            <a:r>
              <a:rPr dirty="0"/>
              <a:t> e </a:t>
            </a:r>
            <a:r>
              <a:rPr dirty="0" err="1"/>
              <a:t>intenções</a:t>
            </a:r>
            <a:r>
              <a:rPr dirty="0"/>
              <a:t> do </a:t>
            </a:r>
            <a:r>
              <a:rPr dirty="0" err="1"/>
              <a:t>usuário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recarregar</a:t>
            </a:r>
            <a:r>
              <a:rPr dirty="0"/>
              <a:t> a </a:t>
            </a:r>
            <a:r>
              <a:rPr dirty="0" err="1"/>
              <a:t>página</a:t>
            </a:r>
            <a:r>
              <a:rPr dirty="0"/>
              <a:t> e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travar</a:t>
            </a:r>
            <a:r>
              <a:rPr dirty="0"/>
              <a:t> a </a:t>
            </a:r>
            <a:r>
              <a:rPr dirty="0" err="1"/>
              <a:t>navegação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24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dirty="0"/>
              <a:t>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Mudou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Experiência</a:t>
            </a:r>
            <a:r>
              <a:rPr dirty="0"/>
              <a:t> de Quem Usa</a:t>
            </a:r>
          </a:p>
          <a:p>
            <a:pPr algn="just"/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Retorno</a:t>
            </a:r>
            <a:r>
              <a:rPr sz="1600" dirty="0"/>
              <a:t> </a:t>
            </a:r>
            <a:r>
              <a:rPr sz="1600" dirty="0" err="1"/>
              <a:t>Imediato</a:t>
            </a:r>
            <a:r>
              <a:rPr sz="1600" dirty="0"/>
              <a:t>: Ao </a:t>
            </a:r>
            <a:r>
              <a:rPr sz="1600" dirty="0" err="1"/>
              <a:t>enviar</a:t>
            </a:r>
            <a:r>
              <a:rPr sz="1600" dirty="0"/>
              <a:t> </a:t>
            </a:r>
            <a:r>
              <a:rPr sz="1600" dirty="0" err="1"/>
              <a:t>uma</a:t>
            </a:r>
            <a:r>
              <a:rPr sz="1600" dirty="0"/>
              <a:t> </a:t>
            </a:r>
            <a:r>
              <a:rPr sz="1600" dirty="0" err="1"/>
              <a:t>doação</a:t>
            </a:r>
            <a:r>
              <a:rPr sz="1600" dirty="0"/>
              <a:t>, a meta </a:t>
            </a:r>
            <a:r>
              <a:rPr sz="1600" dirty="0" err="1"/>
              <a:t>comunitária</a:t>
            </a:r>
            <a:r>
              <a:rPr sz="1600" dirty="0"/>
              <a:t> </a:t>
            </a:r>
            <a:r>
              <a:rPr sz="1600" dirty="0" err="1"/>
              <a:t>sobe</a:t>
            </a:r>
            <a:r>
              <a:rPr sz="1600" dirty="0"/>
              <a:t>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mesma</a:t>
            </a:r>
            <a:r>
              <a:rPr sz="1600" dirty="0"/>
              <a:t> hora no topo do site e um </a:t>
            </a:r>
            <a:r>
              <a:rPr sz="1600" dirty="0" err="1"/>
              <a:t>Recibo</a:t>
            </a:r>
            <a:r>
              <a:rPr sz="1600" dirty="0"/>
              <a:t> </a:t>
            </a:r>
            <a:r>
              <a:rPr sz="1600" dirty="0" err="1"/>
              <a:t>Solidário</a:t>
            </a:r>
            <a:r>
              <a:rPr sz="1600" dirty="0"/>
              <a:t> com </a:t>
            </a:r>
            <a:r>
              <a:rPr sz="1600" dirty="0" err="1"/>
              <a:t>código</a:t>
            </a:r>
            <a:r>
              <a:rPr sz="1600" dirty="0"/>
              <a:t> </a:t>
            </a:r>
            <a:r>
              <a:rPr sz="1600" dirty="0" err="1"/>
              <a:t>único</a:t>
            </a:r>
            <a:r>
              <a:rPr sz="1600" dirty="0"/>
              <a:t> surge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tela</a:t>
            </a:r>
            <a:r>
              <a:rPr sz="1600" dirty="0"/>
              <a:t>.</a:t>
            </a:r>
          </a:p>
          <a:p>
            <a:pPr algn="just"/>
            <a:br>
              <a:rPr sz="1600" dirty="0"/>
            </a:br>
            <a:r>
              <a:rPr sz="1600" dirty="0"/>
              <a:t>• Menos </a:t>
            </a:r>
            <a:r>
              <a:rPr sz="1600" dirty="0" err="1"/>
              <a:t>Esforço</a:t>
            </a:r>
            <a:r>
              <a:rPr sz="1600" dirty="0"/>
              <a:t> para Fazer o Bem: </a:t>
            </a:r>
            <a:r>
              <a:rPr sz="1600" dirty="0" err="1"/>
              <a:t>Botões</a:t>
            </a:r>
            <a:r>
              <a:rPr sz="1600" dirty="0"/>
              <a:t> de clique </a:t>
            </a:r>
            <a:r>
              <a:rPr sz="1600" dirty="0" err="1"/>
              <a:t>rápido</a:t>
            </a:r>
            <a:r>
              <a:rPr sz="1600" dirty="0"/>
              <a:t> ('1 Cesta', '2 Cestas', '5 Cestas') </a:t>
            </a:r>
            <a:r>
              <a:rPr sz="1600" dirty="0" err="1"/>
              <a:t>evitam</a:t>
            </a:r>
            <a:r>
              <a:rPr sz="1600" dirty="0"/>
              <a:t> </a:t>
            </a:r>
            <a:r>
              <a:rPr sz="1600" dirty="0" err="1"/>
              <a:t>digitação</a:t>
            </a:r>
            <a:r>
              <a:rPr sz="1600" dirty="0"/>
              <a:t> </a:t>
            </a:r>
            <a:r>
              <a:rPr sz="1600" dirty="0" err="1"/>
              <a:t>demorada</a:t>
            </a:r>
            <a:r>
              <a:rPr sz="1600" dirty="0"/>
              <a:t> no </a:t>
            </a:r>
            <a:r>
              <a:rPr sz="1600" dirty="0" err="1"/>
              <a:t>celular</a:t>
            </a:r>
            <a:r>
              <a:rPr sz="1600" dirty="0"/>
              <a:t>.</a:t>
            </a:r>
          </a:p>
          <a:p>
            <a:pPr algn="just"/>
            <a:br>
              <a:rPr sz="1600" dirty="0"/>
            </a:br>
            <a:r>
              <a:rPr sz="1600" dirty="0"/>
              <a:t>• Chave PIX com 1 Toque: </a:t>
            </a:r>
            <a:r>
              <a:rPr sz="1600" dirty="0" err="1"/>
              <a:t>Cópia</a:t>
            </a:r>
            <a:r>
              <a:rPr sz="1600" dirty="0"/>
              <a:t> </a:t>
            </a:r>
            <a:r>
              <a:rPr sz="1600" dirty="0" err="1"/>
              <a:t>instantânea</a:t>
            </a:r>
            <a:r>
              <a:rPr sz="1600" dirty="0"/>
              <a:t> da </a:t>
            </a:r>
            <a:r>
              <a:rPr sz="1600" dirty="0" err="1"/>
              <a:t>chave</a:t>
            </a:r>
            <a:r>
              <a:rPr sz="1600" dirty="0"/>
              <a:t> </a:t>
            </a:r>
            <a:r>
              <a:rPr sz="1600" dirty="0" err="1"/>
              <a:t>institucional</a:t>
            </a:r>
            <a:r>
              <a:rPr sz="1600" dirty="0"/>
              <a:t> com aviso de </a:t>
            </a:r>
            <a:r>
              <a:rPr sz="1600" dirty="0" err="1"/>
              <a:t>confirmação</a:t>
            </a:r>
            <a:r>
              <a:rPr sz="1600" dirty="0"/>
              <a:t>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tela</a:t>
            </a:r>
            <a:r>
              <a:rPr sz="1600" dirty="0"/>
              <a:t> via Clipboard API.</a:t>
            </a:r>
          </a:p>
          <a:p>
            <a:pPr algn="just"/>
            <a:br>
              <a:rPr sz="1600" dirty="0"/>
            </a:br>
            <a:r>
              <a:rPr sz="1600" dirty="0"/>
              <a:t>• Trilha Sonora Emocionante: Player com a </a:t>
            </a:r>
            <a:r>
              <a:rPr sz="1600" dirty="0" err="1"/>
              <a:t>canção</a:t>
            </a:r>
            <a:r>
              <a:rPr sz="1600" dirty="0"/>
              <a:t> 'Imagine' (John Lennon, 1971),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respeita</a:t>
            </a:r>
            <a:r>
              <a:rPr sz="1600" dirty="0"/>
              <a:t> a </a:t>
            </a:r>
            <a:r>
              <a:rPr sz="1600" dirty="0" err="1"/>
              <a:t>privacidade</a:t>
            </a:r>
            <a:r>
              <a:rPr sz="1600" dirty="0"/>
              <a:t> do </a:t>
            </a:r>
            <a:r>
              <a:rPr sz="1600" dirty="0" err="1"/>
              <a:t>usuário</a:t>
            </a:r>
            <a:r>
              <a:rPr sz="1600" dirty="0"/>
              <a:t> e </a:t>
            </a:r>
            <a:r>
              <a:rPr sz="1600" dirty="0" err="1"/>
              <a:t>pode</a:t>
            </a:r>
            <a:r>
              <a:rPr sz="1600" dirty="0"/>
              <a:t> ser </a:t>
            </a:r>
            <a:r>
              <a:rPr sz="1600" dirty="0" err="1"/>
              <a:t>pausado</a:t>
            </a:r>
            <a:r>
              <a:rPr sz="1600" dirty="0"/>
              <a:t>, </a:t>
            </a:r>
            <a:r>
              <a:rPr sz="1600" dirty="0" err="1"/>
              <a:t>mutado</a:t>
            </a:r>
            <a:r>
              <a:rPr sz="1600" dirty="0"/>
              <a:t> </a:t>
            </a:r>
            <a:r>
              <a:rPr sz="1600" dirty="0" err="1"/>
              <a:t>ou</a:t>
            </a:r>
            <a:r>
              <a:rPr sz="1600" dirty="0"/>
              <a:t> </a:t>
            </a:r>
            <a:r>
              <a:rPr sz="1600" dirty="0" err="1"/>
              <a:t>recolhido</a:t>
            </a:r>
            <a:r>
              <a:rPr sz="1600" dirty="0"/>
              <a:t> a </a:t>
            </a:r>
            <a:r>
              <a:rPr sz="1600" dirty="0" err="1"/>
              <a:t>qualquer</a:t>
            </a:r>
            <a:r>
              <a:rPr sz="1600" dirty="0"/>
              <a:t> </a:t>
            </a:r>
            <a:r>
              <a:rPr sz="1600" dirty="0" err="1"/>
              <a:t>momento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Interatividade com Respeito ao Usuário: DOM &amp; Eventos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Sentidos</a:t>
            </a:r>
            <a:r>
              <a:rPr dirty="0"/>
              <a:t> da </a:t>
            </a:r>
            <a:r>
              <a:rPr dirty="0" err="1"/>
              <a:t>Aplicação</a:t>
            </a:r>
            <a:r>
              <a:rPr dirty="0"/>
              <a:t> (</a:t>
            </a:r>
            <a:r>
              <a:rPr dirty="0" err="1"/>
              <a:t>Eventos</a:t>
            </a:r>
            <a:r>
              <a:rPr dirty="0"/>
              <a:t> JavaScript)</a:t>
            </a:r>
          </a:p>
          <a:p>
            <a:pPr algn="just">
              <a:defRPr sz="1200">
                <a:solidFill>
                  <a:srgbClr val="64748B"/>
                </a:solidFill>
                <a:latin typeface="Segoe UI"/>
              </a:defRPr>
            </a:pPr>
            <a:r>
              <a:rPr dirty="0" err="1"/>
              <a:t>Tratamento</a:t>
            </a:r>
            <a:r>
              <a:rPr dirty="0"/>
              <a:t> de </a:t>
            </a:r>
            <a:r>
              <a:rPr dirty="0" err="1"/>
              <a:t>eventos</a:t>
            </a:r>
            <a:r>
              <a:rPr dirty="0"/>
              <a:t> </a:t>
            </a:r>
            <a:r>
              <a:rPr dirty="0" err="1"/>
              <a:t>pensado</a:t>
            </a:r>
            <a:r>
              <a:rPr dirty="0"/>
              <a:t> para ser </a:t>
            </a:r>
            <a:r>
              <a:rPr dirty="0" err="1"/>
              <a:t>acolhedor</a:t>
            </a:r>
            <a:r>
              <a:rPr dirty="0"/>
              <a:t> e </a:t>
            </a:r>
            <a:r>
              <a:rPr dirty="0" err="1"/>
              <a:t>intuitivo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burocracias</a:t>
            </a:r>
            <a:r>
              <a:rPr dirty="0"/>
              <a:t>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516636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73152" cy="352044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800600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30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Eventos</a:t>
            </a:r>
            <a:r>
              <a:rPr sz="1600" dirty="0"/>
              <a:t> Centrais </a:t>
            </a:r>
            <a:r>
              <a:rPr sz="1600" dirty="0" err="1"/>
              <a:t>Implementados</a:t>
            </a:r>
            <a:r>
              <a:rPr sz="1600" dirty="0"/>
              <a:t>:</a:t>
            </a:r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onSubmit</a:t>
            </a:r>
            <a:r>
              <a:rPr sz="1400" dirty="0"/>
              <a:t> (</a:t>
            </a:r>
            <a:r>
              <a:rPr sz="1400" dirty="0" err="1"/>
              <a:t>Doar.jsx</a:t>
            </a:r>
            <a:r>
              <a:rPr sz="1400" dirty="0"/>
              <a:t>): </a:t>
            </a:r>
            <a:r>
              <a:rPr sz="1400" dirty="0" err="1"/>
              <a:t>Interrompe</a:t>
            </a:r>
            <a:r>
              <a:rPr sz="1400" dirty="0"/>
              <a:t> o </a:t>
            </a:r>
            <a:r>
              <a:rPr sz="1400" dirty="0" err="1"/>
              <a:t>recarregamento</a:t>
            </a:r>
            <a:r>
              <a:rPr sz="1400" dirty="0"/>
              <a:t> </a:t>
            </a:r>
            <a:r>
              <a:rPr sz="1400" dirty="0" err="1"/>
              <a:t>brusco</a:t>
            </a:r>
            <a:r>
              <a:rPr sz="1400" dirty="0"/>
              <a:t>, </a:t>
            </a:r>
            <a:r>
              <a:rPr sz="1400" dirty="0" err="1"/>
              <a:t>valida</a:t>
            </a:r>
            <a:r>
              <a:rPr sz="1400" dirty="0"/>
              <a:t> campos, </a:t>
            </a:r>
            <a:r>
              <a:rPr sz="1400" dirty="0" err="1"/>
              <a:t>grava</a:t>
            </a:r>
            <a:r>
              <a:rPr sz="1400" dirty="0"/>
              <a:t> no </a:t>
            </a:r>
            <a:r>
              <a:rPr sz="1400" dirty="0" err="1"/>
              <a:t>localStorage</a:t>
            </a:r>
            <a:r>
              <a:rPr sz="1400" dirty="0"/>
              <a:t> e </a:t>
            </a:r>
            <a:r>
              <a:rPr sz="1400" dirty="0" err="1"/>
              <a:t>emite</a:t>
            </a:r>
            <a:r>
              <a:rPr sz="1400" dirty="0"/>
              <a:t> </a:t>
            </a:r>
            <a:r>
              <a:rPr sz="1400" dirty="0" err="1"/>
              <a:t>Recibo</a:t>
            </a:r>
            <a:r>
              <a:rPr sz="1400" dirty="0"/>
              <a:t> </a:t>
            </a:r>
            <a:r>
              <a:rPr sz="1400" dirty="0" err="1"/>
              <a:t>Solidário</a:t>
            </a:r>
            <a:r>
              <a:rPr sz="1400" dirty="0"/>
              <a:t> com </a:t>
            </a:r>
            <a:r>
              <a:rPr sz="1400" dirty="0" err="1"/>
              <a:t>código</a:t>
            </a:r>
            <a:r>
              <a:rPr sz="1400" dirty="0"/>
              <a:t> </a:t>
            </a:r>
            <a:r>
              <a:rPr sz="1400" dirty="0" err="1"/>
              <a:t>rastreável</a:t>
            </a:r>
            <a:r>
              <a:rPr sz="1400" dirty="0"/>
              <a:t> (REC-XXXXXX).</a:t>
            </a:r>
            <a:endParaRPr lang="pt-BR"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onChange</a:t>
            </a:r>
            <a:r>
              <a:rPr sz="1400" dirty="0"/>
              <a:t> (</a:t>
            </a:r>
            <a:r>
              <a:rPr sz="1400" dirty="0" err="1"/>
              <a:t>PrestacaoContas.jsx</a:t>
            </a:r>
            <a:r>
              <a:rPr sz="1400" dirty="0"/>
              <a:t>): Filtra </a:t>
            </a:r>
            <a:r>
              <a:rPr sz="1400" dirty="0" err="1"/>
              <a:t>os</a:t>
            </a:r>
            <a:r>
              <a:rPr sz="1400" dirty="0"/>
              <a:t> 13 bairros e a Zona Rural </a:t>
            </a:r>
            <a:r>
              <a:rPr sz="1400" dirty="0" err="1"/>
              <a:t>enquanto</a:t>
            </a:r>
            <a:r>
              <a:rPr sz="1400" dirty="0"/>
              <a:t> o </a:t>
            </a:r>
            <a:r>
              <a:rPr sz="1400" dirty="0" err="1"/>
              <a:t>morador</a:t>
            </a:r>
            <a:r>
              <a:rPr sz="1400" dirty="0"/>
              <a:t> </a:t>
            </a:r>
            <a:r>
              <a:rPr sz="1400" dirty="0" err="1"/>
              <a:t>digita</a:t>
            </a:r>
            <a:r>
              <a:rPr sz="1400" dirty="0"/>
              <a:t>, </a:t>
            </a:r>
            <a:r>
              <a:rPr sz="1400" dirty="0" err="1"/>
              <a:t>normalizando</a:t>
            </a:r>
            <a:r>
              <a:rPr sz="1400" dirty="0"/>
              <a:t> </a:t>
            </a:r>
            <a:r>
              <a:rPr sz="1400" dirty="0" err="1"/>
              <a:t>acentos</a:t>
            </a:r>
            <a:r>
              <a:rPr sz="1400" dirty="0"/>
              <a:t> </a:t>
            </a:r>
            <a:r>
              <a:rPr sz="1400" dirty="0" err="1"/>
              <a:t>sem</a:t>
            </a:r>
            <a:r>
              <a:rPr sz="1400" dirty="0"/>
              <a:t> </a:t>
            </a:r>
            <a:r>
              <a:rPr sz="1400" dirty="0" err="1"/>
              <a:t>travamentos</a:t>
            </a:r>
            <a:r>
              <a:rPr sz="1400" dirty="0"/>
              <a:t>.</a:t>
            </a:r>
            <a:endParaRPr lang="pt-BR"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onClick</a:t>
            </a:r>
            <a:r>
              <a:rPr sz="1400" dirty="0"/>
              <a:t> </a:t>
            </a:r>
            <a:r>
              <a:rPr sz="1400" dirty="0" err="1"/>
              <a:t>na</a:t>
            </a:r>
            <a:r>
              <a:rPr sz="1400" dirty="0"/>
              <a:t> Navbar: Menu </a:t>
            </a:r>
            <a:r>
              <a:rPr sz="1400" dirty="0" err="1"/>
              <a:t>móvel</a:t>
            </a:r>
            <a:r>
              <a:rPr sz="1400" dirty="0"/>
              <a:t>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abre</a:t>
            </a:r>
            <a:r>
              <a:rPr sz="1400" dirty="0"/>
              <a:t> e </a:t>
            </a:r>
            <a:r>
              <a:rPr sz="1400" dirty="0" err="1"/>
              <a:t>fecha</a:t>
            </a:r>
            <a:r>
              <a:rPr sz="1400" dirty="0"/>
              <a:t> </a:t>
            </a:r>
            <a:r>
              <a:rPr sz="1400" dirty="0" err="1"/>
              <a:t>sozinho</a:t>
            </a:r>
            <a:r>
              <a:rPr sz="1400" dirty="0"/>
              <a:t> </a:t>
            </a:r>
            <a:r>
              <a:rPr sz="1400" dirty="0" err="1"/>
              <a:t>ao</a:t>
            </a:r>
            <a:r>
              <a:rPr sz="1400" dirty="0"/>
              <a:t> </a:t>
            </a:r>
            <a:r>
              <a:rPr sz="1400" dirty="0" err="1"/>
              <a:t>tocar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</a:t>
            </a:r>
            <a:r>
              <a:rPr sz="1400" dirty="0" err="1"/>
              <a:t>qualquer</a:t>
            </a:r>
            <a:r>
              <a:rPr sz="1400" dirty="0"/>
              <a:t> link.</a:t>
            </a:r>
            <a:endParaRPr lang="pt-BR"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Clipboard API: </a:t>
            </a:r>
            <a:r>
              <a:rPr sz="1400" dirty="0" err="1"/>
              <a:t>Cópia</a:t>
            </a:r>
            <a:r>
              <a:rPr sz="1400" dirty="0"/>
              <a:t> suave da </a:t>
            </a:r>
            <a:r>
              <a:rPr sz="1400" dirty="0" err="1"/>
              <a:t>chave</a:t>
            </a:r>
            <a:r>
              <a:rPr sz="1400" dirty="0"/>
              <a:t> PIX </a:t>
            </a:r>
            <a:r>
              <a:rPr sz="1400" dirty="0" err="1"/>
              <a:t>sem</a:t>
            </a:r>
            <a:r>
              <a:rPr sz="1400" dirty="0"/>
              <a:t> </a:t>
            </a:r>
            <a:r>
              <a:rPr sz="1400" dirty="0" err="1"/>
              <a:t>selecionar</a:t>
            </a:r>
            <a:r>
              <a:rPr sz="1400" dirty="0"/>
              <a:t> </a:t>
            </a:r>
            <a:r>
              <a:rPr sz="1400" dirty="0" err="1"/>
              <a:t>texto</a:t>
            </a:r>
            <a:r>
              <a:rPr sz="1400"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166360" cy="1015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00" b="1">
                <a:solidFill>
                  <a:srgbClr val="00873E"/>
                </a:solidFill>
                <a:latin typeface="Segoe UI"/>
              </a:defRPr>
            </a:pPr>
            <a:r>
              <a:rPr dirty="0"/>
              <a:t>A Música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Conecta</a:t>
            </a:r>
            <a:r>
              <a:rPr dirty="0"/>
              <a:t> </a:t>
            </a:r>
            <a:r>
              <a:rPr dirty="0" err="1"/>
              <a:t>Gerações</a:t>
            </a:r>
            <a:r>
              <a:rPr dirty="0"/>
              <a:t> (Imagine — John Lennon, 1971)</a:t>
            </a:r>
          </a:p>
          <a:p>
            <a:pPr algn="just">
              <a:defRPr sz="1150">
                <a:solidFill>
                  <a:srgbClr val="64748B"/>
                </a:solidFill>
                <a:latin typeface="Segoe UI"/>
              </a:defRPr>
            </a:pPr>
            <a:r>
              <a:rPr sz="1200" dirty="0" err="1"/>
              <a:t>Nenhum</a:t>
            </a:r>
            <a:r>
              <a:rPr sz="1200" dirty="0"/>
              <a:t> </a:t>
            </a:r>
            <a:r>
              <a:rPr sz="1200" dirty="0" err="1"/>
              <a:t>projeto</a:t>
            </a:r>
            <a:r>
              <a:rPr sz="1200" dirty="0"/>
              <a:t> </a:t>
            </a:r>
            <a:r>
              <a:rPr sz="1200" dirty="0" err="1"/>
              <a:t>comunitário</a:t>
            </a:r>
            <a:r>
              <a:rPr sz="1200" dirty="0"/>
              <a:t> </a:t>
            </a:r>
            <a:r>
              <a:rPr sz="1200" dirty="0" err="1"/>
              <a:t>vive</a:t>
            </a:r>
            <a:r>
              <a:rPr sz="1200" dirty="0"/>
              <a:t> </a:t>
            </a:r>
            <a:r>
              <a:rPr sz="1200" dirty="0" err="1"/>
              <a:t>só</a:t>
            </a:r>
            <a:r>
              <a:rPr sz="1200" dirty="0"/>
              <a:t> de </a:t>
            </a:r>
            <a:r>
              <a:rPr sz="1200" dirty="0" err="1"/>
              <a:t>botões</a:t>
            </a:r>
            <a:r>
              <a:rPr sz="1200" dirty="0"/>
              <a:t>; </a:t>
            </a:r>
            <a:r>
              <a:rPr sz="1200" dirty="0" err="1"/>
              <a:t>ele</a:t>
            </a:r>
            <a:r>
              <a:rPr sz="1200" dirty="0"/>
              <a:t> </a:t>
            </a:r>
            <a:r>
              <a:rPr sz="1200" dirty="0" err="1"/>
              <a:t>vive</a:t>
            </a:r>
            <a:r>
              <a:rPr sz="1200" dirty="0"/>
              <a:t> de </a:t>
            </a:r>
            <a:r>
              <a:rPr sz="1200" dirty="0" err="1"/>
              <a:t>sentimento</a:t>
            </a:r>
            <a:r>
              <a:rPr sz="1200" dirty="0"/>
              <a:t>. A </a:t>
            </a:r>
            <a:r>
              <a:rPr sz="1200" dirty="0" err="1"/>
              <a:t>trilha</a:t>
            </a:r>
            <a:r>
              <a:rPr sz="1200" dirty="0"/>
              <a:t> </a:t>
            </a:r>
            <a:r>
              <a:rPr sz="1200" dirty="0" err="1"/>
              <a:t>sonora</a:t>
            </a:r>
            <a:r>
              <a:rPr sz="1200" dirty="0"/>
              <a:t> </a:t>
            </a:r>
            <a:r>
              <a:rPr sz="1200" dirty="0" err="1"/>
              <a:t>traz</a:t>
            </a:r>
            <a:r>
              <a:rPr sz="1200" dirty="0"/>
              <a:t> a </a:t>
            </a:r>
            <a:r>
              <a:rPr sz="1200" dirty="0" err="1"/>
              <a:t>clássica</a:t>
            </a:r>
            <a:r>
              <a:rPr sz="1200" dirty="0"/>
              <a:t> </a:t>
            </a:r>
            <a:r>
              <a:rPr sz="1200" dirty="0" err="1"/>
              <a:t>canção</a:t>
            </a:r>
            <a:r>
              <a:rPr sz="1200" dirty="0"/>
              <a:t> 'Imagine' para </a:t>
            </a:r>
            <a:r>
              <a:rPr sz="1200" dirty="0" err="1"/>
              <a:t>sensibilização</a:t>
            </a:r>
            <a:r>
              <a:rPr sz="1200" dirty="0"/>
              <a:t> </a:t>
            </a:r>
            <a:r>
              <a:rPr sz="1200" dirty="0" err="1"/>
              <a:t>pedagógica</a:t>
            </a:r>
            <a:r>
              <a:rPr sz="1200" dirty="0"/>
              <a:t> e </a:t>
            </a:r>
            <a:r>
              <a:rPr sz="1200" dirty="0" err="1"/>
              <a:t>acolhimento</a:t>
            </a:r>
            <a:r>
              <a:rPr sz="1200"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166360" cy="3520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651760"/>
            <a:ext cx="4663440" cy="24314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30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Tratamento</a:t>
            </a:r>
            <a:r>
              <a:rPr sz="1600" dirty="0"/>
              <a:t> </a:t>
            </a:r>
            <a:r>
              <a:rPr sz="1600" dirty="0" err="1"/>
              <a:t>Cuidadoso</a:t>
            </a:r>
            <a:r>
              <a:rPr sz="1600" dirty="0"/>
              <a:t> de </a:t>
            </a:r>
            <a:r>
              <a:rPr sz="1600" dirty="0" err="1"/>
              <a:t>Áudio</a:t>
            </a:r>
            <a:r>
              <a:rPr sz="1600" dirty="0"/>
              <a:t>:</a:t>
            </a:r>
          </a:p>
          <a:p>
            <a:pPr algn="just"/>
            <a:br>
              <a:rPr sz="1600" dirty="0"/>
            </a:br>
            <a:r>
              <a:rPr sz="1400" dirty="0"/>
              <a:t>• </a:t>
            </a:r>
            <a:r>
              <a:rPr sz="1400" dirty="0" err="1"/>
              <a:t>Respeito</a:t>
            </a:r>
            <a:r>
              <a:rPr sz="1400" dirty="0"/>
              <a:t> </a:t>
            </a:r>
            <a:r>
              <a:rPr sz="1400" dirty="0" err="1"/>
              <a:t>ao</a:t>
            </a:r>
            <a:r>
              <a:rPr sz="1400" dirty="0"/>
              <a:t> </a:t>
            </a:r>
            <a:r>
              <a:rPr sz="1400" dirty="0" err="1"/>
              <a:t>Usuário</a:t>
            </a:r>
            <a:r>
              <a:rPr sz="1400" dirty="0"/>
              <a:t> (Anti-Autoplay </a:t>
            </a:r>
            <a:r>
              <a:rPr sz="1400" dirty="0" err="1"/>
              <a:t>Invasivo</a:t>
            </a:r>
            <a:r>
              <a:rPr sz="1400" dirty="0"/>
              <a:t>): </a:t>
            </a:r>
            <a:r>
              <a:rPr sz="1400" dirty="0" err="1"/>
              <a:t>Navegadores</a:t>
            </a:r>
            <a:r>
              <a:rPr sz="1400" dirty="0"/>
              <a:t> </a:t>
            </a:r>
            <a:r>
              <a:rPr sz="1400" dirty="0" err="1"/>
              <a:t>modernos</a:t>
            </a:r>
            <a:r>
              <a:rPr sz="1400" dirty="0"/>
              <a:t> </a:t>
            </a:r>
            <a:r>
              <a:rPr sz="1400" dirty="0" err="1"/>
              <a:t>bloqueiam</a:t>
            </a:r>
            <a:r>
              <a:rPr sz="1400" dirty="0"/>
              <a:t> </a:t>
            </a:r>
            <a:r>
              <a:rPr sz="1400" dirty="0" err="1"/>
              <a:t>reprodução</a:t>
            </a:r>
            <a:r>
              <a:rPr sz="1400" dirty="0"/>
              <a:t> </a:t>
            </a:r>
            <a:r>
              <a:rPr sz="1400" dirty="0" err="1"/>
              <a:t>automática</a:t>
            </a:r>
            <a:r>
              <a:rPr sz="1400" dirty="0"/>
              <a:t>. </a:t>
            </a:r>
            <a:r>
              <a:rPr sz="1400" dirty="0" err="1"/>
              <a:t>Criamos</a:t>
            </a:r>
            <a:r>
              <a:rPr sz="1400" dirty="0"/>
              <a:t> </a:t>
            </a:r>
            <a:r>
              <a:rPr sz="1400" dirty="0" err="1"/>
              <a:t>escutadores</a:t>
            </a:r>
            <a:r>
              <a:rPr sz="1400" dirty="0"/>
              <a:t> de </a:t>
            </a:r>
            <a:r>
              <a:rPr sz="1400" dirty="0" err="1"/>
              <a:t>evento</a:t>
            </a:r>
            <a:r>
              <a:rPr sz="1400" dirty="0"/>
              <a:t> (</a:t>
            </a:r>
            <a:r>
              <a:rPr sz="1400" dirty="0" err="1"/>
              <a:t>window.addEventListener</a:t>
            </a:r>
            <a:r>
              <a:rPr sz="1400" dirty="0"/>
              <a:t>('click') e </a:t>
            </a:r>
            <a:r>
              <a:rPr sz="1400" dirty="0" err="1"/>
              <a:t>rolagem</a:t>
            </a:r>
            <a:r>
              <a:rPr sz="1400" dirty="0"/>
              <a:t>) para </a:t>
            </a:r>
            <a:r>
              <a:rPr sz="1400" dirty="0" err="1"/>
              <a:t>iniciar</a:t>
            </a:r>
            <a:r>
              <a:rPr sz="1400" dirty="0"/>
              <a:t> </a:t>
            </a:r>
            <a:r>
              <a:rPr sz="1400" dirty="0" err="1"/>
              <a:t>suavemente</a:t>
            </a:r>
            <a:r>
              <a:rPr sz="1400" dirty="0"/>
              <a:t> </a:t>
            </a:r>
            <a:r>
              <a:rPr sz="1400" dirty="0" err="1"/>
              <a:t>quando</a:t>
            </a:r>
            <a:r>
              <a:rPr sz="1400" dirty="0"/>
              <a:t> o </a:t>
            </a:r>
            <a:r>
              <a:rPr sz="1400" dirty="0" err="1"/>
              <a:t>visitante</a:t>
            </a:r>
            <a:r>
              <a:rPr sz="1400" dirty="0"/>
              <a:t> </a:t>
            </a:r>
            <a:r>
              <a:rPr sz="1400" dirty="0" err="1"/>
              <a:t>demonstra</a:t>
            </a:r>
            <a:r>
              <a:rPr sz="1400" dirty="0"/>
              <a:t> interesse </a:t>
            </a:r>
            <a:r>
              <a:rPr sz="1400" dirty="0" err="1"/>
              <a:t>pelo</a:t>
            </a:r>
            <a:r>
              <a:rPr sz="1400" dirty="0"/>
              <a:t> site.</a:t>
            </a:r>
          </a:p>
          <a:p>
            <a:pPr algn="just"/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Controles</a:t>
            </a:r>
            <a:r>
              <a:rPr sz="1400" dirty="0"/>
              <a:t> </a:t>
            </a:r>
            <a:r>
              <a:rPr sz="1400" dirty="0" err="1"/>
              <a:t>Completos</a:t>
            </a:r>
            <a:r>
              <a:rPr sz="1400" dirty="0"/>
              <a:t>: Slider de volume </a:t>
            </a:r>
            <a:r>
              <a:rPr sz="1400" dirty="0" err="1"/>
              <a:t>contínuo</a:t>
            </a:r>
            <a:r>
              <a:rPr sz="1400" dirty="0"/>
              <a:t>, </a:t>
            </a:r>
            <a:r>
              <a:rPr sz="1400" dirty="0" err="1"/>
              <a:t>botão</a:t>
            </a:r>
            <a:r>
              <a:rPr sz="1400" dirty="0"/>
              <a:t> de </a:t>
            </a:r>
            <a:r>
              <a:rPr sz="1400" dirty="0" err="1"/>
              <a:t>silenciar</a:t>
            </a:r>
            <a:r>
              <a:rPr sz="1400" dirty="0"/>
              <a:t> (mute), </a:t>
            </a:r>
            <a:r>
              <a:rPr sz="1400" dirty="0" err="1"/>
              <a:t>equalizador</a:t>
            </a:r>
            <a:r>
              <a:rPr sz="1400" dirty="0"/>
              <a:t> com 3 barras </a:t>
            </a:r>
            <a:r>
              <a:rPr sz="1400" dirty="0" err="1"/>
              <a:t>animadas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CSS e </a:t>
            </a:r>
            <a:r>
              <a:rPr sz="1400" dirty="0" err="1"/>
              <a:t>botão</a:t>
            </a:r>
            <a:r>
              <a:rPr sz="1400" dirty="0"/>
              <a:t> para </a:t>
            </a:r>
            <a:r>
              <a:rPr sz="1400" dirty="0" err="1"/>
              <a:t>recolher</a:t>
            </a:r>
            <a:r>
              <a:rPr sz="1400" dirty="0"/>
              <a:t> o </a:t>
            </a:r>
            <a:r>
              <a:rPr sz="1400" dirty="0" err="1"/>
              <a:t>tocador</a:t>
            </a:r>
            <a:r>
              <a:rPr sz="1400" dirty="0"/>
              <a:t> para um canto </a:t>
            </a:r>
            <a:r>
              <a:rPr sz="1400" dirty="0" err="1"/>
              <a:t>discreto</a:t>
            </a:r>
            <a:r>
              <a:rPr sz="1400" dirty="0"/>
              <a:t> da </a:t>
            </a:r>
            <a:r>
              <a:rPr sz="1400" dirty="0" err="1"/>
              <a:t>tela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A Força dos Dados Oficiais: A API Pública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Por Que Usar a API do IBGE?</a:t>
            </a:r>
          </a:p>
          <a:p>
            <a:br/>
            <a:r>
              <a:t>Poderíamos ter inventado nomes em um arquivo fixo, mas a disciplina nos desafiou a trabalhar como desenvolvedores profissionais trabalham: consumindo dados reais de servidores públicos em tempo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16636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4800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38BDF8"/>
                </a:solidFill>
                <a:latin typeface="Consolas"/>
              </a:defRPr>
            </a:pPr>
            <a:r>
              <a:t>GET https://servicodados.ibge.gov.br/api/v1/localidades/estados/MA/municipios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t>Obtivemos com total precisão o Código Oficial do IBGE (ID de 7 dígitos), a Microrregião e a Mesorregião de Timbiras e cidades vizinhas da Região dos Cocais.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284C7"/>
                </a:solidFill>
                <a:latin typeface="Segoe UI"/>
              </a:defRPr>
            </a:pPr>
            <a:r>
              <a:t>Tratamento Humano dos Estados de Rede</a:t>
            </a:r>
          </a:p>
          <a:p>
            <a:br/>
            <a:r>
              <a:t>1. Momento da Espera (Loading):</a:t>
            </a:r>
            <a:br/>
            <a:r>
              <a:t> Em conexões 3G ou 4G comuns no interior, a requisição pode demorar. Exibimos um spinner amigável com a mensagem: 'Consultando base pública do IBGE...'</a:t>
            </a:r>
          </a:p>
          <a:p>
            <a:br/>
            <a:r>
              <a:t>2. Quando a Conexão Falha (Error):</a:t>
            </a:r>
            <a:br/>
            <a:r>
              <a:t> A vida real tem quedas de sinal. Em vez de tela branca ou travamento, exibimos um painel explicativo e o botão 'Recarregar API'.</a:t>
            </a:r>
          </a:p>
          <a:p>
            <a:br/>
            <a:r>
              <a:t>3. Quando os Dados Chegam (Success):</a:t>
            </a:r>
            <a:br/>
            <a:r>
              <a:t> Convertemos o JSON com response.json() e preenchemos 217 cidades, dando destaque a Timbiras, Codó, Coroatá, Caxias, Peritoró e Alto Alegre.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Do JSON ao Mapa: A Rota da Solidariedade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 &amp; LEAFLET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Código de Integração Assíncrona</a:t>
            </a:r>
          </a:p>
          <a:p>
            <a:br/>
            <a:r>
              <a:t>useEffect(() =&gt; {</a:t>
            </a:r>
            <a:br/>
            <a:r>
              <a:t>  const controlador = new AbortController();</a:t>
            </a:r>
            <a:br/>
            <a:br/>
            <a:r>
              <a:t>  fetch('https://servicodados.ibge.gov.br/.../municipios', {</a:t>
            </a:r>
            <a:br/>
            <a:r>
              <a:t>    signal: controlador.signal // Evita memory leak</a:t>
            </a:r>
            <a:br/>
            <a:r>
              <a:t>  })</a:t>
            </a:r>
            <a:br/>
            <a:r>
              <a:t>    .then(res =&gt; {</a:t>
            </a:r>
            <a:br/>
            <a:r>
              <a:t>      if (!res.ok) throw new Error('Falha na resposta');</a:t>
            </a:r>
            <a:br/>
            <a:r>
              <a:t>      return res.json(); // Converte fluxo em JSON</a:t>
            </a:r>
            <a:br/>
            <a:r>
              <a:t>    })</a:t>
            </a:r>
            <a:br/>
            <a:r>
              <a:t>    .then(dados =&gt; setMunicipiosIbge(dados))</a:t>
            </a:r>
            <a:br/>
            <a:r>
              <a:t>    .catch(err =&gt; {</a:t>
            </a:r>
            <a:br/>
            <a:r>
              <a:t>      if (err.name !== 'AbortError')</a:t>
            </a:r>
            <a:br/>
            <a:r>
              <a:t>        setErro('Sinal instável. Tente novamente.');</a:t>
            </a:r>
            <a:br/>
            <a:r>
              <a:t>    })</a:t>
            </a:r>
            <a:br/>
            <a:r>
              <a:t>    .finally(() =&gt; setCarregando(false));</a:t>
            </a:r>
            <a:br/>
            <a:br/>
            <a:r>
              <a:t>  return () =&gt; controlador.abort();</a:t>
            </a:r>
            <a:br/>
            <a:r>
              <a:t>}, []);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41732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O Voo da Esperança (mapa.flyTo)</a:t>
            </a:r>
          </a:p>
          <a:p>
            <a:br/>
            <a:r>
              <a:t>Usamos o hook useMemo para cruzar a lista oficial do IBGE com as coordenadas geográficas de cada cidade parceira. Ao clicar no card de Coroatá ou Codó, o mapa faz uma transição suave de câmera até a cidade, com marcador e detalhes da distância de Timbiras.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49039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3749039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393192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Segoe UI"/>
              </a:defRPr>
            </a:pPr>
            <a:r>
              <a:t>Busca Ampla por Qualquer Cidade</a:t>
            </a:r>
          </a:p>
          <a:p>
            <a:br/>
            <a:r>
              <a:t>Além das cidades dos Cocais, o usuário pode selecionar qualquer município do Maranhão no dropdown dinâmico para localizar e planejar novos polos de expansão solidária.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4. Organização com React: Componentes com Propósito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4. FRAMEWORK &amp;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57200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11480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00873E"/>
                </a:solidFill>
                <a:latin typeface="Segoe UI"/>
              </a:defRPr>
            </a:pPr>
            <a:r>
              <a:t>Árvore Modular de Componentes</a:t>
            </a:r>
          </a:p>
          <a:p>
            <a:br/>
            <a:r>
              <a:t>App.jsx (Orquestrador Global)</a:t>
            </a:r>
            <a:br/>
            <a:r>
              <a:t>├── Navbar.jsx (Menu &amp; Mobile Toggle)</a:t>
            </a:r>
            <a:br/>
            <a:r>
              <a:t>├── Hero.jsx (Banner &amp; Metas ao Vivo)</a:t>
            </a:r>
            <a:br/>
            <a:r>
              <a:t>├── ConsumoApi.jsx (IBGE &amp; Leaflet)</a:t>
            </a:r>
            <a:br/>
            <a:r>
              <a:t>├── SobreCompleto.jsx (História)</a:t>
            </a:r>
            <a:br/>
            <a:r>
              <a:t>├── ComoFunciona.jsx (4 Passos)</a:t>
            </a:r>
            <a:br/>
            <a:r>
              <a:t>├── Fluxo.jsx (Percurso do Alimento)</a:t>
            </a:r>
            <a:br/>
            <a:r>
              <a:t>├── PrestacaoContas.jsx (Bairros)</a:t>
            </a:r>
            <a:br/>
            <a:r>
              <a:t>├── Doar.jsx (Chips, PIX &amp; Recibo)</a:t>
            </a:r>
            <a:br/>
            <a:r>
              <a:t>├── PlayerAudio.jsx (Trilha Sonora)</a:t>
            </a:r>
            <a:br/>
            <a:r>
              <a:t>├── Contato.jsx (Ouvidoria Local)</a:t>
            </a:r>
            <a:br/>
            <a:r>
              <a:t>└── Footer.jsx (Créditos &amp; Links)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234440"/>
            <a:ext cx="583661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23560" y="1234440"/>
            <a:ext cx="73152" cy="2011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97880" y="1371600"/>
            <a:ext cx="53035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Sem Aquele 'Piscar Branco' do Navegador</a:t>
            </a:r>
          </a:p>
          <a:p>
            <a:br/>
            <a:r>
              <a:t>Como uma Single Page Application (SPA), a navegação ocorre por rolagem suave (smooth scroll), mantendo a música tocando sem cortes e os dados preenchidos no formulário preservados.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3474720"/>
            <a:ext cx="5836615" cy="2560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7880" y="3611880"/>
            <a:ext cx="530352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Hooks do React que Deram Vida à Aplicação: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useState:  Guarda o total arrecadado, filtro de bairros e menu aberto;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useEffect:  Busca dados no IBGE e escuta eventos de clique para o som;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useRef:  Controla a tag HTML5 audio sem re-renderizar a tela inteira;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t>• localStorage:  Preserva as doações mesmo fechando o navegador.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Testando na Prática: Desafios e Correções Reais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TESTES &amp;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Que Deu Errado e Como Consertamos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89280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1. O Desafio do Menu no Celular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Nos primeiros testes em telas pequenas, os botões quebravam e ocupavam metade da tela. Criamos um menu hambúrguer com estado React que se recolhe perfeitamente.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333756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2. O Dado da API Visível na Tela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Inicialmente fazíamos a busca no IBGE apenas para validar nomes internamente. O professor pontuou que o dado precisava ser visual. Criamos os cards com código IBGE de 7 dígitos e microrregião.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4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489204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00176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3. Aviso de Renderização em Cascata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O linter acusava risco com setState síncrono no efeito inicial. Reorganizamos a montagem dos componentes deixando o fluxo limpo.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Bateria de Testes Executados</a:t>
            </a:r>
          </a:p>
          <a:p>
            <a:br/>
            <a:r>
              <a:t>• Build de Produção com Vite: Compilado em menos de 800ms, gerando código minificado e assets otimizados na pasta dist/.</a:t>
            </a:r>
          </a:p>
          <a:p>
            <a:br/>
            <a:r>
              <a:t>• Análise Estática com Oxlint: Zero erros de sintaxe, zero alertas de React e conformidade estrita com padrões modernos de código.</a:t>
            </a:r>
          </a:p>
          <a:p>
            <a:br/>
            <a:r>
              <a:t>• Teste de Formulários em Branco: O navegador bloqueia submissão vazia e orienta o usuário de forma amigável.</a:t>
            </a:r>
          </a:p>
          <a:p>
            <a:br/>
            <a:r>
              <a:t>• Teste em Celulares Reais: Testamos botões de toque, teclado numérico e rolagem suave em dispositivos Android e iOS dos membros da equipe.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A Aplicação no Ar: Acesso Livre e Transparente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PUBLICAÇÃO &amp; HOSPEDAGEM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O projeto não ficou preso em um computador local: está publicado na internet com certificado de segurança HTTPS e integração contínua a cada alteração da equipe.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873E"/>
                </a:solidFill>
                <a:latin typeface="Segoe UI"/>
              </a:defRPr>
            </a:pPr>
            <a:r>
              <a:t>Código-Fonte no GitHub</a:t>
            </a:r>
          </a:p>
          <a:p>
            <a:br/>
            <a:r>
              <a:t>Histórico completo de versões, commits explicativos da equipe, componentes React e instruções de execução.</a:t>
            </a:r>
          </a:p>
          <a:p>
            <a:br/>
            <a:r>
              <a:t>https://github.com/ambersonrogers/timbiras-solidaria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9535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22415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  <a:latin typeface="Segoe UI"/>
              </a:defRPr>
            </a:pPr>
            <a:r>
              <a:t>Aplicação no Ar (Vercel)</a:t>
            </a:r>
          </a:p>
          <a:p>
            <a:br/>
            <a:r>
              <a:t>Deploy em nuvem de alta velocidade, com roteamento de SPA configurado via vercel.json e acesso mundial.</a:t>
            </a:r>
          </a:p>
          <a:p>
            <a:br/>
            <a:r>
              <a:t>https://timbiras-solidaria.vercel.app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5623560"/>
            <a:ext cx="9814255" cy="457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5687568"/>
            <a:ext cx="9448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Ambos os links foram testados em abas anônimas e diferentes redes para garantir acesso irrestrito do professor.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Tela Inicial &amp; API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10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200" b="1">
                <a:solidFill>
                  <a:srgbClr val="00873E"/>
                </a:solidFill>
                <a:latin typeface="Segoe UI"/>
              </a:defRPr>
            </a:pPr>
            <a:r>
              <a:t>1. Tela Inicial &amp; Painel de Metas Comunitárias</a:t>
            </a:r>
          </a:p>
        </p:txBody>
      </p:sp>
      <p:pic>
        <p:nvPicPr>
          <p:cNvPr id="10" name="Picture 9" descr="captura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750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Destaque para o acolhimento visual, foto real da agricultura familiar, contador reativo de 12 cestas e barra de progresso da meta comunitária.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Rota Solidária &amp; Dados Oficiais do IBGE</a:t>
            </a:r>
          </a:p>
        </p:txBody>
      </p:sp>
      <p:pic>
        <p:nvPicPr>
          <p:cNvPr id="14" name="Picture 13" descr="captura_api_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27504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Cards gerados diretamente do JSON da API pública do IBGE, exibindo código oficial de 7 dígitos (ex: Timbiras 2112307, Codó 2103307), microrregião e mapa interativo Leaflet.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Formulário, PIX &amp; Prestação de Contas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11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Segoe UI"/>
              </a:defRPr>
            </a:pPr>
            <a:r>
              <a:t>3. Formulário de Doação &amp; Cópia do PIX</a:t>
            </a:r>
          </a:p>
        </p:txBody>
      </p:sp>
      <p:pic>
        <p:nvPicPr>
          <p:cNvPr id="10" name="Picture 9" descr="captura_do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750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Seleção facilitada por chips ('1 Cesta', '2 Cestas', '5 Cestas'), chave PIX com botão de cópia instantânea e formulário completo com validação nativa.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873E"/>
                </a:solidFill>
                <a:latin typeface="Segoe UI"/>
              </a:defRPr>
            </a:pPr>
            <a:r>
              <a:t>4. Transparência por Bairro e Zona Rural</a:t>
            </a:r>
          </a:p>
        </p:txBody>
      </p:sp>
      <p:pic>
        <p:nvPicPr>
          <p:cNvPr id="14" name="Picture 13" descr="captura_prestacao_co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27504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Busca instantânea por bairros (Mutirão, Centro, Olaria, etc.), destaque para a Zona Rural (35 cestas) e somatório oficial transparente (215 cestas entregues).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Adaptação em Telas Mobile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RESPONSIVIDADE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29184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Menu Hambúrguer Aberto</a:t>
            </a:r>
          </a:p>
        </p:txBody>
      </p:sp>
      <p:pic>
        <p:nvPicPr>
          <p:cNvPr id="10" name="Picture 9" descr="captura_mobile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91640"/>
            <a:ext cx="1774629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235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Smartphone (390x844px)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234440"/>
            <a:ext cx="7162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600" b="1">
                <a:solidFill>
                  <a:srgbClr val="00873E"/>
                </a:solidFill>
                <a:latin typeface="Segoe UI"/>
              </a:defRPr>
            </a:pPr>
            <a:r>
              <a:t>Pensado para a Realidade de Quem Acessa pelo Celular</a:t>
            </a:r>
          </a:p>
          <a:p>
            <a:pPr algn="just">
              <a:defRPr sz="1150">
                <a:solidFill>
                  <a:srgbClr val="64748B"/>
                </a:solidFill>
                <a:latin typeface="Segoe UI"/>
              </a:defRPr>
            </a:pPr>
            <a:r>
              <a:t>No Maranhão, a grande maioria acessa a internet exclusivamente pelo smartphone. Por isso, a adaptação mobile foi prioridade técnica e humana: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0312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210312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217627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Menu Retrátil Acessível: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O botão hambúrguer é fácil de tocar com o polegar, não polui a visão inicial e recolhe sozinho assim que o usuário clica na seção.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06324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80" y="313639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Cards em Coluna Única: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Os 13 bairros e os municípios do IBGE se reorganizam automaticamente em cascata vertical, sem barra de rolagem horizontal quebrada.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02336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402336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26280" y="409651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Player Compacto: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A trilha sonora fica ancorada no canto inferior direito sem atrapalhar a leitura dos formulários.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98348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498348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505663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Teclado Numérico Otimizado: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Campos de quantidade e valores abrem automaticamente o teclado numérico nativo do celular.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6. Conclusão: O Que Aprendemos na Pele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6. APRENDIZADOS &amp; ABNT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3716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B45309"/>
                </a:solidFill>
                <a:latin typeface="Segoe UI"/>
              </a:defRPr>
            </a:pPr>
            <a:r>
              <a:t>Tecnologia Feita por Pessoas, Para Pessoas:</a:t>
            </a:r>
          </a:p>
          <a:p>
            <a:br/>
            <a:r>
              <a:t>Aprendemos que um framework moderno como o React ou uma API do governo só têm valor quando resolvem um problema humano real. O código ganha vida quando serve para combater a fome e valorizar a nossa terra.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0873E"/>
                </a:solidFill>
                <a:latin typeface="Segoe UI"/>
              </a:defRPr>
            </a:pPr>
            <a:r>
              <a:t>Prontos para a Nota 3:</a:t>
            </a:r>
          </a:p>
          <a:p>
            <a:br/>
            <a:r>
              <a:t>A equipe conclui esta etapa com o sistema no ar, dados reais integrados e muito orgulho do que construímos. Estamos preparados e entusiasmados para a apresentação presencial no polo de Timbiras!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Referências Bibliográficas (Normas ABNT)</a:t>
            </a:r>
          </a:p>
          <a:p>
            <a:br/>
            <a:r>
              <a:t>• BRASIL. Instituto Brasileiro de Geografia e Estatística (IBGE). API de Serviços de Dados: Localidades. Rio de Janeiro: IBGE, 2026. Disponível em: &lt;https://servicodados.ibge.gov.br/api/docs/localidades&gt;. Acesso em: 17 set. 2026.</a:t>
            </a:r>
          </a:p>
          <a:p>
            <a:br/>
            <a:r>
              <a:t>• LENNON, John. Imagine. In: Imagine. Produção: John Lennon, Yoko Ono, Phil Spector. Ascot Sound Studios: Apple Records, 1971. 1 faixa musical (3 min 3 s). Uso pedagógico e cultural.</a:t>
            </a:r>
          </a:p>
          <a:p>
            <a:br/>
            <a:r>
              <a:t>• MDN WEB DOCS. Fetch API. Mozilla Developer Network, 2026. Disponível em: &lt;https://developer.mozilla.org/pt-BR/docs/Web/API/Fetch_API&gt;. Acesso em: 17 set. 2026.</a:t>
            </a:r>
          </a:p>
          <a:p>
            <a:br/>
            <a:r>
              <a:t>• ORGANIZAÇÃO DAS NAÇÕES UNIDAS (ONU). Objetivo de Desenvolvimento Sustentável 2: Fome Zero e Agricultura Sustentável. Brasília: Nações Unidas Brasil, 2015. Disponível em: &lt;https://brasil.un.org/pt-br/sdgs/2&gt;. Acesso em: 17 set. 2026.</a:t>
            </a:r>
          </a:p>
          <a:p>
            <a:br/>
            <a:r>
              <a:t>• REACT. React — A JavaScript library for building user interfaces. Versão 19. Meta Open Source, 2026. Disponível em: &lt;https://react.dev/&gt;. Acesso em: 17 set. 2026.</a:t>
            </a:r>
          </a:p>
          <a:p>
            <a:br/>
            <a:r>
              <a:t>• VITE. Next Generation Frontend Tooling. Evan You &amp; Vite Team, 2026. Disponível em: &lt;https://vitejs.dev/&gt;. Acesso em: 17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2824</Words>
  <Application>Microsoft Office PowerPoint</Application>
  <PresentationFormat>Widescreen</PresentationFormat>
  <Paragraphs>174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Amberson Rogers Lindoso da Silva</cp:lastModifiedBy>
  <cp:revision>1</cp:revision>
  <dcterms:created xsi:type="dcterms:W3CDTF">2013-01-27T09:14:16Z</dcterms:created>
  <dcterms:modified xsi:type="dcterms:W3CDTF">2026-09-18T01:51:01Z</dcterms:modified>
  <cp:category/>
</cp:coreProperties>
</file>