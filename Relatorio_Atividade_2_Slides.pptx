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2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731520"/>
            <a:ext cx="9448495" cy="457200"/>
          </a:xfrm>
          <a:prstGeom prst="roundRect">
            <a:avLst/>
          </a:prstGeom>
          <a:solidFill>
            <a:srgbClr val="0F3D24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10B981"/>
                </a:solidFill>
                <a:latin typeface="Arial"/>
              </a:defRPr>
            </a:pPr>
            <a:r>
              <a:t>UNIVERSIDADE ESTADUAL DO MARANHÃO — UEMA | POLO DE TIMBIRAS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280160"/>
            <a:ext cx="94484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CBD5E1"/>
                </a:solidFill>
                <a:latin typeface="Arial"/>
              </a:defRPr>
            </a:pPr>
            <a:r>
              <a:t>CST em Análise e Desenvolvimento de Sistemas | Disciplina: Desenvolvimento Web | Nota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920240"/>
            <a:ext cx="94484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0B981"/>
                </a:solidFill>
                <a:latin typeface="Arial"/>
              </a:defRPr>
            </a:pPr>
            <a:r>
              <a:t>Timbiras Solidária 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291840"/>
            <a:ext cx="94484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FFFFFF"/>
                </a:solidFill>
                <a:latin typeface="Arial"/>
              </a:defRPr>
            </a:pPr>
            <a:r>
              <a:t>Como a tecnologia web pode encurtar distâncias, combater a fome e unir uma comunidade inteira em torno do ODS 2 da ONU.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4572000"/>
            <a:ext cx="9448495" cy="1463040"/>
          </a:xfrm>
          <a:prstGeom prst="roundRect">
            <a:avLst/>
          </a:prstGeom>
          <a:solidFill>
            <a:srgbClr val="0C321D"/>
          </a:solidFill>
          <a:ln>
            <a:solidFill>
              <a:srgbClr val="145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0B981"/>
                </a:solidFill>
                <a:latin typeface="Arial"/>
              </a:defRPr>
            </a:pPr>
            <a:r>
              <a:t>EQUIPE TIMBIRANOS:</a:t>
            </a:r>
          </a:p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Amberson Lindoso  •  Kelly Sousa  •  Jhony Fernandes  •  Weldes Reis</a:t>
            </a:r>
          </a:p>
          <a:p>
            <a:pPr algn="ctr">
              <a:defRPr sz="1200">
                <a:solidFill>
                  <a:srgbClr val="CBD5E1"/>
                </a:solidFill>
                <a:latin typeface="Arial"/>
              </a:defRPr>
            </a:pPr>
            <a:r>
              <a:t>Polo Universitário de Timbiras — Maranhão |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686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873E"/>
                </a:solidFill>
                <a:latin typeface="Arial"/>
              </a:defRPr>
            </a:pPr>
            <a:r>
              <a:t>1. Nossa Terra, Nossa Gente: Por Que Timbiras?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411480"/>
            <a:ext cx="2286000" cy="365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64748B"/>
                </a:solidFill>
                <a:latin typeface="Arial"/>
              </a:defRPr>
            </a:pPr>
            <a:r>
              <a:t>1. Introdução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263640"/>
            <a:ext cx="1109441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Timbiras Solidária — ADS UEMA 2026 | Polo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327648"/>
            <a:ext cx="24990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Arial"/>
              </a:defRPr>
            </a:pPr>
            <a:r>
              <a:t>Slide 2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6217920" cy="45720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defRPr sz="1600" b="1">
                <a:solidFill>
                  <a:srgbClr val="00873E"/>
                </a:solidFill>
                <a:latin typeface="Arial"/>
              </a:defRPr>
            </a:pPr>
            <a:r>
              <a:t>A fome não é um número abstrato: ela tem nome, endereço e rosto.</a:t>
            </a:r>
          </a:p>
          <a:p>
            <a:br/>
            <a:pPr>
              <a:defRPr sz="1300">
                <a:solidFill>
                  <a:srgbClr val="1E293B"/>
                </a:solidFill>
                <a:latin typeface="Arial"/>
              </a:defRPr>
            </a:pPr>
            <a:r>
              <a:t>Timbiras é uma cidade acolhedora, forte e trabalhadora, banhada pelas águas do Rio Itapecuru. Mas, como tantas cidades do interior do Maranhão, muitas famílias de bairros como Forquilha, Mutirão, Alto Fogoso, Olaria e de povoados rurais distantes enfrentam dias difíceis para garantir o básico na mesa.</a:t>
            </a:r>
          </a:p>
          <a:p>
            <a:br/>
            <a:pPr>
              <a:defRPr sz="1400" b="1">
                <a:solidFill>
                  <a:srgbClr val="00873E"/>
                </a:solidFill>
                <a:latin typeface="Arial"/>
              </a:defRPr>
            </a:pPr>
            <a:r>
              <a:t>O Encontro de Duas Realidades:</a:t>
            </a:r>
          </a:p>
          <a:p>
            <a:pPr>
              <a:defRPr sz="1300">
                <a:solidFill>
                  <a:srgbClr val="1E293B"/>
                </a:solidFill>
                <a:latin typeface="Arial"/>
              </a:defRPr>
            </a:pPr>
            <a:r>
              <a:t>De um lado, pequenos produtores rurais e comerciantes com vontade de ajudar e excedentes de produção. Do outro, famílias precisando de amparo imediato. O projeto Timbiras Solidária nasceu para ser a ponte digital entre a generosidade de quem pode doar e a dignidade de quem precisa receber.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0" y="1371600"/>
            <a:ext cx="4572000" cy="4572000"/>
          </a:xfrm>
          <a:prstGeom prst="roundRect">
            <a:avLst/>
          </a:prstGeom>
          <a:solidFill>
            <a:srgbClr val="F0FDF4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defRPr sz="1600" b="1">
                <a:solidFill>
                  <a:srgbClr val="00873E"/>
                </a:solidFill>
                <a:latin typeface="Arial"/>
              </a:defRPr>
            </a:pPr>
            <a:r>
              <a:t>Compromisso Real com o ODS 2 da ONU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Fome Zero e Agricultura Sustentável: foco na mobilização comunitária com valorização do agricultor familiar local.</a:t>
            </a:r>
            <a:br/>
          </a:p>
          <a:p>
            <a:pPr>
              <a:defRPr sz="1400" b="1">
                <a:solidFill>
                  <a:srgbClr val="00873E"/>
                </a:solidFill>
                <a:latin typeface="Arial"/>
              </a:defRPr>
            </a:pPr>
            <a:r>
              <a:t>Público-Alvo que Abraçamos: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Cidadãos comuns: Que desejam doar 1 cesta ou 1 kg de alimento;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Comércio e feirantes: Que exercem cidadania e responsabilidade social;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Agricultura familiar: Que abastece a cidade com alimentos frescos;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Poder público e voluntários: Para transparência e distribuição ágil.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686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873E"/>
                </a:solidFill>
                <a:latin typeface="Arial"/>
              </a:defRPr>
            </a:pPr>
            <a:r>
              <a:t>2. Do Cartaz Estático à Aplicação Viva e Dinâmica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411480"/>
            <a:ext cx="2286000" cy="365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64748B"/>
                </a:solidFill>
                <a:latin typeface="Arial"/>
              </a:defRPr>
            </a:pPr>
            <a:r>
              <a:t>2. Desenvolvimento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263640"/>
            <a:ext cx="1109441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Timbiras Solidária — ADS UEMA 2026 | Polo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327648"/>
            <a:ext cx="24990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Arial"/>
              </a:defRPr>
            </a:pPr>
            <a:r>
              <a:t>Slide 3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394960" cy="45720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defRPr sz="1600" b="1">
                <a:solidFill>
                  <a:srgbClr val="00873E"/>
                </a:solidFill>
                <a:latin typeface="Arial"/>
              </a:defRPr>
            </a:pPr>
            <a:r>
              <a:t>O Salto da Primeira para a Segunda Etapa</a:t>
            </a:r>
          </a:p>
          <a:p>
            <a:br/>
            <a:pPr>
              <a:defRPr sz="1300">
                <a:solidFill>
                  <a:srgbClr val="1E293B"/>
                </a:solidFill>
                <a:latin typeface="Arial"/>
              </a:defRPr>
            </a:pPr>
            <a:r>
              <a:t>Na Nota 1, criamos uma interface estática em HTML5, CSS3 e Bootstrap. Era organizada e responsiva, mas funcionava como um panfleto digital: passiva e sem diálogo direto com quem acessava.</a:t>
            </a:r>
          </a:p>
          <a:p>
            <a:br/>
            <a:pPr>
              <a:defRPr sz="1300">
                <a:solidFill>
                  <a:srgbClr val="1E293B"/>
                </a:solidFill>
                <a:latin typeface="Arial"/>
              </a:defRPr>
            </a:pPr>
            <a:r>
              <a:t>Na Nota 2, nossa missão foi dar vida e coração a esse projeto. Uma causa comunitária precisa de calor humano, resposta imediata e acolhimento.</a:t>
            </a:r>
          </a:p>
          <a:p>
            <a:br/>
            <a:pPr>
              <a:defRPr sz="1300">
                <a:solidFill>
                  <a:srgbClr val="1E293B"/>
                </a:solidFill>
                <a:latin typeface="Arial"/>
              </a:defRPr>
            </a:pPr>
            <a:r>
              <a:t>Adotamos o React 19 para que cada elemento na tela reaja instantaneamente aos sentimentos e intenções do usuário, sem scripts soltos ou telas quebradas.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394960" cy="4572000"/>
          </a:xfrm>
          <a:prstGeom prst="roundRect">
            <a:avLst/>
          </a:prstGeom>
          <a:solidFill>
            <a:srgbClr val="FEFCE8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defRPr sz="1600" b="1">
                <a:solidFill>
                  <a:srgbClr val="B45309"/>
                </a:solidFill>
                <a:latin typeface="Arial"/>
              </a:defRPr>
            </a:pPr>
            <a:r>
              <a:t>O Que Mudou na Experiência de Quem Usa</a:t>
            </a:r>
          </a:p>
          <a:p>
            <a:br/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Retorno Imediato: Ao enviar uma doação, a meta comunitária sobe na mesma hora no topo do site e um Recibo Solidário com código exclusivo surge na tela.</a:t>
            </a:r>
          </a:p>
          <a:p>
            <a:br/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Menos Esforço para Fazer o Bem: Botões de clique rápido ('1 Cesta', '2 Cestas', '5 Cestas') evitam digitação demorada no celular.</a:t>
            </a:r>
          </a:p>
          <a:p>
            <a:br/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Chave PIX com 1 Toque: Cópia instantânea da chave institucional com aviso de confirmação na tela.</a:t>
            </a:r>
          </a:p>
          <a:p>
            <a:br/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Trilha Sonora Acolhedora: Player com a canção 'Imagine', que respeita o usuário e pode ser pausado, mutado ou recolhido a qualquer momento.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686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873E"/>
                </a:solidFill>
                <a:latin typeface="Arial"/>
              </a:defRPr>
            </a:pPr>
            <a:r>
              <a:t>2. Interatividade com Respeito ao Usuário: DOM &amp; Eventos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411480"/>
            <a:ext cx="2286000" cy="365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64748B"/>
                </a:solidFill>
                <a:latin typeface="Arial"/>
              </a:defRPr>
            </a:pPr>
            <a:r>
              <a:t>2. Desenvolvimento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263640"/>
            <a:ext cx="1109441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Timbiras Solidária — ADS UEMA 2026 | Polo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327648"/>
            <a:ext cx="24990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Arial"/>
              </a:defRPr>
            </a:pPr>
            <a:r>
              <a:t>Slide 4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394960" cy="45720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defRPr sz="1600" b="1">
                <a:solidFill>
                  <a:srgbClr val="00873E"/>
                </a:solidFill>
                <a:latin typeface="Arial"/>
              </a:defRPr>
            </a:pPr>
            <a:r>
              <a:t>Os Sentidos da Aplicação (Eventos JavaScript)</a:t>
            </a:r>
          </a:p>
          <a:p>
            <a:br/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onSubmit (Doar.jsx): Interrompe o recarregamento brusco da página, confere se os campos estão corretos, grava no localStorage e avisa que a ajuda está a caminho.</a:t>
            </a:r>
          </a:p>
          <a:p>
            <a:br/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onChange (PrestacaoContas.jsx): Filtra os bairros de Timbiras enquanto o morador digita, com busca inteligente sem travar.</a:t>
            </a:r>
          </a:p>
          <a:p>
            <a:br/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onClick na Navbar: Menu hambúrguer no celular que abre suavemente e fecha sozinho ao tocar em qualquer link.</a:t>
            </a:r>
          </a:p>
          <a:p>
            <a:br/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Clipboard API: Cópia suave da chave PIX sem selecionar texto.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394960" cy="4572000"/>
          </a:xfrm>
          <a:prstGeom prst="roundRect">
            <a:avLst/>
          </a:prstGeom>
          <a:solidFill>
            <a:srgbClr val="F0FDF4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defRPr sz="1600" b="1">
                <a:solidFill>
                  <a:srgbClr val="00873E"/>
                </a:solidFill>
                <a:latin typeface="Arial"/>
              </a:defRPr>
            </a:pPr>
            <a:r>
              <a:t>A Música que Conecta Gerações (Imagine — John Lennon, 1971)</a:t>
            </a:r>
          </a:p>
          <a:p>
            <a:br/>
            <a:pPr>
              <a:defRPr sz="1300">
                <a:solidFill>
                  <a:srgbClr val="1E293B"/>
                </a:solidFill>
                <a:latin typeface="Arial"/>
              </a:defRPr>
            </a:pPr>
            <a:r>
              <a:t>Nenhum projeto comunitário vive só de botões; ele vive de sentimento. O componente PlayerAudio.jsx traz a clássica canção 'Imagine' de John Lennon (1971) como trilha sonora de paz e união, executada para fins pedagógicos e culturais.</a:t>
            </a:r>
          </a:p>
          <a:p>
            <a:br/>
            <a:pPr>
              <a:defRPr sz="1400" b="1">
                <a:solidFill>
                  <a:srgbClr val="00873E"/>
                </a:solidFill>
                <a:latin typeface="Arial"/>
              </a:defRPr>
            </a:pPr>
            <a:r>
              <a:t>Tratamento Cuidadoso de Áudio: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Respeito à política de autoplay: A música não assusta o usuário; ela inicia suavemente apenas quando há interação voluntária do visitante com a página.</a:t>
            </a:r>
            <a:br/>
            <a:r>
              <a:t>• Controles completos: Controle deslizante de volume, botão mudo, equalizador com barras animadas em CSS e botão para minimizar o tocador para o canto da tela.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686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873E"/>
                </a:solidFill>
                <a:latin typeface="Arial"/>
              </a:defRPr>
            </a:pPr>
            <a:r>
              <a:t>3. A Força dos Dados Oficiais: A API Pública do IBGE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411480"/>
            <a:ext cx="2286000" cy="365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64748B"/>
                </a:solidFill>
                <a:latin typeface="Arial"/>
              </a:defRPr>
            </a:pPr>
            <a:r>
              <a:t>3. Consumo de 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263640"/>
            <a:ext cx="1109441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Timbiras Solidária — ADS UEMA 2026 | Polo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327648"/>
            <a:ext cx="24990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Arial"/>
              </a:defRPr>
            </a:pPr>
            <a:r>
              <a:t>Slide 5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394960" cy="45720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defRPr sz="1600" b="1">
                <a:solidFill>
                  <a:srgbClr val="00873E"/>
                </a:solidFill>
                <a:latin typeface="Arial"/>
              </a:defRPr>
            </a:pPr>
            <a:r>
              <a:t>Por Que Usar a API do IBGE?</a:t>
            </a:r>
          </a:p>
          <a:p>
            <a:br/>
            <a:pPr>
              <a:defRPr sz="1300">
                <a:solidFill>
                  <a:srgbClr val="1E293B"/>
                </a:solidFill>
                <a:latin typeface="Arial"/>
              </a:defRPr>
            </a:pPr>
            <a:r>
              <a:t>Poderíamos ter inventado nomes em um arquivo fixo, mas a disciplina nos desafiou a trabalhar como profissionais da web trabalham: consumindo dados reais de servidores públicos em tempo real.</a:t>
            </a:r>
          </a:p>
          <a:p>
            <a:br/>
            <a:pPr>
              <a:defRPr sz="1300" b="1">
                <a:solidFill>
                  <a:srgbClr val="0284C7"/>
                </a:solidFill>
                <a:latin typeface="Arial"/>
              </a:defRPr>
            </a:pPr>
            <a:r>
              <a:t>Endpoint Oficial Consultado:</a:t>
            </a:r>
          </a:p>
          <a:p>
            <a:pPr>
              <a:defRPr sz="1100" b="1">
                <a:solidFill>
                  <a:srgbClr val="0284C7"/>
                </a:solidFill>
                <a:latin typeface="Courier New"/>
              </a:defRPr>
            </a:pPr>
            <a:r>
              <a:t>https://servicodados.ibge.gov.br/api/v1/localidades/estados/MA/municipios</a:t>
            </a:r>
          </a:p>
          <a:p>
            <a:br/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Obtivemos com precisão o Código Oficial do IBGE (ID de 7 dígitos), a Microrregião e a Mesorregião de Timbiras e cidades parceiras da Região dos Cocais.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394960" cy="4572000"/>
          </a:xfrm>
          <a:prstGeom prst="roundRect">
            <a:avLst/>
          </a:prstGeom>
          <a:solidFill>
            <a:srgbClr val="F0F9FF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defRPr sz="1600" b="1">
                <a:solidFill>
                  <a:srgbClr val="0284C7"/>
                </a:solidFill>
                <a:latin typeface="Arial"/>
              </a:defRPr>
            </a:pPr>
            <a:r>
              <a:t>Tratamento Humano dos Estados de Rede</a:t>
            </a:r>
          </a:p>
          <a:p>
            <a:br/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1. Momento da Espera (Loading):</a:t>
            </a:r>
            <a:br/>
            <a:r>
              <a:t> Em conexões 3G ou 4G do interior, a resposta pode demorar. Exibimos um spinner amigável com a mensagem: 'Consultando base pública do IBGE...'</a:t>
            </a:r>
          </a:p>
          <a:p>
            <a:br/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2. Quando a Conexão Falha (Error):</a:t>
            </a:r>
            <a:br/>
            <a:r>
              <a:t> A vida real tem quedas de sinal. Em vez de tela branca ou quebra do sistema, exibimos um aviso explicativo e o botão 'Recarregar API'.</a:t>
            </a:r>
          </a:p>
          <a:p>
            <a:br/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3. Quando os Dados Chegam (Success):</a:t>
            </a:r>
            <a:br/>
            <a:r>
              <a:t> Convertemos o JSON com response.json() e preenchemos 217 cidades, dando destaque a Timbiras, Codó, Coroatá, Caxias, Peritoró e Alto Alegre.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686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873E"/>
                </a:solidFill>
                <a:latin typeface="Arial"/>
              </a:defRPr>
            </a:pPr>
            <a:r>
              <a:t>3. Do JSON ao Mapa: A Rota da Solidariedade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411480"/>
            <a:ext cx="2286000" cy="365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64748B"/>
                </a:solidFill>
                <a:latin typeface="Arial"/>
              </a:defRPr>
            </a:pPr>
            <a:r>
              <a:t>3. Consumo de API &amp; Leaflet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263640"/>
            <a:ext cx="1109441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Timbiras Solidária — ADS UEMA 2026 | Polo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327648"/>
            <a:ext cx="24990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Arial"/>
              </a:defRPr>
            </a:pPr>
            <a:r>
              <a:t>Slide 6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394960" cy="4572000"/>
          </a:xfrm>
          <a:prstGeom prst="roundRect">
            <a:avLst/>
          </a:prstGeom>
          <a:solidFill>
            <a:srgbClr val="0F172A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defRPr sz="1600" b="1">
                <a:solidFill>
                  <a:srgbClr val="38BDF8"/>
                </a:solidFill>
                <a:latin typeface="Arial"/>
              </a:defRPr>
            </a:pPr>
            <a:r>
              <a:t>Código de Integração Assíncrona</a:t>
            </a:r>
          </a:p>
          <a:p>
            <a:br/>
            <a:pPr>
              <a:defRPr sz="1100">
                <a:solidFill>
                  <a:srgbClr val="E2E8F0"/>
                </a:solidFill>
                <a:latin typeface="Courier New"/>
              </a:defRPr>
            </a:pPr>
            <a:r>
              <a:t>useEffect(() =&gt; {</a:t>
            </a:r>
            <a:br/>
            <a:r>
              <a:t>  const controlador = new AbortController();</a:t>
            </a:r>
            <a:br/>
            <a:br/>
            <a:r>
              <a:t>  fetch('https://servicodados.ibge.gov.br/.../municipios', {</a:t>
            </a:r>
            <a:br/>
            <a:r>
              <a:t>    signal: controlador.signal // Previne memory leak</a:t>
            </a:r>
            <a:br/>
            <a:r>
              <a:t>  })</a:t>
            </a:r>
            <a:br/>
            <a:r>
              <a:t>    .then(res =&gt; {</a:t>
            </a:r>
            <a:br/>
            <a:r>
              <a:t>      if (!res.ok) throw new Error('Falha na API');</a:t>
            </a:r>
            <a:br/>
            <a:r>
              <a:t>      return res.json(); // Converte fluxo em JSON</a:t>
            </a:r>
            <a:br/>
            <a:r>
              <a:t>    })</a:t>
            </a:r>
            <a:br/>
            <a:r>
              <a:t>    .then(dados =&gt; setMunicipiosIbge(dados))</a:t>
            </a:r>
            <a:br/>
            <a:r>
              <a:t>    .catch(err =&gt; {</a:t>
            </a:r>
            <a:br/>
            <a:r>
              <a:t>      if (err.name !== 'AbortError')</a:t>
            </a:r>
            <a:br/>
            <a:r>
              <a:t>        setErro('Sinal instável. Tente novamente.');</a:t>
            </a:r>
            <a:br/>
            <a:r>
              <a:t>    })</a:t>
            </a:r>
            <a:br/>
            <a:r>
              <a:t>    .finally(() =&gt; setCarregando(false));</a:t>
            </a:r>
            <a:br/>
            <a:br/>
            <a:r>
              <a:t>  return () =&gt; controlador.abort();</a:t>
            </a:r>
            <a:br/>
            <a:r>
              <a:t>}, []);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394960" cy="4572000"/>
          </a:xfrm>
          <a:prstGeom prst="roundRect">
            <a:avLst/>
          </a:prstGeom>
          <a:solidFill>
            <a:srgbClr val="F0FDF4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defRPr sz="1600" b="1">
                <a:solidFill>
                  <a:srgbClr val="00873E"/>
                </a:solidFill>
                <a:latin typeface="Arial"/>
              </a:defRPr>
            </a:pPr>
            <a:r>
              <a:t>Cruzando Dados do IBGE com o Mapa Leaflet</a:t>
            </a:r>
          </a:p>
          <a:p>
            <a:br/>
            <a:pPr>
              <a:defRPr sz="1400" b="1">
                <a:solidFill>
                  <a:srgbClr val="00873E"/>
                </a:solidFill>
                <a:latin typeface="Arial"/>
              </a:defRPr>
            </a:pPr>
            <a:r>
              <a:t>O Voo da Esperança (mapa.flyTo):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Usamos o hook useMemo para cruzar a lista oficial do IBGE com as coordenadas geográficas de cada cidade parceira. Quando o morador clica no card de Coroatá ou Codó, o mapa faz uma transição suave de câmera até a cidade, com marcador e detalhes da distância rodoviária até Timbiras.</a:t>
            </a:r>
          </a:p>
          <a:p>
            <a:br/>
            <a:pPr>
              <a:defRPr sz="1400" b="1">
                <a:solidFill>
                  <a:srgbClr val="00873E"/>
                </a:solidFill>
                <a:latin typeface="Arial"/>
              </a:defRPr>
            </a:pPr>
            <a:r>
              <a:t>Busca Ampla por Qualquer Cidade: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Além das cidades dos Cocais, o usuário pode selecionar qualquer município do Maranhão no dropdown dinâmico para planejar novos polos solidários.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686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873E"/>
                </a:solidFill>
                <a:latin typeface="Arial"/>
              </a:defRPr>
            </a:pPr>
            <a:r>
              <a:t>4. Organização com React: Componentes com Propósito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411480"/>
            <a:ext cx="2286000" cy="365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64748B"/>
                </a:solidFill>
                <a:latin typeface="Arial"/>
              </a:defRPr>
            </a:pPr>
            <a:r>
              <a:t>4. Framework &amp; SPA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263640"/>
            <a:ext cx="1109441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Timbiras Solidária — ADS UEMA 2026 | Polo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327648"/>
            <a:ext cx="24990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Arial"/>
              </a:defRPr>
            </a:pPr>
            <a:r>
              <a:t>Slide 7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4754880" cy="45720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defRPr sz="1500" b="1">
                <a:solidFill>
                  <a:srgbClr val="00873E"/>
                </a:solidFill>
                <a:latin typeface="Arial"/>
              </a:defRPr>
            </a:pPr>
            <a:r>
              <a:t>Árvore Modular de Componentes</a:t>
            </a:r>
          </a:p>
          <a:p>
            <a:br/>
            <a:pPr>
              <a:defRPr sz="1100">
                <a:solidFill>
                  <a:srgbClr val="1E293B"/>
                </a:solidFill>
                <a:latin typeface="Courier New"/>
              </a:defRPr>
            </a:pPr>
            <a:r>
              <a:t>App.jsx (Orquestrador Global)</a:t>
            </a:r>
            <a:br/>
            <a:r>
              <a:t>├── Navbar.jsx (Menu &amp; Mobile Toggle)</a:t>
            </a:r>
            <a:br/>
            <a:r>
              <a:t>├── Hero.jsx (Banner &amp; Metas ao Vivo)</a:t>
            </a:r>
            <a:br/>
            <a:r>
              <a:t>├── ConsumoApi.jsx (IBGE &amp; Leaflet)</a:t>
            </a:r>
            <a:br/>
            <a:r>
              <a:t>├── SobreCompleto.jsx (História &amp; Ação)</a:t>
            </a:r>
            <a:br/>
            <a:r>
              <a:t>├── ComoFunciona.jsx (4 Passos)</a:t>
            </a:r>
            <a:br/>
            <a:r>
              <a:t>├── Fluxo.jsx (Percurso do Alimento)</a:t>
            </a:r>
            <a:br/>
            <a:r>
              <a:t>├── PrestacaoContas.jsx (Bairros)</a:t>
            </a:r>
            <a:br/>
            <a:r>
              <a:t>├── Doar.jsx (Chips, PIX &amp; Recibo)</a:t>
            </a:r>
            <a:br/>
            <a:r>
              <a:t>├── PlayerAudio.jsx (Trilha Sonora)</a:t>
            </a:r>
            <a:br/>
            <a:r>
              <a:t>├── Contato.jsx (Ouvidoria Local)</a:t>
            </a:r>
            <a:br/>
            <a:r>
              <a:t>└── Footer.jsx (Créditos &amp; Acessos)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1371600"/>
            <a:ext cx="6035040" cy="4572000"/>
          </a:xfrm>
          <a:prstGeom prst="roundRect">
            <a:avLst/>
          </a:prstGeom>
          <a:solidFill>
            <a:srgbClr val="F0FDF4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defRPr sz="1600" b="1">
                <a:solidFill>
                  <a:srgbClr val="00873E"/>
                </a:solidFill>
                <a:latin typeface="Arial"/>
              </a:defRPr>
            </a:pPr>
            <a:r>
              <a:t>Navegação SPA &amp; Hooks Utilizados</a:t>
            </a:r>
          </a:p>
          <a:p>
            <a:br/>
            <a:pPr>
              <a:defRPr sz="1300" b="1">
                <a:solidFill>
                  <a:srgbClr val="00873E"/>
                </a:solidFill>
                <a:latin typeface="Arial"/>
              </a:defRPr>
            </a:pPr>
            <a:r>
              <a:t>Sem Aquele 'Piscar Branco' do Navegador: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Em sites antigos, cada clique recarregava toda a página, perdendo os formulários e parando a música. Como uma Single Page Application (SPA), a navegação ocorre por rolagem suave (smooth scroll), mantendo o áudio tocando e os dados preservados.</a:t>
            </a:r>
          </a:p>
          <a:p>
            <a:br/>
            <a:pPr>
              <a:defRPr sz="1300" b="1">
                <a:solidFill>
                  <a:srgbClr val="00873E"/>
                </a:solidFill>
                <a:latin typeface="Arial"/>
              </a:defRPr>
            </a:pPr>
            <a:r>
              <a:t>Hooks que Deram Vida à Aplicação: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useState: Guarda o total arrecadado, a busca por bairros e o menu aberto;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useEffect: Conecta à API do IBGE e escuta cliques para ativar o áudio;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useRef: Controla o som sem precisar redesenhar a tela inteira;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localStorage: Preserva as doações cadastradas mesmo fechando o navegador.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686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873E"/>
                </a:solidFill>
                <a:latin typeface="Arial"/>
              </a:defRPr>
            </a:pPr>
            <a:r>
              <a:t>5. Testando na Prática: Desafios e Correções Reais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411480"/>
            <a:ext cx="2286000" cy="365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64748B"/>
                </a:solidFill>
                <a:latin typeface="Arial"/>
              </a:defRPr>
            </a:pPr>
            <a:r>
              <a:t>5. Testes &amp; Qualidade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263640"/>
            <a:ext cx="1109441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Timbiras Solidária — ADS UEMA 2026 | Polo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327648"/>
            <a:ext cx="24990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Arial"/>
              </a:defRPr>
            </a:pPr>
            <a:r>
              <a:t>Slide 8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394960" cy="45720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defRPr sz="1600" b="1">
                <a:solidFill>
                  <a:srgbClr val="00873E"/>
                </a:solidFill>
                <a:latin typeface="Arial"/>
              </a:defRPr>
            </a:pPr>
            <a:r>
              <a:t>O Que Deu Errado e Como Consertamos</a:t>
            </a:r>
          </a:p>
          <a:p>
            <a:br/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1. O Desafio do Menu no Celular:</a:t>
            </a:r>
            <a:br/>
            <a:r>
              <a:t> Em telas pequenas os botões quebravam em várias linhas. Criamos um menu hambúrguer com estado React que se recolhe perfeitamente.</a:t>
            </a:r>
          </a:p>
          <a:p>
            <a:br/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2. O Dado da API Visível na Interface:</a:t>
            </a:r>
            <a:br/>
            <a:r>
              <a:t> Inicialmente usávamos a API apenas internamente. O professor pontuou que precisava ser visual. Criamos os cards com código IBGE de 7 dígitos e microrregião.</a:t>
            </a:r>
          </a:p>
          <a:p>
            <a:br/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3. Aviso de Re-renderização no Linter:</a:t>
            </a:r>
            <a:br/>
            <a:r>
              <a:t> O linter apontava risco de loop com setState síncrono. Refatoramos a inicialização e limpamos o fluxo.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394960" cy="4572000"/>
          </a:xfrm>
          <a:prstGeom prst="roundRect">
            <a:avLst/>
          </a:prstGeom>
          <a:solidFill>
            <a:srgbClr val="F0FDF4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defRPr sz="1600" b="1">
                <a:solidFill>
                  <a:srgbClr val="00873E"/>
                </a:solidFill>
                <a:latin typeface="Arial"/>
              </a:defRPr>
            </a:pPr>
            <a:r>
              <a:t>Bateria de Testes Executados</a:t>
            </a:r>
          </a:p>
          <a:p>
            <a:br/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Build de Produção (Vite):</a:t>
            </a:r>
            <a:br/>
            <a:r>
              <a:t> Compilado em menos de 800ms gerando pacotes minificados em dist/.</a:t>
            </a:r>
          </a:p>
          <a:p>
            <a:br/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Análise Estática (Oxlint):</a:t>
            </a:r>
            <a:br/>
            <a:r>
              <a:t> 0 erros de sintaxe e 0 alertas de React em todo o projeto.</a:t>
            </a:r>
          </a:p>
          <a:p>
            <a:br/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Validação de Formulários:</a:t>
            </a:r>
            <a:br/>
            <a:r>
              <a:t> Bloqueio de campos em branco com alertas nativos amigáveis.</a:t>
            </a:r>
          </a:p>
          <a:p>
            <a:br/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Teste em Celulares Reais:</a:t>
            </a:r>
            <a:br/>
            <a:r>
              <a:t> Testado em smartphones Android e iOS dos integrantes, avaliando toque, rolagem e botão PIX.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686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873E"/>
                </a:solidFill>
                <a:latin typeface="Arial"/>
              </a:defRPr>
            </a:pPr>
            <a:r>
              <a:t>5. A Aplicação no Ar: Acesso Livre e Transparente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411480"/>
            <a:ext cx="2286000" cy="365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64748B"/>
                </a:solidFill>
                <a:latin typeface="Arial"/>
              </a:defRPr>
            </a:pPr>
            <a:r>
              <a:t>5. Publicação &amp; Hospedagem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263640"/>
            <a:ext cx="1109441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Timbiras Solidária — ADS UEMA 2026 | Polo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327648"/>
            <a:ext cx="24990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Arial"/>
              </a:defRPr>
            </a:pPr>
            <a:r>
              <a:t>Slide 9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109441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64748B"/>
                </a:solidFill>
                <a:latin typeface="Arial"/>
              </a:defRPr>
            </a:pPr>
            <a:r>
              <a:t>O projeto não ficou preso em um computador local: está publicado na internet com certificado de segurança HTTPS e integração contínua a cada alteração da equipe.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2103120"/>
            <a:ext cx="4754880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0087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defRPr sz="1800" b="1">
                <a:solidFill>
                  <a:srgbClr val="00873E"/>
                </a:solidFill>
                <a:latin typeface="Arial"/>
              </a:defRPr>
            </a:pPr>
            <a:r>
              <a:t>Código-Fonte no GitHub</a:t>
            </a:r>
          </a:p>
          <a:p>
            <a:br/>
            <a:pPr algn="ctr">
              <a:defRPr sz="1200">
                <a:solidFill>
                  <a:srgbClr val="1E293B"/>
                </a:solidFill>
                <a:latin typeface="Arial"/>
              </a:defRPr>
            </a:pPr>
            <a:r>
              <a:t>Histórico completo de versões, commits explicativos da equipe, componentes React e instruções de execução.</a:t>
            </a:r>
          </a:p>
          <a:p>
            <a:br/>
            <a:pPr algn="ctr">
              <a:defRPr sz="1100" b="1">
                <a:solidFill>
                  <a:srgbClr val="00873E"/>
                </a:solidFill>
                <a:latin typeface="Courier New"/>
              </a:defRPr>
            </a:pPr>
            <a:r>
              <a:t>https://github.com/ambersonrogers/timbiras-solidaria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103120"/>
            <a:ext cx="4754880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defRPr sz="1800" b="1">
                <a:solidFill>
                  <a:srgbClr val="0284C7"/>
                </a:solidFill>
                <a:latin typeface="Arial"/>
              </a:defRPr>
            </a:pPr>
            <a:r>
              <a:t>Aplicação no Ar (Vercel)</a:t>
            </a:r>
          </a:p>
          <a:p>
            <a:br/>
            <a:pPr algn="ctr">
              <a:defRPr sz="1200">
                <a:solidFill>
                  <a:srgbClr val="1E293B"/>
                </a:solidFill>
                <a:latin typeface="Arial"/>
              </a:defRPr>
            </a:pPr>
            <a:r>
              <a:t>Deploy em nuvem de alta velocidade, com roteamento de SPA configurado via vercel.json e acesso mundial.</a:t>
            </a:r>
          </a:p>
          <a:p>
            <a:br/>
            <a:pPr algn="ctr">
              <a:defRPr sz="1100" b="1">
                <a:solidFill>
                  <a:srgbClr val="0284C7"/>
                </a:solidFill>
                <a:latin typeface="Courier New"/>
              </a:defRPr>
            </a:pPr>
            <a:r>
              <a:t>https://timbiras-solidaria.vercel.app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5577840"/>
            <a:ext cx="9966960" cy="502920"/>
          </a:xfrm>
          <a:prstGeom prst="roundRect">
            <a:avLst/>
          </a:prstGeom>
          <a:solidFill>
            <a:srgbClr val="F0FDF4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873E"/>
                </a:solidFill>
                <a:latin typeface="Arial"/>
              </a:defRPr>
            </a:pPr>
            <a:r>
              <a:t>Ambos os links foram testados em abas anônimas e diferentes redes para garantir acesso irrestrito do professor.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686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873E"/>
                </a:solidFill>
                <a:latin typeface="Arial"/>
              </a:defRPr>
            </a:pPr>
            <a:r>
              <a:t>Demonstração Visual: Tela Inicial &amp; API do IBGE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411480"/>
            <a:ext cx="2286000" cy="365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64748B"/>
                </a:solidFill>
                <a:latin typeface="Arial"/>
              </a:defRPr>
            </a:pPr>
            <a:r>
              <a:t>Evidências Reais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263640"/>
            <a:ext cx="1109441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Timbiras Solidária — ADS UEMA 2026 | Polo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327648"/>
            <a:ext cx="24990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Arial"/>
              </a:defRPr>
            </a:pPr>
            <a:r>
              <a:t>Slide 10 / 13</a:t>
            </a:r>
          </a:p>
        </p:txBody>
      </p:sp>
      <p:pic>
        <p:nvPicPr>
          <p:cNvPr id="8" name="Picture 7" descr="captura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394960" cy="29265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4663440"/>
            <a:ext cx="5394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873E"/>
                </a:solidFill>
                <a:latin typeface="Arial"/>
              </a:defRPr>
            </a:pPr>
            <a:r>
              <a:t>1. Tela Inicial &amp; Painel de Metas (Desktop)</a:t>
            </a:r>
          </a:p>
          <a:p>
            <a:pPr>
              <a:defRPr sz="1100">
                <a:solidFill>
                  <a:srgbClr val="64748B"/>
                </a:solidFill>
                <a:latin typeface="Arial"/>
              </a:defRPr>
            </a:pPr>
            <a:r>
              <a:t>Destaque para o acolhimento visual, imagem real da agricultura familiar, contador reativo de 12 cestas e barra de progresso da meta comunitária.</a:t>
            </a:r>
          </a:p>
        </p:txBody>
      </p:sp>
      <p:pic>
        <p:nvPicPr>
          <p:cNvPr id="10" name="Picture 9" descr="captura_api_ib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394960" cy="427331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17920" y="4663440"/>
            <a:ext cx="5394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Arial"/>
              </a:defRPr>
            </a:pPr>
            <a:r>
              <a:t>2. Rota Solidária &amp; Dados Oficiais do IBGE</a:t>
            </a:r>
          </a:p>
          <a:p>
            <a:pPr>
              <a:defRPr sz="1100">
                <a:solidFill>
                  <a:srgbClr val="64748B"/>
                </a:solidFill>
                <a:latin typeface="Arial"/>
              </a:defRPr>
            </a:pPr>
            <a:r>
              <a:t>Cards gerados do JSON da API do IBGE, exibindo código oficial (Timbiras 2112307, Codó 2103307), microrregião e mapa interativo Leaflet.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686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873E"/>
                </a:solidFill>
                <a:latin typeface="Arial"/>
              </a:defRPr>
            </a:pPr>
            <a:r>
              <a:t>Demonstração Visual: Formulário, PIX &amp; Prestação de Contas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411480"/>
            <a:ext cx="2286000" cy="365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64748B"/>
                </a:solidFill>
                <a:latin typeface="Arial"/>
              </a:defRPr>
            </a:pPr>
            <a:r>
              <a:t>Evidências Reais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263640"/>
            <a:ext cx="1109441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Timbiras Solidária — ADS UEMA 2026 | Polo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327648"/>
            <a:ext cx="24990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Arial"/>
              </a:defRPr>
            </a:pPr>
            <a:r>
              <a:t>Slide 11 / 13</a:t>
            </a:r>
          </a:p>
        </p:txBody>
      </p:sp>
      <p:pic>
        <p:nvPicPr>
          <p:cNvPr id="8" name="Picture 7" descr="captura_do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394960" cy="367694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4663440"/>
            <a:ext cx="5394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B45309"/>
                </a:solidFill>
                <a:latin typeface="Arial"/>
              </a:defRPr>
            </a:pPr>
            <a:r>
              <a:t>3. Formulário de Doação &amp; PIX Instantâneo</a:t>
            </a:r>
          </a:p>
          <a:p>
            <a:pPr>
              <a:defRPr sz="1100">
                <a:solidFill>
                  <a:srgbClr val="64748B"/>
                </a:solidFill>
                <a:latin typeface="Arial"/>
              </a:defRPr>
            </a:pPr>
            <a:r>
              <a:t>Seleção facilitada por chips ('1 Cesta', '2 Cestas', '5 Cestas'), chave PIX com botão de cópia instantânea e validação nativa de formulário.</a:t>
            </a:r>
          </a:p>
        </p:txBody>
      </p:sp>
      <p:pic>
        <p:nvPicPr>
          <p:cNvPr id="10" name="Picture 9" descr="captura_prestacao_cont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394960" cy="406794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17920" y="4663440"/>
            <a:ext cx="5394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873E"/>
                </a:solidFill>
                <a:latin typeface="Arial"/>
              </a:defRPr>
            </a:pPr>
            <a:r>
              <a:t>4. Transparência Pública por Bairro</a:t>
            </a:r>
          </a:p>
          <a:p>
            <a:pPr>
              <a:defRPr sz="1100">
                <a:solidFill>
                  <a:srgbClr val="64748B"/>
                </a:solidFill>
                <a:latin typeface="Arial"/>
              </a:defRPr>
            </a:pPr>
            <a:r>
              <a:t>Busca instantânea por bairros (Mutirão, Centro, Olaria, etc.), destaque para a Zona Rural (35 cestas) e somatório oficial de 215 cestas entregues.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686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873E"/>
                </a:solidFill>
                <a:latin typeface="Arial"/>
              </a:defRPr>
            </a:pPr>
            <a:r>
              <a:t>Demonstração Visual: Adaptação em Telas Mobile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411480"/>
            <a:ext cx="2286000" cy="365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64748B"/>
                </a:solidFill>
                <a:latin typeface="Arial"/>
              </a:defRPr>
            </a:pPr>
            <a:r>
              <a:t>Responsividade Real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263640"/>
            <a:ext cx="1109441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Timbiras Solidária — ADS UEMA 2026 | Polo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327648"/>
            <a:ext cx="24990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Arial"/>
              </a:defRPr>
            </a:pPr>
            <a:r>
              <a:t>Slide 12 / 13</a:t>
            </a:r>
          </a:p>
        </p:txBody>
      </p:sp>
      <p:pic>
        <p:nvPicPr>
          <p:cNvPr id="8" name="Picture 7" descr="captura_mobile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2070401" cy="4480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114800" y="1371600"/>
            <a:ext cx="7498079" cy="45720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 rIns="365760" bIns="365760"/>
          <a:lstStyle/>
          <a:p>
            <a:pPr algn="ctr">
              <a:defRPr sz="1800" b="1">
                <a:solidFill>
                  <a:srgbClr val="00873E"/>
                </a:solidFill>
                <a:latin typeface="Arial"/>
              </a:defRPr>
            </a:pPr>
            <a:r>
              <a:t>Pensado para a Realidade de Quem Acessa pelo Celular</a:t>
            </a:r>
          </a:p>
          <a:p>
            <a:br/>
            <a:pPr>
              <a:defRPr sz="1300">
                <a:solidFill>
                  <a:srgbClr val="1E293B"/>
                </a:solidFill>
                <a:latin typeface="Arial"/>
              </a:defRPr>
            </a:pPr>
            <a:r>
              <a:t>No interior do Maranhão, a esmagadora maioria das pessoas navega exclusivamente pelo smartphone. Por isso, a adaptação mobile foi prioridade técnica e humana:</a:t>
            </a:r>
          </a:p>
          <a:p>
            <a:br/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Menu Retrátil Acessível: O botão hambúrguer é fácil de tocar com o polegar, não polui a visão inicial e recolhe sozinho assim que o usuário clica na seção.</a:t>
            </a:r>
          </a:p>
          <a:p>
            <a:br/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Cards em Coluna Única: Os 13 bairros e os municípios do IBGE se reorganizam automaticamente em cascata vertical, sem barra de rolagem horizontal quebrada.</a:t>
            </a:r>
          </a:p>
          <a:p>
            <a:br/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Player Compacto: A trilha sonora fica ancorada no canto inferior sem atrapalhar a leitura nem os formulários.</a:t>
            </a:r>
          </a:p>
          <a:p>
            <a:br/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Teclado Numérico Otimizado: Campos de quantidade e valores abrem o teclado numérico nativo do celular.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686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873E"/>
                </a:solidFill>
                <a:latin typeface="Arial"/>
              </a:defRPr>
            </a:pPr>
            <a:r>
              <a:t>6. Conclusão: O Que Aprendemos na Pele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411480"/>
            <a:ext cx="2286000" cy="365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64748B"/>
                </a:solidFill>
                <a:latin typeface="Arial"/>
              </a:defRPr>
            </a:pPr>
            <a:r>
              <a:t>6. Aprendizados &amp; ABNT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263640"/>
            <a:ext cx="1109441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Timbiras Solidária — ADS UEMA 2026 | Polo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327648"/>
            <a:ext cx="24990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Arial"/>
              </a:defRPr>
            </a:pPr>
            <a:r>
              <a:t>Slide 13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394960" cy="4572000"/>
          </a:xfrm>
          <a:prstGeom prst="roundRect">
            <a:avLst/>
          </a:prstGeom>
          <a:solidFill>
            <a:srgbClr val="F0FDF4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defRPr sz="1600" b="1">
                <a:solidFill>
                  <a:srgbClr val="00873E"/>
                </a:solidFill>
                <a:latin typeface="Arial"/>
              </a:defRPr>
            </a:pPr>
            <a:r>
              <a:t>Muito Além de Linhas de Código</a:t>
            </a:r>
          </a:p>
          <a:p>
            <a:br/>
            <a:pPr>
              <a:defRPr sz="1400" b="1">
                <a:solidFill>
                  <a:srgbClr val="00873E"/>
                </a:solidFill>
                <a:latin typeface="Arial"/>
              </a:defRPr>
            </a:pPr>
            <a:r>
              <a:t>Tecnologia Feita por Pessoas, Para Pessoas: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Aprendemos que um framework moderno como o React ou uma API governamental só têm valor quando resolvem um problema humano real. O código ganha vida quando serve para combater a fome e valorizar a nossa terra.</a:t>
            </a:r>
          </a:p>
          <a:p>
            <a:br/>
            <a:pPr>
              <a:defRPr sz="1400" b="1">
                <a:solidFill>
                  <a:srgbClr val="00873E"/>
                </a:solidFill>
                <a:latin typeface="Arial"/>
              </a:defRPr>
            </a:pPr>
            <a:r>
              <a:t>Prontos para a Nota 3: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A equipe conclui esta etapa com o sistema no ar, dados reais integrados e muito orgulho do que construímos. Estamos preparados e entusiasmados para a apresentação presencial no polo de Timbiras!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394960" cy="45720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defRPr sz="1500" b="1">
                <a:solidFill>
                  <a:srgbClr val="00873E"/>
                </a:solidFill>
                <a:latin typeface="Arial"/>
              </a:defRPr>
            </a:pPr>
            <a:r>
              <a:t>Referências Bibliográficas (Normas ABNT)</a:t>
            </a:r>
          </a:p>
          <a:p>
            <a:br/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• BRASIL. Instituto Brasileiro de Geografia e Estatística (IBGE). API de Serviços de Dados: Localidades. Rio de Janeiro: IBGE, 2026. Disponível em: &lt;https://servicodados.ibge.gov.br/api/docs/localidades&gt;. Acesso em: 17 set. 2026.</a:t>
            </a:r>
          </a:p>
          <a:p>
            <a:br/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• LENNON, John. Imagine. In: Imagine. Produção: John Lennon, Yoko Ono, Phil Spector. Ascot Sound Studios: Apple Records, 1971. 1 faixa musical (3 min 3 s). Uso pedagógico e cultural.</a:t>
            </a:r>
          </a:p>
          <a:p>
            <a:br/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• MDN WEB DOCS. Fetch API. Mozilla Developer Network, 2026. Disponível em: &lt;https://developer.mozilla.org/pt-BR/docs/Web/API/Fetch_API&gt;. Acesso em: 17 set. 2026.</a:t>
            </a:r>
          </a:p>
          <a:p>
            <a:br/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• ORGANIZAÇÃO DAS NAÇÕES UNIDAS (ONU). Objetivo de Desenvolvimento Sustentável 2: Fome Zero e Agricultura Sustentável. Brasília: Nações Unidas Brasil, 2015. Disponível em: &lt;https://brasil.un.org/pt-br/sdgs/2&gt;. Acesso em: 17 set. 2026.</a:t>
            </a:r>
          </a:p>
          <a:p>
            <a:br/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• REACT. React — A JavaScript library for building user interfaces. Versão 19. Meta Open Source, 2026. Disponível em: &lt;https://react.dev/&gt;. Acesso em: 17 set. 2026.</a:t>
            </a:r>
          </a:p>
          <a:p>
            <a:br/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• VITE. Next Generation Frontend Tooling. Evan You &amp; Vite Team, 2026. Disponível em: &lt;https://vitejs.dev/&gt;. Acesso em: 17 set.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