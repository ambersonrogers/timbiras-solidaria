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2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011680" y="685800"/>
            <a:ext cx="8168335" cy="438912"/>
          </a:xfrm>
          <a:prstGeom prst="roundRect">
            <a:avLst/>
          </a:prstGeom>
          <a:solidFill>
            <a:srgbClr val="0F3D24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>
              <a:defRPr sz="1200" b="1">
                <a:solidFill>
                  <a:srgbClr val="10B981"/>
                </a:solidFill>
                <a:latin typeface="Segoe UI"/>
              </a:defRPr>
            </a:pPr>
            <a:r>
              <a:t>UNIVERSIDADE ESTADUAL DO MARANHÃO — UEMA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234440"/>
            <a:ext cx="94484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CBD5E1"/>
                </a:solidFill>
                <a:latin typeface="Segoe UI"/>
              </a:defRPr>
            </a:pPr>
            <a:r>
              <a:t>CST em Análise e Desenvolvimento de Sistemas  |  Desenvolvimento Web  |  Nota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874519"/>
            <a:ext cx="9448495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600" b="1">
                <a:solidFill>
                  <a:srgbClr val="4ADE80"/>
                </a:solidFill>
                <a:latin typeface="Segoe UI"/>
              </a:defRPr>
            </a:pPr>
            <a:r>
              <a:t>Timbiras Solidária 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3154680"/>
            <a:ext cx="88998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>
                <a:solidFill>
                  <a:srgbClr val="F1F5F9"/>
                </a:solidFill>
                <a:latin typeface="Segoe UI"/>
              </a:defRPr>
            </a:pPr>
            <a:r>
              <a:t>Como a tecnologia web pode encurtar distâncias, combater a fome e unir uma comunidade inteira em torno do ODS 2 da ONU.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45920" y="4434840"/>
            <a:ext cx="8899855" cy="1600200"/>
          </a:xfrm>
          <a:prstGeom prst="roundRect">
            <a:avLst/>
          </a:prstGeom>
          <a:solidFill>
            <a:srgbClr val="0C321D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0"/>
          <a:lstStyle/>
          <a:p>
            <a:pPr algn="ctr">
              <a:defRPr sz="1300" b="1">
                <a:solidFill>
                  <a:srgbClr val="4ADE80"/>
                </a:solidFill>
                <a:latin typeface="Segoe UI"/>
              </a:defRPr>
            </a:pPr>
            <a:r>
              <a:t>EQUIPE TIMBIRANOS</a:t>
            </a:r>
          </a:p>
          <a:p>
            <a:pPr algn="ctr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Amberson Lindoso  •  Kelly Sousa  •  Jhony Fernandes  •  Weldes Reis</a:t>
            </a:r>
          </a:p>
          <a:p>
            <a:pPr algn="ctr">
              <a:defRPr sz="1200">
                <a:solidFill>
                  <a:srgbClr val="94A3B8"/>
                </a:solidFill>
                <a:latin typeface="Segoe UI"/>
              </a:defRPr>
            </a:pPr>
            <a:r>
              <a:t>Polo Universitário de Timbiras — Maranhão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8412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873E"/>
                </a:solidFill>
                <a:latin typeface="Segoe UI"/>
              </a:defRPr>
            </a:pPr>
            <a:r>
              <a:t>1. Nossa Terra, Nossa Gente: Por Que Timbiras?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235440" y="411480"/>
            <a:ext cx="2194560" cy="34747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>
              <a:defRPr sz="1000" b="1">
                <a:solidFill>
                  <a:srgbClr val="64748B"/>
                </a:solidFill>
                <a:latin typeface="Segoe UI"/>
              </a:defRPr>
            </a:pPr>
            <a:r>
              <a:t>1. INTRODUÇÃO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Timbiras Solidária — ADS UEMA 2026 | Polo Universitário de Timbiras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327648"/>
            <a:ext cx="27733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Segoe UI"/>
              </a:defRPr>
            </a:pPr>
            <a:r>
              <a:t>Slide 2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34440"/>
            <a:ext cx="594360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50" b="1">
                <a:solidFill>
                  <a:srgbClr val="1E293B"/>
                </a:solidFill>
                <a:latin typeface="Segoe UI"/>
              </a:defRPr>
            </a:pPr>
            <a:r>
              <a:t>A fome não é um número abstrato: ela tem nome, endereço e rosto nos bairros e na zona rural da nossa cidade.</a:t>
            </a:r>
          </a:p>
          <a:p>
            <a:br/>
            <a:pPr>
              <a:defRPr sz="1250">
                <a:solidFill>
                  <a:srgbClr val="64748B"/>
                </a:solidFill>
                <a:latin typeface="Segoe UI"/>
              </a:defRPr>
            </a:pPr>
            <a:r>
              <a:t>Timbiras é uma cidade acolhedora, forte e trabalhadora, banhada pelas águas do Rio Itapecuru. Mas, como tantas cidades do interior do Maranhão, muitas famílias de bairros como Forquilha, Mutirão, Alto Fogoso, Olaria e povoados rurais distantes enfrentam dias difíceis para garantir o básico na mesa.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594360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3840480"/>
            <a:ext cx="73152" cy="2194560"/>
          </a:xfrm>
          <a:prstGeom prst="rect">
            <a:avLst/>
          </a:prstGeom>
          <a:solidFill>
            <a:srgbClr val="008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977639"/>
            <a:ext cx="557784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0873E"/>
                </a:solidFill>
                <a:latin typeface="Segoe UI"/>
              </a:defRPr>
            </a:pPr>
            <a:r>
              <a:t>O Encontro de Duas Realidades</a:t>
            </a:r>
          </a:p>
          <a:p>
            <a:br/>
            <a:pPr>
              <a:defRPr sz="1150">
                <a:solidFill>
                  <a:srgbClr val="1E293B"/>
                </a:solidFill>
                <a:latin typeface="Segoe UI"/>
              </a:defRPr>
            </a:pPr>
            <a:r>
              <a:t>De um lado, pequenos agricultores e comerciantes com vontade de ajudar e excedentes de colheita. Do outro, famílias precisando de auxílio imediato. O Timbiras Solidária nasceu para ser a ponte digital entre a generosidade de quem pode doar e a dignidade de quem precisa receber.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49440" y="1234440"/>
            <a:ext cx="4510735" cy="480060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0" y="1417320"/>
            <a:ext cx="3977639" cy="4434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50" b="1">
                <a:solidFill>
                  <a:srgbClr val="00873E"/>
                </a:solidFill>
                <a:latin typeface="Segoe UI"/>
              </a:defRPr>
            </a:pPr>
            <a:r>
              <a:t>Compromisso Real com o ODS 2</a:t>
            </a:r>
          </a:p>
          <a:p>
            <a:pPr>
              <a:defRPr sz="1150">
                <a:solidFill>
                  <a:srgbClr val="1E293B"/>
                </a:solidFill>
                <a:latin typeface="Segoe UI"/>
              </a:defRPr>
            </a:pPr>
            <a:r>
              <a:t>Fome Zero e Agricultura Sustentável: nosso foco não é assistencialismo frio, mas mobilização comunitária com valorização do agricultor familiar local.</a:t>
            </a:r>
          </a:p>
          <a:p>
            <a:br/>
            <a:pPr>
              <a:defRPr sz="1300" b="1">
                <a:solidFill>
                  <a:srgbClr val="00873E"/>
                </a:solidFill>
                <a:latin typeface="Segoe UI"/>
              </a:defRPr>
            </a:pPr>
            <a:r>
              <a:t>Público-Alvo que Abraçamos:</a:t>
            </a:r>
          </a:p>
          <a:p>
            <a:pPr>
              <a:defRPr sz="1100">
                <a:solidFill>
                  <a:srgbClr val="1E293B"/>
                </a:solidFill>
                <a:latin typeface="Segoe UI"/>
              </a:defRPr>
            </a:pPr>
            <a:r>
              <a:t>• Cidadãos comuns:  Que querem doar 1 cesta ou 1 kg de alimento;</a:t>
            </a:r>
          </a:p>
          <a:p>
            <a:pPr>
              <a:defRPr sz="1100">
                <a:solidFill>
                  <a:srgbClr val="1E293B"/>
                </a:solidFill>
                <a:latin typeface="Segoe UI"/>
              </a:defRPr>
            </a:pPr>
            <a:r>
              <a:t>• Comércio e feirantes:  Que exercem cidadania ativa;</a:t>
            </a:r>
          </a:p>
          <a:p>
            <a:pPr>
              <a:defRPr sz="1100">
                <a:solidFill>
                  <a:srgbClr val="1E293B"/>
                </a:solidFill>
                <a:latin typeface="Segoe UI"/>
              </a:defRPr>
            </a:pPr>
            <a:r>
              <a:t>• Agricultura familiar:  Que abastece a cidade com alimentos frescos;</a:t>
            </a:r>
          </a:p>
          <a:p>
            <a:pPr>
              <a:defRPr sz="1100">
                <a:solidFill>
                  <a:srgbClr val="1E293B"/>
                </a:solidFill>
                <a:latin typeface="Segoe UI"/>
              </a:defRPr>
            </a:pPr>
            <a:r>
              <a:t>• Poder público &amp; voluntários:  Para transparência e logística.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8412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873E"/>
                </a:solidFill>
                <a:latin typeface="Segoe UI"/>
              </a:defRPr>
            </a:pPr>
            <a:r>
              <a:t>2. Do Cartaz Estático à Aplicação Viva e Dinâmica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235440" y="411480"/>
            <a:ext cx="2194560" cy="34747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>
              <a:defRPr sz="1000" b="1">
                <a:solidFill>
                  <a:srgbClr val="64748B"/>
                </a:solidFill>
                <a:latin typeface="Segoe UI"/>
              </a:defRPr>
            </a:pPr>
            <a:r>
              <a:t>2. DESENVOLVIMENTO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Timbiras Solidária — ADS UEMA 2026 | Polo Universitário de Timbiras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327648"/>
            <a:ext cx="27733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Segoe UI"/>
              </a:defRPr>
            </a:pPr>
            <a:r>
              <a:t>Slide 3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34440"/>
            <a:ext cx="516636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50" b="1">
                <a:solidFill>
                  <a:srgbClr val="00873E"/>
                </a:solidFill>
                <a:latin typeface="Segoe UI"/>
              </a:defRPr>
            </a:pPr>
            <a:r>
              <a:t>O Salto da Primeira para a Segunda Etapa</a:t>
            </a:r>
          </a:p>
          <a:p>
            <a:br/>
            <a:pPr>
              <a:defRPr sz="1200">
                <a:solidFill>
                  <a:srgbClr val="64748B"/>
                </a:solidFill>
                <a:latin typeface="Segoe UI"/>
              </a:defRPr>
            </a:pPr>
            <a:r>
              <a:t>Na Nota 1, criamos uma interface estática em HTML5, CSS3 e Bootstrap. Era bonita e organizada, mas funcionava como um panfleto digital: parada, passiva e sem diálogo direto com quem acessava.</a:t>
            </a:r>
          </a:p>
          <a:p>
            <a:br/>
            <a:pPr>
              <a:defRPr sz="1200">
                <a:solidFill>
                  <a:srgbClr val="64748B"/>
                </a:solidFill>
                <a:latin typeface="Segoe UI"/>
              </a:defRPr>
            </a:pPr>
            <a:r>
              <a:t>Na Nota 2, nossa missão foi dar vida e coração ao projeto: quando alguém preenche uma doação, precisa sentir que aquele ato gerou uma resposta no mundo real.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60520"/>
            <a:ext cx="5166360" cy="1874519"/>
          </a:xfrm>
          <a:prstGeom prst="roundRect">
            <a:avLst/>
          </a:prstGeom>
          <a:solidFill>
            <a:srgbClr val="FEFCE8"/>
          </a:solidFill>
          <a:ln w="12700">
            <a:solidFill>
              <a:srgbClr val="FEF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4160520"/>
            <a:ext cx="73152" cy="187451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297680"/>
            <a:ext cx="4800600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B45309"/>
                </a:solidFill>
                <a:latin typeface="Segoe UI"/>
              </a:defRPr>
            </a:pPr>
            <a:r>
              <a:t>Interação que Acolhe</a:t>
            </a:r>
          </a:p>
          <a:p>
            <a:br/>
            <a:pPr>
              <a:defRPr sz="1150">
                <a:solidFill>
                  <a:srgbClr val="1E293B"/>
                </a:solidFill>
                <a:latin typeface="Segoe UI"/>
              </a:defRPr>
            </a:pPr>
            <a:r>
              <a:t>Abraçamos o React 19 para que cada elemento na tela reaja imediatamente aos sentimentos e intenções do usuário, sem recarregar a página e sem travar a navegação.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234440"/>
            <a:ext cx="5166360" cy="4800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1417320"/>
            <a:ext cx="4617720" cy="4434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50" b="1">
                <a:solidFill>
                  <a:srgbClr val="00873E"/>
                </a:solidFill>
                <a:latin typeface="Segoe UI"/>
              </a:defRPr>
            </a:pPr>
            <a:r>
              <a:t>O Que Mudou na Experiência de Quem Usa</a:t>
            </a:r>
          </a:p>
          <a:p>
            <a:br/>
            <a:pPr>
              <a:defRPr sz="1150">
                <a:solidFill>
                  <a:srgbClr val="1E293B"/>
                </a:solidFill>
                <a:latin typeface="Segoe UI"/>
              </a:defRPr>
            </a:pPr>
            <a:r>
              <a:t>• Retorno Imediato: Ao enviar uma doação, a meta comunitária sobe na mesma hora no topo do site e um Recibo Solidário com código único surge na tela.</a:t>
            </a:r>
          </a:p>
          <a:p>
            <a:br/>
            <a:pPr>
              <a:defRPr sz="1150">
                <a:solidFill>
                  <a:srgbClr val="1E293B"/>
                </a:solidFill>
                <a:latin typeface="Segoe UI"/>
              </a:defRPr>
            </a:pPr>
            <a:r>
              <a:t>• Menos Esforço para Fazer o Bem: Botões de clique rápido ('1 Cesta', '2 Cestas', '5 Cestas') evitam digitação demorada no celular.</a:t>
            </a:r>
          </a:p>
          <a:p>
            <a:br/>
            <a:pPr>
              <a:defRPr sz="1150">
                <a:solidFill>
                  <a:srgbClr val="1E293B"/>
                </a:solidFill>
                <a:latin typeface="Segoe UI"/>
              </a:defRPr>
            </a:pPr>
            <a:r>
              <a:t>• Chave PIX com 1 Toque: Cópia instantânea da chave institucional com aviso de confirmação na tela via Clipboard API.</a:t>
            </a:r>
          </a:p>
          <a:p>
            <a:br/>
            <a:pPr>
              <a:defRPr sz="1150">
                <a:solidFill>
                  <a:srgbClr val="1E293B"/>
                </a:solidFill>
                <a:latin typeface="Segoe UI"/>
              </a:defRPr>
            </a:pPr>
            <a:r>
              <a:t>• Trilha Sonora Emocionante: Player com a canção 'Imagine' (John Lennon, 1971), que respeita a privacidade do usuário e pode ser pausado, mutado ou recolhido a qualquer momento.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8412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873E"/>
                </a:solidFill>
                <a:latin typeface="Segoe UI"/>
              </a:defRPr>
            </a:pPr>
            <a:r>
              <a:t>2. Interatividade com Respeito ao Usuário: DOM &amp; Eventos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235440" y="411480"/>
            <a:ext cx="2194560" cy="34747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>
              <a:defRPr sz="1000" b="1">
                <a:solidFill>
                  <a:srgbClr val="64748B"/>
                </a:solidFill>
                <a:latin typeface="Segoe UI"/>
              </a:defRPr>
            </a:pPr>
            <a:r>
              <a:t>2. DESENVOLVIMENTO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Timbiras Solidária — ADS UEMA 2026 | Polo Universitário de Timbiras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327648"/>
            <a:ext cx="27733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Segoe UI"/>
              </a:defRPr>
            </a:pPr>
            <a:r>
              <a:t>Slide 4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34440"/>
            <a:ext cx="51663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50" b="1">
                <a:solidFill>
                  <a:srgbClr val="00873E"/>
                </a:solidFill>
                <a:latin typeface="Segoe UI"/>
              </a:defRPr>
            </a:pPr>
            <a:r>
              <a:t>Os Sentidos da Aplicação (Eventos JavaScript)</a:t>
            </a:r>
          </a:p>
          <a:p>
            <a:pPr>
              <a:defRPr sz="1200">
                <a:solidFill>
                  <a:srgbClr val="64748B"/>
                </a:solidFill>
                <a:latin typeface="Segoe UI"/>
              </a:defRPr>
            </a:pPr>
            <a:r>
              <a:t>Tratamento de eventos pensado para ser acolhedor e intuitivo, sem burocracias: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514600"/>
            <a:ext cx="5166360" cy="3520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514600"/>
            <a:ext cx="73152" cy="3520440"/>
          </a:xfrm>
          <a:prstGeom prst="rect">
            <a:avLst/>
          </a:prstGeom>
          <a:solidFill>
            <a:srgbClr val="008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651760"/>
            <a:ext cx="4800600" cy="3246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0873E"/>
                </a:solidFill>
                <a:latin typeface="Segoe UI"/>
              </a:defRPr>
            </a:pPr>
            <a:r>
              <a:t>Eventos Centrais Implementados:</a:t>
            </a:r>
          </a:p>
          <a:p>
            <a:pPr>
              <a:defRPr sz="1050">
                <a:solidFill>
                  <a:srgbClr val="1E293B"/>
                </a:solidFill>
                <a:latin typeface="Segoe UI"/>
              </a:defRPr>
            </a:pPr>
            <a:r>
              <a:t>• onSubmit (Doar.jsx): Interrompe o recarregamento brusco, valida campos, grava no localStorage e emite Recibo Solidário com código rastreável (REC-XXXXXX).</a:t>
            </a:r>
          </a:p>
          <a:p>
            <a:pPr>
              <a:defRPr sz="1050">
                <a:solidFill>
                  <a:srgbClr val="1E293B"/>
                </a:solidFill>
                <a:latin typeface="Segoe UI"/>
              </a:defRPr>
            </a:pPr>
            <a:r>
              <a:t>• onChange (PrestacaoContas.jsx): Filtra os 13 bairros e a Zona Rural enquanto o morador digita, normalizando acentos sem travamentos.</a:t>
            </a:r>
          </a:p>
          <a:p>
            <a:pPr>
              <a:defRPr sz="1050">
                <a:solidFill>
                  <a:srgbClr val="1E293B"/>
                </a:solidFill>
                <a:latin typeface="Segoe UI"/>
              </a:defRPr>
            </a:pPr>
            <a:r>
              <a:t>• onClick na Navbar: Menu móvel que abre e fecha sozinho ao tocar em qualquer link.</a:t>
            </a:r>
          </a:p>
          <a:p>
            <a:pPr>
              <a:defRPr sz="1050">
                <a:solidFill>
                  <a:srgbClr val="1E293B"/>
                </a:solidFill>
                <a:latin typeface="Segoe UI"/>
              </a:defRPr>
            </a:pPr>
            <a:r>
              <a:t>• Clipboard API: Cópia suave da chave PIX sem selecionar texto.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1234440"/>
            <a:ext cx="51663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00873E"/>
                </a:solidFill>
                <a:latin typeface="Segoe UI"/>
              </a:defRPr>
            </a:pPr>
            <a:r>
              <a:t>A Música que Conecta Gerações (Imagine — John Lennon, 1971)</a:t>
            </a:r>
          </a:p>
          <a:p>
            <a:pPr>
              <a:defRPr sz="1150">
                <a:solidFill>
                  <a:srgbClr val="64748B"/>
                </a:solidFill>
                <a:latin typeface="Segoe UI"/>
              </a:defRPr>
            </a:pPr>
            <a:r>
              <a:t>Nenhum projeto comunitário vive só de botões; ele vive de sentimento. A trilha sonora traz a clássica canção 'Imagine' para sensibilização pedagógica e acolhimento.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2514600"/>
            <a:ext cx="5166360" cy="35204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2651760"/>
            <a:ext cx="4663440" cy="3246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0873E"/>
                </a:solidFill>
                <a:latin typeface="Segoe UI"/>
              </a:defRPr>
            </a:pPr>
            <a:r>
              <a:t>Tratamento Cuidadoso de Áudio:</a:t>
            </a:r>
          </a:p>
          <a:p>
            <a:br/>
            <a:pPr>
              <a:defRPr sz="1100">
                <a:solidFill>
                  <a:srgbClr val="1E293B"/>
                </a:solidFill>
                <a:latin typeface="Segoe UI"/>
              </a:defRPr>
            </a:pPr>
            <a:r>
              <a:t>• Respeito ao Usuário (Anti-Autoplay Invasivo): Navegadores modernos bloqueiam reprodução automática. Criamos escutadores de evento (window.addEventListener('click') e rolagem) para iniciar suavemente quando o visitante demonstra interesse pelo site.</a:t>
            </a:r>
          </a:p>
          <a:p>
            <a:br/>
            <a:pPr>
              <a:defRPr sz="1100">
                <a:solidFill>
                  <a:srgbClr val="1E293B"/>
                </a:solidFill>
                <a:latin typeface="Segoe UI"/>
              </a:defRPr>
            </a:pPr>
            <a:r>
              <a:t>• Controles Completos: Slider de volume contínuo, botão de silenciar (mute), equalizador com 3 barras animadas em CSS e botão para recolher o tocador para um canto discreto da tela.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8412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873E"/>
                </a:solidFill>
                <a:latin typeface="Segoe UI"/>
              </a:defRPr>
            </a:pPr>
            <a:r>
              <a:t>3. A Força dos Dados Oficiais: A API Pública do IBGE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235440" y="411480"/>
            <a:ext cx="2194560" cy="34747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>
              <a:defRPr sz="1000" b="1">
                <a:solidFill>
                  <a:srgbClr val="64748B"/>
                </a:solidFill>
                <a:latin typeface="Segoe UI"/>
              </a:defRPr>
            </a:pPr>
            <a:r>
              <a:t>3. CONSUMO DE API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Timbiras Solidária — ADS UEMA 2026 | Polo Universitário de Timbiras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327648"/>
            <a:ext cx="27733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Segoe UI"/>
              </a:defRPr>
            </a:pPr>
            <a:r>
              <a:t>Slide 5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34440"/>
            <a:ext cx="5166360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50" b="1">
                <a:solidFill>
                  <a:srgbClr val="00873E"/>
                </a:solidFill>
                <a:latin typeface="Segoe UI"/>
              </a:defRPr>
            </a:pPr>
            <a:r>
              <a:t>Por Que Usar a API do IBGE?</a:t>
            </a:r>
          </a:p>
          <a:p>
            <a:br/>
            <a:pPr>
              <a:defRPr sz="1200">
                <a:solidFill>
                  <a:srgbClr val="64748B"/>
                </a:solidFill>
                <a:latin typeface="Segoe UI"/>
              </a:defRPr>
            </a:pPr>
            <a:r>
              <a:t>Poderíamos ter inventado nomes em um arquivo fixo, mas a disciplina nos desafiou a trabalhar como desenvolvedores profissionais trabalham: consumindo dados reais de servidores públicos em tempo real.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429000"/>
            <a:ext cx="5166360" cy="10515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20440"/>
            <a:ext cx="480060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38BDF8"/>
                </a:solidFill>
                <a:latin typeface="Consolas"/>
              </a:defRPr>
            </a:pPr>
            <a:r>
              <a:t>GET https://servicodados.ibge.gov.br/api/v1/localidades/estados/MA/municipios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617720"/>
            <a:ext cx="5166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1E293B"/>
                </a:solidFill>
                <a:latin typeface="Segoe UI"/>
              </a:defRPr>
            </a:pPr>
            <a:r>
              <a:t>Obtivemos com total precisão o Código Oficial do IBGE (ID de 7 dígitos), a Microrregião e a Mesorregião de Timbiras e cidades vizinhas da Região dos Cocais.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234440"/>
            <a:ext cx="5166360" cy="480060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1417320"/>
            <a:ext cx="4617720" cy="4434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50" b="1">
                <a:solidFill>
                  <a:srgbClr val="0284C7"/>
                </a:solidFill>
                <a:latin typeface="Segoe UI"/>
              </a:defRPr>
            </a:pPr>
            <a:r>
              <a:t>Tratamento Humano dos Estados de Rede</a:t>
            </a:r>
          </a:p>
          <a:p>
            <a:br/>
            <a:pPr>
              <a:defRPr sz="1100">
                <a:solidFill>
                  <a:srgbClr val="1E293B"/>
                </a:solidFill>
                <a:latin typeface="Segoe UI"/>
              </a:defRPr>
            </a:pPr>
            <a:r>
              <a:t>1. Momento da Espera (Loading):</a:t>
            </a:r>
            <a:br/>
            <a:r>
              <a:t> Em conexões 3G ou 4G comuns no interior, a requisição pode demorar. Exibimos um spinner amigável com a mensagem: 'Consultando base pública do IBGE...'</a:t>
            </a:r>
          </a:p>
          <a:p>
            <a:br/>
            <a:pPr>
              <a:defRPr sz="1100">
                <a:solidFill>
                  <a:srgbClr val="1E293B"/>
                </a:solidFill>
                <a:latin typeface="Segoe UI"/>
              </a:defRPr>
            </a:pPr>
            <a:r>
              <a:t>2. Quando a Conexão Falha (Error):</a:t>
            </a:r>
            <a:br/>
            <a:r>
              <a:t> A vida real tem quedas de sinal. Em vez de tela branca ou travamento, exibimos um painel explicativo e o botão 'Recarregar API'.</a:t>
            </a:r>
          </a:p>
          <a:p>
            <a:br/>
            <a:pPr>
              <a:defRPr sz="1100">
                <a:solidFill>
                  <a:srgbClr val="1E293B"/>
                </a:solidFill>
                <a:latin typeface="Segoe UI"/>
              </a:defRPr>
            </a:pPr>
            <a:r>
              <a:t>3. Quando os Dados Chegam (Success):</a:t>
            </a:r>
            <a:br/>
            <a:r>
              <a:t> Convertemos o JSON com response.json() e preenchemos 217 cidades, dando destaque a Timbiras, Codó, Coroatá, Caxias, Peritoró e Alto Alegre.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8412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873E"/>
                </a:solidFill>
                <a:latin typeface="Segoe UI"/>
              </a:defRPr>
            </a:pPr>
            <a:r>
              <a:t>3. Do JSON ao Mapa: A Rota da Solidariedade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235440" y="411480"/>
            <a:ext cx="2194560" cy="34747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>
              <a:defRPr sz="1000" b="1">
                <a:solidFill>
                  <a:srgbClr val="64748B"/>
                </a:solidFill>
                <a:latin typeface="Segoe UI"/>
              </a:defRPr>
            </a:pPr>
            <a:r>
              <a:t>3. CONSUMO DE API &amp; LEAFLET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Timbiras Solidária — ADS UEMA 2026 | Polo Universitário de Timbiras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327648"/>
            <a:ext cx="27733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Segoe UI"/>
              </a:defRPr>
            </a:pPr>
            <a:r>
              <a:t>Slide 6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34440"/>
            <a:ext cx="5166360" cy="48006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417320"/>
            <a:ext cx="4709160" cy="4434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Segoe UI"/>
              </a:defRPr>
            </a:pPr>
            <a:r>
              <a:t>Código de Integração Assíncrona</a:t>
            </a:r>
          </a:p>
          <a:p>
            <a:br/>
            <a:pPr>
              <a:defRPr sz="1050">
                <a:solidFill>
                  <a:srgbClr val="E2E8F0"/>
                </a:solidFill>
                <a:latin typeface="Consolas"/>
              </a:defRPr>
            </a:pPr>
            <a:r>
              <a:t>useEffect(() =&gt; {</a:t>
            </a:r>
            <a:br/>
            <a:r>
              <a:t>  const controlador = new AbortController();</a:t>
            </a:r>
            <a:br/>
            <a:br/>
            <a:r>
              <a:t>  fetch('https://servicodados.ibge.gov.br/.../municipios', {</a:t>
            </a:r>
            <a:br/>
            <a:r>
              <a:t>    signal: controlador.signal // Evita memory leak</a:t>
            </a:r>
            <a:br/>
            <a:r>
              <a:t>  })</a:t>
            </a:r>
            <a:br/>
            <a:r>
              <a:t>    .then(res =&gt; {</a:t>
            </a:r>
            <a:br/>
            <a:r>
              <a:t>      if (!res.ok) throw new Error('Falha na resposta');</a:t>
            </a:r>
            <a:br/>
            <a:r>
              <a:t>      return res.json(); // Converte fluxo em JSON</a:t>
            </a:r>
            <a:br/>
            <a:r>
              <a:t>    })</a:t>
            </a:r>
            <a:br/>
            <a:r>
              <a:t>    .then(dados =&gt; setMunicipiosIbge(dados))</a:t>
            </a:r>
            <a:br/>
            <a:r>
              <a:t>    .catch(err =&gt; {</a:t>
            </a:r>
            <a:br/>
            <a:r>
              <a:t>      if (err.name !== 'AbortError')</a:t>
            </a:r>
            <a:br/>
            <a:r>
              <a:t>        setErro('Sinal instável. Tente novamente.');</a:t>
            </a:r>
            <a:br/>
            <a:r>
              <a:t>    })</a:t>
            </a:r>
            <a:br/>
            <a:r>
              <a:t>    .finally(() =&gt; setCarregando(false));</a:t>
            </a:r>
            <a:br/>
            <a:br/>
            <a:r>
              <a:t>  return () =&gt; controlador.abort();</a:t>
            </a:r>
            <a:br/>
            <a:r>
              <a:t>}, []);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234440"/>
            <a:ext cx="5166360" cy="2286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234440"/>
            <a:ext cx="73152" cy="2286000"/>
          </a:xfrm>
          <a:prstGeom prst="rect">
            <a:avLst/>
          </a:prstGeom>
          <a:solidFill>
            <a:srgbClr val="008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417320"/>
            <a:ext cx="466344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0873E"/>
                </a:solidFill>
                <a:latin typeface="Segoe UI"/>
              </a:defRPr>
            </a:pPr>
            <a:r>
              <a:t>O Voo da Esperança (mapa.flyTo)</a:t>
            </a:r>
          </a:p>
          <a:p>
            <a:br/>
            <a:pPr>
              <a:defRPr sz="1150">
                <a:solidFill>
                  <a:srgbClr val="1E293B"/>
                </a:solidFill>
                <a:latin typeface="Segoe UI"/>
              </a:defRPr>
            </a:pPr>
            <a:r>
              <a:t>Usamos o hook useMemo para cruzar a lista oficial do IBGE com as coordenadas geográficas de cada cidade parceira. Ao clicar no card de Coroatá ou Codó, o mapa faz uma transição suave de câmera até a cidade, com marcador e detalhes da distância de Timbiras.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749039"/>
            <a:ext cx="5166360" cy="2286000"/>
          </a:xfrm>
          <a:prstGeom prst="roundRect">
            <a:avLst/>
          </a:prstGeom>
          <a:solidFill>
            <a:srgbClr val="FEFCE8"/>
          </a:solidFill>
          <a:ln w="12700">
            <a:solidFill>
              <a:srgbClr val="FEF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3749039"/>
            <a:ext cx="73152" cy="2286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3931920"/>
            <a:ext cx="466344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B45309"/>
                </a:solidFill>
                <a:latin typeface="Segoe UI"/>
              </a:defRPr>
            </a:pPr>
            <a:r>
              <a:t>Busca Ampla por Qualquer Cidade</a:t>
            </a:r>
          </a:p>
          <a:p>
            <a:br/>
            <a:pPr>
              <a:defRPr sz="1150">
                <a:solidFill>
                  <a:srgbClr val="1E293B"/>
                </a:solidFill>
                <a:latin typeface="Segoe UI"/>
              </a:defRPr>
            </a:pPr>
            <a:r>
              <a:t>Além das cidades dos Cocais, o usuário pode selecionar qualquer município do Maranhão no dropdown dinâmico para localizar e planejar novos polos de expansão solidária.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8412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873E"/>
                </a:solidFill>
                <a:latin typeface="Segoe UI"/>
              </a:defRPr>
            </a:pPr>
            <a:r>
              <a:t>4. Organização com React: Componentes com Propósito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235440" y="411480"/>
            <a:ext cx="2194560" cy="34747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>
              <a:defRPr sz="1000" b="1">
                <a:solidFill>
                  <a:srgbClr val="64748B"/>
                </a:solidFill>
                <a:latin typeface="Segoe UI"/>
              </a:defRPr>
            </a:pPr>
            <a:r>
              <a:t>4. FRAMEWORK &amp; SPA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Timbiras Solidária — ADS UEMA 2026 | Polo Universitário de Timbiras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327648"/>
            <a:ext cx="27733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Segoe UI"/>
              </a:defRPr>
            </a:pPr>
            <a:r>
              <a:t>Slide 7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34440"/>
            <a:ext cx="4572000" cy="4800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417320"/>
            <a:ext cx="4114800" cy="4434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50" b="1">
                <a:solidFill>
                  <a:srgbClr val="00873E"/>
                </a:solidFill>
                <a:latin typeface="Segoe UI"/>
              </a:defRPr>
            </a:pPr>
            <a:r>
              <a:t>Árvore Modular de Componentes</a:t>
            </a:r>
          </a:p>
          <a:p>
            <a:br/>
            <a:pPr>
              <a:defRPr sz="1000">
                <a:solidFill>
                  <a:srgbClr val="1E293B"/>
                </a:solidFill>
                <a:latin typeface="Consolas"/>
              </a:defRPr>
            </a:pPr>
            <a:r>
              <a:t>App.jsx (Orquestrador Global)</a:t>
            </a:r>
            <a:br/>
            <a:r>
              <a:t>├── Navbar.jsx (Menu &amp; Mobile Toggle)</a:t>
            </a:r>
            <a:br/>
            <a:r>
              <a:t>├── Hero.jsx (Banner &amp; Metas ao Vivo)</a:t>
            </a:r>
            <a:br/>
            <a:r>
              <a:t>├── ConsumoApi.jsx (IBGE &amp; Leaflet)</a:t>
            </a:r>
            <a:br/>
            <a:r>
              <a:t>├── SobreCompleto.jsx (História)</a:t>
            </a:r>
            <a:br/>
            <a:r>
              <a:t>├── ComoFunciona.jsx (4 Passos)</a:t>
            </a:r>
            <a:br/>
            <a:r>
              <a:t>├── Fluxo.jsx (Percurso do Alimento)</a:t>
            </a:r>
            <a:br/>
            <a:r>
              <a:t>├── PrestacaoContas.jsx (Bairros)</a:t>
            </a:r>
            <a:br/>
            <a:r>
              <a:t>├── Doar.jsx (Chips, PIX &amp; Recibo)</a:t>
            </a:r>
            <a:br/>
            <a:r>
              <a:t>├── PlayerAudio.jsx (Trilha Sonora)</a:t>
            </a:r>
            <a:br/>
            <a:r>
              <a:t>├── Contato.jsx (Ouvidoria Local)</a:t>
            </a:r>
            <a:br/>
            <a:r>
              <a:t>└── Footer.jsx (Créditos &amp; Links)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23560" y="1234440"/>
            <a:ext cx="5836615" cy="2011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23560" y="1234440"/>
            <a:ext cx="73152" cy="2011680"/>
          </a:xfrm>
          <a:prstGeom prst="rect">
            <a:avLst/>
          </a:prstGeom>
          <a:solidFill>
            <a:srgbClr val="008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7880" y="1371600"/>
            <a:ext cx="530352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0873E"/>
                </a:solidFill>
                <a:latin typeface="Segoe UI"/>
              </a:defRPr>
            </a:pPr>
            <a:r>
              <a:t>Sem Aquele 'Piscar Branco' do Navegador</a:t>
            </a:r>
          </a:p>
          <a:p>
            <a:br/>
            <a:pPr>
              <a:defRPr sz="1150">
                <a:solidFill>
                  <a:srgbClr val="1E293B"/>
                </a:solidFill>
                <a:latin typeface="Segoe UI"/>
              </a:defRPr>
            </a:pPr>
            <a:r>
              <a:t>Como uma Single Page Application (SPA), a navegação ocorre por rolagem suave (smooth scroll), mantendo a música tocando sem cortes e os dados preenchidos no formulário preservados.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23560" y="3474720"/>
            <a:ext cx="5836615" cy="256032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97880" y="3611880"/>
            <a:ext cx="5303520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0873E"/>
                </a:solidFill>
                <a:latin typeface="Segoe UI"/>
              </a:defRPr>
            </a:pPr>
            <a:r>
              <a:t>Hooks do React que Deram Vida à Aplicação:</a:t>
            </a:r>
          </a:p>
          <a:p>
            <a:pPr>
              <a:defRPr sz="1100">
                <a:solidFill>
                  <a:srgbClr val="1E293B"/>
                </a:solidFill>
                <a:latin typeface="Segoe UI"/>
              </a:defRPr>
            </a:pPr>
            <a:r>
              <a:t>• useState:  Guarda o total arrecadado, filtro de bairros e menu aberto;</a:t>
            </a:r>
          </a:p>
          <a:p>
            <a:pPr>
              <a:defRPr sz="1100">
                <a:solidFill>
                  <a:srgbClr val="1E293B"/>
                </a:solidFill>
                <a:latin typeface="Segoe UI"/>
              </a:defRPr>
            </a:pPr>
            <a:r>
              <a:t>• useEffect:  Busca dados no IBGE e escuta eventos de clique para o som;</a:t>
            </a:r>
          </a:p>
          <a:p>
            <a:pPr>
              <a:defRPr sz="1100">
                <a:solidFill>
                  <a:srgbClr val="1E293B"/>
                </a:solidFill>
                <a:latin typeface="Segoe UI"/>
              </a:defRPr>
            </a:pPr>
            <a:r>
              <a:t>• useRef:  Controla a tag HTML5 audio sem re-renderizar a tela inteira;</a:t>
            </a:r>
          </a:p>
          <a:p>
            <a:pPr>
              <a:defRPr sz="1100">
                <a:solidFill>
                  <a:srgbClr val="1E293B"/>
                </a:solidFill>
                <a:latin typeface="Segoe UI"/>
              </a:defRPr>
            </a:pPr>
            <a:r>
              <a:t>• localStorage:  Preserva as doações mesmo fechando o navegador.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8412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873E"/>
                </a:solidFill>
                <a:latin typeface="Segoe UI"/>
              </a:defRPr>
            </a:pPr>
            <a:r>
              <a:t>5. Testando na Prática: Desafios e Correções Reais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235440" y="411480"/>
            <a:ext cx="2194560" cy="34747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>
              <a:defRPr sz="1000" b="1">
                <a:solidFill>
                  <a:srgbClr val="64748B"/>
                </a:solidFill>
                <a:latin typeface="Segoe UI"/>
              </a:defRPr>
            </a:pPr>
            <a:r>
              <a:t>5. TESTES &amp; QUALIDADE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Timbiras Solidária — ADS UEMA 2026 | Polo Universitário de Timbiras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327648"/>
            <a:ext cx="27733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Segoe UI"/>
              </a:defRPr>
            </a:pPr>
            <a:r>
              <a:t>Slide 8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34440"/>
            <a:ext cx="5166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50" b="1">
                <a:solidFill>
                  <a:srgbClr val="00873E"/>
                </a:solidFill>
                <a:latin typeface="Segoe UI"/>
              </a:defRPr>
            </a:pPr>
            <a:r>
              <a:t>O Que Deu Errado e Como Consertamos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783080"/>
            <a:ext cx="5166360" cy="1371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783080"/>
            <a:ext cx="73152" cy="1371600"/>
          </a:xfrm>
          <a:prstGeom prst="rect">
            <a:avLst/>
          </a:prstGeom>
          <a:solidFill>
            <a:srgbClr val="008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892808"/>
            <a:ext cx="480060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1E293B"/>
                </a:solidFill>
                <a:latin typeface="Segoe UI"/>
              </a:defRPr>
            </a:pPr>
            <a:r>
              <a:t>1. O Desafio do Menu no Celular</a:t>
            </a:r>
          </a:p>
          <a:p>
            <a:pPr>
              <a:defRPr sz="1050">
                <a:solidFill>
                  <a:srgbClr val="64748B"/>
                </a:solidFill>
                <a:latin typeface="Segoe UI"/>
              </a:defRPr>
            </a:pPr>
            <a:r>
              <a:t>Nos primeiros testes em telas pequenas, os botões quebravam e ocupavam metade da tela. Criamos um menu hambúrguer com estado React que se recolhe perfeitamente.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337560"/>
            <a:ext cx="5166360" cy="1371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3337560"/>
            <a:ext cx="73152" cy="1371600"/>
          </a:xfrm>
          <a:prstGeom prst="rect">
            <a:avLst/>
          </a:prstGeom>
          <a:solidFill>
            <a:srgbClr val="008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447288"/>
            <a:ext cx="480060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1E293B"/>
                </a:solidFill>
                <a:latin typeface="Segoe UI"/>
              </a:defRPr>
            </a:pPr>
            <a:r>
              <a:t>2. O Dado da API Visível na Tela</a:t>
            </a:r>
          </a:p>
          <a:p>
            <a:pPr>
              <a:defRPr sz="1050">
                <a:solidFill>
                  <a:srgbClr val="64748B"/>
                </a:solidFill>
                <a:latin typeface="Segoe UI"/>
              </a:defRPr>
            </a:pPr>
            <a:r>
              <a:t>Inicialmente fazíamos a busca no IBGE apenas para validar nomes internamente. O professor pontuou que o dado precisava ser visual. Criamos os cards com código IBGE de 7 dígitos e microrregião.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892040"/>
            <a:ext cx="5166360" cy="1371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4892040"/>
            <a:ext cx="73152" cy="1371600"/>
          </a:xfrm>
          <a:prstGeom prst="rect">
            <a:avLst/>
          </a:prstGeom>
          <a:solidFill>
            <a:srgbClr val="008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001768"/>
            <a:ext cx="480060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1E293B"/>
                </a:solidFill>
                <a:latin typeface="Segoe UI"/>
              </a:defRPr>
            </a:pPr>
            <a:r>
              <a:t>3. Aviso de Renderização em Cascata</a:t>
            </a:r>
          </a:p>
          <a:p>
            <a:pPr>
              <a:defRPr sz="1050">
                <a:solidFill>
                  <a:srgbClr val="64748B"/>
                </a:solidFill>
                <a:latin typeface="Segoe UI"/>
              </a:defRPr>
            </a:pPr>
            <a:r>
              <a:t>O linter acusava risco com setState síncrono no efeito inicial. Reorganizamos a montagem dos componentes deixando o fluxo limpo.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234440"/>
            <a:ext cx="5166360" cy="480060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1417320"/>
            <a:ext cx="4617720" cy="4434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50" b="1">
                <a:solidFill>
                  <a:srgbClr val="00873E"/>
                </a:solidFill>
                <a:latin typeface="Segoe UI"/>
              </a:defRPr>
            </a:pPr>
            <a:r>
              <a:t>Bateria de Testes Executados</a:t>
            </a:r>
          </a:p>
          <a:p>
            <a:br/>
            <a:pPr>
              <a:defRPr sz="1150">
                <a:solidFill>
                  <a:srgbClr val="1E293B"/>
                </a:solidFill>
                <a:latin typeface="Segoe UI"/>
              </a:defRPr>
            </a:pPr>
            <a:r>
              <a:t>• Build de Produção com Vite: Compilado em menos de 800ms, gerando código minificado e assets otimizados na pasta dist/.</a:t>
            </a:r>
          </a:p>
          <a:p>
            <a:br/>
            <a:pPr>
              <a:defRPr sz="1150">
                <a:solidFill>
                  <a:srgbClr val="1E293B"/>
                </a:solidFill>
                <a:latin typeface="Segoe UI"/>
              </a:defRPr>
            </a:pPr>
            <a:r>
              <a:t>• Análise Estática com Oxlint: Zero erros de sintaxe, zero alertas de React e conformidade estrita com padrões modernos de código.</a:t>
            </a:r>
          </a:p>
          <a:p>
            <a:br/>
            <a:pPr>
              <a:defRPr sz="1150">
                <a:solidFill>
                  <a:srgbClr val="1E293B"/>
                </a:solidFill>
                <a:latin typeface="Segoe UI"/>
              </a:defRPr>
            </a:pPr>
            <a:r>
              <a:t>• Teste de Formulários em Branco: O navegador bloqueia submissão vazia e orienta o usuário de forma amigável.</a:t>
            </a:r>
          </a:p>
          <a:p>
            <a:br/>
            <a:pPr>
              <a:defRPr sz="1150">
                <a:solidFill>
                  <a:srgbClr val="1E293B"/>
                </a:solidFill>
                <a:latin typeface="Segoe UI"/>
              </a:defRPr>
            </a:pPr>
            <a:r>
              <a:t>• Teste em Celulares Reais: Testamos botões de toque, teclado numérico e rolagem suave em dispositivos Android e iOS dos membros da equipe.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8412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873E"/>
                </a:solidFill>
                <a:latin typeface="Segoe UI"/>
              </a:defRPr>
            </a:pPr>
            <a:r>
              <a:t>5. A Aplicação no Ar: Acesso Livre e Transparente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235440" y="411480"/>
            <a:ext cx="2194560" cy="34747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>
              <a:defRPr sz="1000" b="1">
                <a:solidFill>
                  <a:srgbClr val="64748B"/>
                </a:solidFill>
                <a:latin typeface="Segoe UI"/>
              </a:defRPr>
            </a:pPr>
            <a:r>
              <a:t>5. PUBLICAÇÃO &amp; HOSPEDAGEM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Timbiras Solidária — ADS UEMA 2026 | Polo Universitário de Timbiras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327648"/>
            <a:ext cx="27733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Segoe UI"/>
              </a:defRPr>
            </a:pPr>
            <a:r>
              <a:t>Slide 9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34440"/>
            <a:ext cx="1072865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64748B"/>
                </a:solidFill>
                <a:latin typeface="Segoe UI"/>
              </a:defRPr>
            </a:pPr>
            <a:r>
              <a:t>O projeto não ficou preso em um computador local: está publicado na internet com certificado de segurança HTTPS e integração contínua a cada alteração da equipe.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88720" y="1965960"/>
            <a:ext cx="466344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87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2194560"/>
            <a:ext cx="42976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00873E"/>
                </a:solidFill>
                <a:latin typeface="Segoe UI"/>
              </a:defRPr>
            </a:pPr>
            <a:r>
              <a:t>Código-Fonte no GitHub</a:t>
            </a:r>
          </a:p>
          <a:p>
            <a:br/>
            <a:pPr algn="ctr">
              <a:defRPr sz="1150">
                <a:solidFill>
                  <a:srgbClr val="64748B"/>
                </a:solidFill>
                <a:latin typeface="Segoe UI"/>
              </a:defRPr>
            </a:pPr>
            <a:r>
              <a:t>Histórico completo de versões, commits explicativos da equipe, componentes React e instruções de execução.</a:t>
            </a:r>
          </a:p>
          <a:p>
            <a:br/>
            <a:pPr algn="ctr">
              <a:defRPr sz="1050" b="1">
                <a:solidFill>
                  <a:srgbClr val="00873E"/>
                </a:solidFill>
                <a:latin typeface="Consolas"/>
              </a:defRPr>
            </a:pPr>
            <a:r>
              <a:t>https://github.com/ambersonrogers/timbiras-solidaria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39535" y="1965960"/>
            <a:ext cx="466344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22415" y="2194560"/>
            <a:ext cx="42976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0284C7"/>
                </a:solidFill>
                <a:latin typeface="Segoe UI"/>
              </a:defRPr>
            </a:pPr>
            <a:r>
              <a:t>Aplicação no Ar (Vercel)</a:t>
            </a:r>
          </a:p>
          <a:p>
            <a:br/>
            <a:pPr algn="ctr">
              <a:defRPr sz="1150">
                <a:solidFill>
                  <a:srgbClr val="64748B"/>
                </a:solidFill>
                <a:latin typeface="Segoe UI"/>
              </a:defRPr>
            </a:pPr>
            <a:r>
              <a:t>Deploy em nuvem de alta velocidade, com roteamento de SPA configurado via vercel.json e acesso mundial.</a:t>
            </a:r>
          </a:p>
          <a:p>
            <a:br/>
            <a:pPr algn="ctr">
              <a:defRPr sz="1050" b="1">
                <a:solidFill>
                  <a:srgbClr val="0284C7"/>
                </a:solidFill>
                <a:latin typeface="Consolas"/>
              </a:defRPr>
            </a:pPr>
            <a:r>
              <a:t>https://timbiras-solidaria.vercel.app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88720" y="5623560"/>
            <a:ext cx="9814255" cy="45720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5687568"/>
            <a:ext cx="94484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0873E"/>
                </a:solidFill>
                <a:latin typeface="Segoe UI"/>
              </a:defRPr>
            </a:pPr>
            <a:r>
              <a:t>Ambos os links foram testados em abas anônimas e diferentes redes para garantir acesso irrestrito do professor.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8412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873E"/>
                </a:solidFill>
                <a:latin typeface="Segoe UI"/>
              </a:defRPr>
            </a:pPr>
            <a:r>
              <a:t>Demonstração Visual: Tela Inicial &amp; API do IBGE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235440" y="411480"/>
            <a:ext cx="2194560" cy="34747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>
              <a:defRPr sz="1000" b="1">
                <a:solidFill>
                  <a:srgbClr val="64748B"/>
                </a:solidFill>
                <a:latin typeface="Segoe UI"/>
              </a:defRPr>
            </a:pPr>
            <a:r>
              <a:t>EVIDÊNCIAS REAIS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Timbiras Solidária — ADS UEMA 2026 | Polo Universitário de Timbiras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327648"/>
            <a:ext cx="27733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Segoe UI"/>
              </a:defRPr>
            </a:pPr>
            <a:r>
              <a:t>Slide 10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34440"/>
            <a:ext cx="5166360" cy="4800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325880"/>
            <a:ext cx="4892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0873E"/>
                </a:solidFill>
                <a:latin typeface="Segoe UI"/>
              </a:defRPr>
            </a:pPr>
            <a:r>
              <a:t>1. Tela Inicial &amp; Painel de Metas Comunitárias</a:t>
            </a:r>
          </a:p>
        </p:txBody>
      </p:sp>
      <p:pic>
        <p:nvPicPr>
          <p:cNvPr id="10" name="Picture 9" descr="captura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737360"/>
            <a:ext cx="4892040" cy="265373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" y="4892040"/>
            <a:ext cx="4892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Segoe UI"/>
              </a:defRPr>
            </a:pPr>
            <a:r>
              <a:t>Destaque para o acolhimento visual, foto real da agricultura familiar, contador reativo de 12 cestas e barra de progresso da meta comunitária.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234440"/>
            <a:ext cx="5166360" cy="4800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325880"/>
            <a:ext cx="4892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2. Rota Solidária &amp; Dados Oficiais do IBGE</a:t>
            </a:r>
          </a:p>
        </p:txBody>
      </p:sp>
      <p:pic>
        <p:nvPicPr>
          <p:cNvPr id="14" name="Picture 13" descr="captura_api_ib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737360"/>
            <a:ext cx="4892040" cy="387495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400800" y="4892040"/>
            <a:ext cx="4892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Segoe UI"/>
              </a:defRPr>
            </a:pPr>
            <a:r>
              <a:t>Cards gerados diretamente do JSON da API pública do IBGE, exibindo código oficial de 7 dígitos (ex: Timbiras 2112307, Codó 2103307), microrregião e mapa interativo Leaflet.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8412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873E"/>
                </a:solidFill>
                <a:latin typeface="Segoe UI"/>
              </a:defRPr>
            </a:pPr>
            <a:r>
              <a:t>Demonstração Visual: Formulário, PIX &amp; Prestação de Contas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235440" y="411480"/>
            <a:ext cx="2194560" cy="34747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>
              <a:defRPr sz="1000" b="1">
                <a:solidFill>
                  <a:srgbClr val="64748B"/>
                </a:solidFill>
                <a:latin typeface="Segoe UI"/>
              </a:defRPr>
            </a:pPr>
            <a:r>
              <a:t>EVIDÊNCIAS REAIS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Timbiras Solidária — ADS UEMA 2026 | Polo Universitário de Timbiras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327648"/>
            <a:ext cx="27733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Segoe UI"/>
              </a:defRPr>
            </a:pPr>
            <a:r>
              <a:t>Slide 11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34440"/>
            <a:ext cx="5166360" cy="4800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325880"/>
            <a:ext cx="4892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B45309"/>
                </a:solidFill>
                <a:latin typeface="Segoe UI"/>
              </a:defRPr>
            </a:pPr>
            <a:r>
              <a:t>3. Formulário de Doação &amp; Cópia do PIX</a:t>
            </a:r>
          </a:p>
        </p:txBody>
      </p:sp>
      <p:pic>
        <p:nvPicPr>
          <p:cNvPr id="10" name="Picture 9" descr="captura_do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737360"/>
            <a:ext cx="4892040" cy="33341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" y="4892040"/>
            <a:ext cx="4892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Segoe UI"/>
              </a:defRPr>
            </a:pPr>
            <a:r>
              <a:t>Seleção facilitada por chips ('1 Cesta', '2 Cestas', '5 Cestas'), chave PIX com botão de cópia instantânea e formulário completo com validação nativa.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234440"/>
            <a:ext cx="5166360" cy="4800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325880"/>
            <a:ext cx="4892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0873E"/>
                </a:solidFill>
                <a:latin typeface="Segoe UI"/>
              </a:defRPr>
            </a:pPr>
            <a:r>
              <a:t>4. Transparência por Bairro e Zona Rural</a:t>
            </a:r>
          </a:p>
        </p:txBody>
      </p:sp>
      <p:pic>
        <p:nvPicPr>
          <p:cNvPr id="14" name="Picture 13" descr="captura_prestacao_cont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737360"/>
            <a:ext cx="4892040" cy="368872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400800" y="4892040"/>
            <a:ext cx="4892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Segoe UI"/>
              </a:defRPr>
            </a:pPr>
            <a:r>
              <a:t>Busca instantânea por bairros (Mutirão, Centro, Olaria, etc.), destaque para a Zona Rural (35 cestas) e somatório oficial transparente (215 cestas entregues).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8412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873E"/>
                </a:solidFill>
                <a:latin typeface="Segoe UI"/>
              </a:defRPr>
            </a:pPr>
            <a:r>
              <a:t>Demonstração Visual: Adaptação em Telas Mobile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235440" y="411480"/>
            <a:ext cx="2194560" cy="34747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>
              <a:defRPr sz="1000" b="1">
                <a:solidFill>
                  <a:srgbClr val="64748B"/>
                </a:solidFill>
                <a:latin typeface="Segoe UI"/>
              </a:defRPr>
            </a:pPr>
            <a:r>
              <a:t>RESPONSIVIDADE REAL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Timbiras Solidária — ADS UEMA 2026 | Polo Universitário de Timbiras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327648"/>
            <a:ext cx="27733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Segoe UI"/>
              </a:defRPr>
            </a:pPr>
            <a:r>
              <a:t>Slide 12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34440"/>
            <a:ext cx="3291840" cy="4800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325880"/>
            <a:ext cx="3108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0873E"/>
                </a:solidFill>
                <a:latin typeface="Segoe UI"/>
              </a:defRPr>
            </a:pPr>
            <a:r>
              <a:t>Menu Hambúrguer Aberto</a:t>
            </a:r>
          </a:p>
        </p:txBody>
      </p:sp>
      <p:pic>
        <p:nvPicPr>
          <p:cNvPr id="10" name="Picture 9" descr="captura_mobile_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691640"/>
            <a:ext cx="1774629" cy="3840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2960" y="5623560"/>
            <a:ext cx="3108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64748B"/>
                </a:solidFill>
                <a:latin typeface="Segoe UI"/>
              </a:defRPr>
            </a:pPr>
            <a:r>
              <a:t>Smartphone (390x844px)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1234440"/>
            <a:ext cx="7162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873E"/>
                </a:solidFill>
                <a:latin typeface="Segoe UI"/>
              </a:defRPr>
            </a:pPr>
            <a:r>
              <a:t>Pensado para a Realidade de Quem Acessa pelo Celular</a:t>
            </a:r>
          </a:p>
          <a:p>
            <a:pPr>
              <a:defRPr sz="1150">
                <a:solidFill>
                  <a:srgbClr val="64748B"/>
                </a:solidFill>
                <a:latin typeface="Segoe UI"/>
              </a:defRPr>
            </a:pPr>
            <a:r>
              <a:t>No Maranhão, a grande maioria acessa a internet exclusivamente pelo smartphone. Por isso, a adaptação mobile foi prioridade técnica e humana: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103120"/>
            <a:ext cx="716249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0" y="2103120"/>
            <a:ext cx="73152" cy="868680"/>
          </a:xfrm>
          <a:prstGeom prst="rect">
            <a:avLst/>
          </a:prstGeom>
          <a:solidFill>
            <a:srgbClr val="008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2176272"/>
            <a:ext cx="6766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1E293B"/>
                </a:solidFill>
                <a:latin typeface="Segoe UI"/>
              </a:defRPr>
            </a:pPr>
            <a:r>
              <a:t>Menu Retrátil Acessível:</a:t>
            </a:r>
          </a:p>
          <a:p>
            <a:pPr>
              <a:defRPr sz="1050">
                <a:solidFill>
                  <a:srgbClr val="64748B"/>
                </a:solidFill>
                <a:latin typeface="Segoe UI"/>
              </a:defRPr>
            </a:pPr>
            <a:r>
              <a:t> O botão hambúrguer é fácil de tocar com o polegar, não polui a visão inicial e recolhe sozinho assim que o usuário clica na seção.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3063240"/>
            <a:ext cx="716249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97680" y="3063240"/>
            <a:ext cx="73152" cy="868680"/>
          </a:xfrm>
          <a:prstGeom prst="rect">
            <a:avLst/>
          </a:prstGeom>
          <a:solidFill>
            <a:srgbClr val="008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3136392"/>
            <a:ext cx="6766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1E293B"/>
                </a:solidFill>
                <a:latin typeface="Segoe UI"/>
              </a:defRPr>
            </a:pPr>
            <a:r>
              <a:t>Cards em Coluna Única:</a:t>
            </a:r>
          </a:p>
          <a:p>
            <a:pPr>
              <a:defRPr sz="1050">
                <a:solidFill>
                  <a:srgbClr val="64748B"/>
                </a:solidFill>
                <a:latin typeface="Segoe UI"/>
              </a:defRPr>
            </a:pPr>
            <a:r>
              <a:t> Os 13 bairros e os municípios do IBGE se reorganizam automaticamente em cascata vertical, sem barra de rolagem horizontal quebrada.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4023360"/>
            <a:ext cx="716249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97680" y="4023360"/>
            <a:ext cx="73152" cy="868680"/>
          </a:xfrm>
          <a:prstGeom prst="rect">
            <a:avLst/>
          </a:prstGeom>
          <a:solidFill>
            <a:srgbClr val="008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26280" y="4096512"/>
            <a:ext cx="6766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1E293B"/>
                </a:solidFill>
                <a:latin typeface="Segoe UI"/>
              </a:defRPr>
            </a:pPr>
            <a:r>
              <a:t>Player Compacto:</a:t>
            </a:r>
          </a:p>
          <a:p>
            <a:pPr>
              <a:defRPr sz="1050">
                <a:solidFill>
                  <a:srgbClr val="64748B"/>
                </a:solidFill>
                <a:latin typeface="Segoe UI"/>
              </a:defRPr>
            </a:pPr>
            <a:r>
              <a:t> A trilha sonora fica ancorada no canto inferior direito sem atrapalhar a leitura dos formulários.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4983480"/>
            <a:ext cx="716249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97680" y="4983480"/>
            <a:ext cx="73152" cy="868680"/>
          </a:xfrm>
          <a:prstGeom prst="rect">
            <a:avLst/>
          </a:prstGeom>
          <a:solidFill>
            <a:srgbClr val="008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26280" y="5056632"/>
            <a:ext cx="6766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1E293B"/>
                </a:solidFill>
                <a:latin typeface="Segoe UI"/>
              </a:defRPr>
            </a:pPr>
            <a:r>
              <a:t>Teclado Numérico Otimizado:</a:t>
            </a:r>
          </a:p>
          <a:p>
            <a:pPr>
              <a:defRPr sz="1050">
                <a:solidFill>
                  <a:srgbClr val="64748B"/>
                </a:solidFill>
                <a:latin typeface="Segoe UI"/>
              </a:defRPr>
            </a:pPr>
            <a:r>
              <a:t> Campos de quantidade e valores abrem automaticamente o teclado numérico nativo do celular.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8412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0873E"/>
                </a:solidFill>
                <a:latin typeface="Segoe UI"/>
              </a:defRPr>
            </a:pPr>
            <a:r>
              <a:t>6. Conclusão: O Que Aprendemos na Pele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235440" y="411480"/>
            <a:ext cx="2194560" cy="34747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>
              <a:defRPr sz="1000" b="1">
                <a:solidFill>
                  <a:srgbClr val="64748B"/>
                </a:solidFill>
                <a:latin typeface="Segoe UI"/>
              </a:defRPr>
            </a:pPr>
            <a:r>
              <a:t>6. APRENDIZADOS &amp; ABNT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26364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Timbiras Solidária — ADS UEMA 2026 | Polo Universitário de Timbiras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327648"/>
            <a:ext cx="27733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Segoe UI"/>
              </a:defRPr>
            </a:pPr>
            <a:r>
              <a:t>Slide 13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34440"/>
            <a:ext cx="5166360" cy="2286000"/>
          </a:xfrm>
          <a:prstGeom prst="roundRect">
            <a:avLst/>
          </a:prstGeom>
          <a:solidFill>
            <a:srgbClr val="FEFCE8"/>
          </a:solidFill>
          <a:ln w="12700">
            <a:solidFill>
              <a:srgbClr val="FEF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234440"/>
            <a:ext cx="73152" cy="2286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371600"/>
            <a:ext cx="4754880" cy="1965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B45309"/>
                </a:solidFill>
                <a:latin typeface="Segoe UI"/>
              </a:defRPr>
            </a:pPr>
            <a:r>
              <a:t>Tecnologia Feita por Pessoas, Para Pessoas:</a:t>
            </a:r>
          </a:p>
          <a:p>
            <a:br/>
            <a:pPr>
              <a:defRPr sz="1150">
                <a:solidFill>
                  <a:srgbClr val="1E293B"/>
                </a:solidFill>
                <a:latin typeface="Segoe UI"/>
              </a:defRPr>
            </a:pPr>
            <a:r>
              <a:t>Aprendemos que um framework moderno como o React ou uma API do governo só têm valor quando resolvem um problema humano real. O código ganha vida quando serve para combater a fome e valorizar a nossa terra.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749039"/>
            <a:ext cx="5166360" cy="2286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749039"/>
            <a:ext cx="73152" cy="2286000"/>
          </a:xfrm>
          <a:prstGeom prst="rect">
            <a:avLst/>
          </a:prstGeom>
          <a:solidFill>
            <a:srgbClr val="008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886200"/>
            <a:ext cx="4754880" cy="1965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00873E"/>
                </a:solidFill>
                <a:latin typeface="Segoe UI"/>
              </a:defRPr>
            </a:pPr>
            <a:r>
              <a:t>Prontos para a Nota 3:</a:t>
            </a:r>
          </a:p>
          <a:p>
            <a:br/>
            <a:pPr>
              <a:defRPr sz="1150">
                <a:solidFill>
                  <a:srgbClr val="1E293B"/>
                </a:solidFill>
                <a:latin typeface="Segoe UI"/>
              </a:defRPr>
            </a:pPr>
            <a:r>
              <a:t>A equipe conclui esta etapa com o sistema no ar, dados reais integrados e muito orgulho do que construímos. Estamos preparados e entusiasmados para a apresentação presencial no polo de Timbiras!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234440"/>
            <a:ext cx="5166360" cy="48006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417320"/>
            <a:ext cx="4709160" cy="4434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0873E"/>
                </a:solidFill>
                <a:latin typeface="Segoe UI"/>
              </a:defRPr>
            </a:pPr>
            <a:r>
              <a:t>Referências Bibliográficas (Normas ABNT)</a:t>
            </a:r>
          </a:p>
          <a:p>
            <a:br/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• BRASIL. Instituto Brasileiro de Geografia e Estatística (IBGE). API de Serviços de Dados: Localidades. Rio de Janeiro: IBGE, 2026. Disponível em: &lt;https://servicodados.ibge.gov.br/api/docs/localidades&gt;. Acesso em: 17 set. 2026.</a:t>
            </a:r>
          </a:p>
          <a:p>
            <a:br/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• LENNON, John. Imagine. In: Imagine. Produção: John Lennon, Yoko Ono, Phil Spector. Ascot Sound Studios: Apple Records, 1971. 1 faixa musical (3 min 3 s). Uso pedagógico e cultural.</a:t>
            </a:r>
          </a:p>
          <a:p>
            <a:br/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• MDN WEB DOCS. Fetch API. Mozilla Developer Network, 2026. Disponível em: &lt;https://developer.mozilla.org/pt-BR/docs/Web/API/Fetch_API&gt;. Acesso em: 17 set. 2026.</a:t>
            </a:r>
          </a:p>
          <a:p>
            <a:br/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• ORGANIZAÇÃO DAS NAÇÕES UNIDAS (ONU). Objetivo de Desenvolvimento Sustentável 2: Fome Zero e Agricultura Sustentável. Brasília: Nações Unidas Brasil, 2015. Disponível em: &lt;https://brasil.un.org/pt-br/sdgs/2&gt;. Acesso em: 17 set. 2026.</a:t>
            </a:r>
          </a:p>
          <a:p>
            <a:br/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• REACT. React — A JavaScript library for building user interfaces. Versão 19. Meta Open Source, 2026. Disponível em: &lt;https://react.dev/&gt;. Acesso em: 17 set. 2026.</a:t>
            </a:r>
          </a:p>
          <a:p>
            <a:br/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• VITE. Next Generation Frontend Tooling. Evan You &amp; Vite Team, 2026. Disponível em: &lt;https://vitejs.dev/&gt;. Acesso em: 17 set.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