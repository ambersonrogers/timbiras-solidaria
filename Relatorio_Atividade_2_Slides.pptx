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berson Rogers Lindoso da Silva" userId="1e7355cac7a206dd" providerId="LiveId" clId="{F3CFAD84-59F1-4795-A6D8-6D79CCCB1EA4}"/>
    <pc:docChg chg="undo custSel modSld">
      <pc:chgData name="Amberson Rogers Lindoso da Silva" userId="1e7355cac7a206dd" providerId="LiveId" clId="{F3CFAD84-59F1-4795-A6D8-6D79CCCB1EA4}" dt="2026-09-17T17:33:37.865" v="171" actId="6549"/>
      <pc:docMkLst>
        <pc:docMk/>
      </pc:docMkLst>
      <pc:sldChg chg="modSp mod">
        <pc:chgData name="Amberson Rogers Lindoso da Silva" userId="1e7355cac7a206dd" providerId="LiveId" clId="{F3CFAD84-59F1-4795-A6D8-6D79CCCB1EA4}" dt="2026-09-17T17:22:47.199" v="29" actId="113"/>
        <pc:sldMkLst>
          <pc:docMk/>
          <pc:sldMk cId="0" sldId="256"/>
        </pc:sldMkLst>
        <pc:spChg chg="mod">
          <ac:chgData name="Amberson Rogers Lindoso da Silva" userId="1e7355cac7a206dd" providerId="LiveId" clId="{F3CFAD84-59F1-4795-A6D8-6D79CCCB1EA4}" dt="2026-09-17T17:22:47.199" v="29" actId="113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Amberson Rogers Lindoso da Silva" userId="1e7355cac7a206dd" providerId="LiveId" clId="{F3CFAD84-59F1-4795-A6D8-6D79CCCB1EA4}" dt="2026-09-17T17:27:08.993" v="72" actId="403"/>
        <pc:sldMkLst>
          <pc:docMk/>
          <pc:sldMk cId="0" sldId="257"/>
        </pc:sldMkLst>
        <pc:spChg chg="mod">
          <ac:chgData name="Amberson Rogers Lindoso da Silva" userId="1e7355cac7a206dd" providerId="LiveId" clId="{F3CFAD84-59F1-4795-A6D8-6D79CCCB1EA4}" dt="2026-09-17T17:23:45.265" v="33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Amberson Rogers Lindoso da Silva" userId="1e7355cac7a206dd" providerId="LiveId" clId="{F3CFAD84-59F1-4795-A6D8-6D79CCCB1EA4}" dt="2026-09-17T17:23:52.944" v="34" actId="123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mberson Rogers Lindoso da Silva" userId="1e7355cac7a206dd" providerId="LiveId" clId="{F3CFAD84-59F1-4795-A6D8-6D79CCCB1EA4}" dt="2026-09-17T17:27:08.993" v="72" actId="403"/>
          <ac:spMkLst>
            <pc:docMk/>
            <pc:sldMk cId="0" sldId="257"/>
            <ac:spMk id="13" creationId="{00000000-0000-0000-0000-000000000000}"/>
          </ac:spMkLst>
        </pc:spChg>
      </pc:sldChg>
      <pc:sldChg chg="modSp mod">
        <pc:chgData name="Amberson Rogers Lindoso da Silva" userId="1e7355cac7a206dd" providerId="LiveId" clId="{F3CFAD84-59F1-4795-A6D8-6D79CCCB1EA4}" dt="2026-09-17T17:27:20.811" v="76" actId="403"/>
        <pc:sldMkLst>
          <pc:docMk/>
          <pc:sldMk cId="0" sldId="258"/>
        </pc:sldMkLst>
        <pc:spChg chg="mod">
          <ac:chgData name="Amberson Rogers Lindoso da Silva" userId="1e7355cac7a206dd" providerId="LiveId" clId="{F3CFAD84-59F1-4795-A6D8-6D79CCCB1EA4}" dt="2026-09-17T17:27:15.354" v="73" actId="403"/>
          <ac:spMkLst>
            <pc:docMk/>
            <pc:sldMk cId="0" sldId="258"/>
            <ac:spMk id="8" creationId="{00000000-0000-0000-0000-000000000000}"/>
          </ac:spMkLst>
        </pc:spChg>
        <pc:spChg chg="mod">
          <ac:chgData name="Amberson Rogers Lindoso da Silva" userId="1e7355cac7a206dd" providerId="LiveId" clId="{F3CFAD84-59F1-4795-A6D8-6D79CCCB1EA4}" dt="2026-09-17T17:24:15.661" v="40" actId="123"/>
          <ac:spMkLst>
            <pc:docMk/>
            <pc:sldMk cId="0" sldId="258"/>
            <ac:spMk id="11" creationId="{00000000-0000-0000-0000-000000000000}"/>
          </ac:spMkLst>
        </pc:spChg>
        <pc:spChg chg="mod">
          <ac:chgData name="Amberson Rogers Lindoso da Silva" userId="1e7355cac7a206dd" providerId="LiveId" clId="{F3CFAD84-59F1-4795-A6D8-6D79CCCB1EA4}" dt="2026-09-17T17:27:20.811" v="76" actId="403"/>
          <ac:spMkLst>
            <pc:docMk/>
            <pc:sldMk cId="0" sldId="258"/>
            <ac:spMk id="13" creationId="{00000000-0000-0000-0000-000000000000}"/>
          </ac:spMkLst>
        </pc:spChg>
      </pc:sldChg>
      <pc:sldChg chg="modSp mod">
        <pc:chgData name="Amberson Rogers Lindoso da Silva" userId="1e7355cac7a206dd" providerId="LiveId" clId="{F3CFAD84-59F1-4795-A6D8-6D79CCCB1EA4}" dt="2026-09-17T17:27:44.047" v="80" actId="403"/>
        <pc:sldMkLst>
          <pc:docMk/>
          <pc:sldMk cId="0" sldId="259"/>
        </pc:sldMkLst>
        <pc:spChg chg="mod">
          <ac:chgData name="Amberson Rogers Lindoso da Silva" userId="1e7355cac7a206dd" providerId="LiveId" clId="{F3CFAD84-59F1-4795-A6D8-6D79CCCB1EA4}" dt="2026-09-17T17:27:32.622" v="79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Amberson Rogers Lindoso da Silva" userId="1e7355cac7a206dd" providerId="LiveId" clId="{F3CFAD84-59F1-4795-A6D8-6D79CCCB1EA4}" dt="2026-09-17T17:26:14.327" v="64" actId="403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mberson Rogers Lindoso da Silva" userId="1e7355cac7a206dd" providerId="LiveId" clId="{F3CFAD84-59F1-4795-A6D8-6D79CCCB1EA4}" dt="2026-09-17T17:27:44.047" v="80" actId="403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mberson Rogers Lindoso da Silva" userId="1e7355cac7a206dd" providerId="LiveId" clId="{F3CFAD84-59F1-4795-A6D8-6D79CCCB1EA4}" dt="2026-09-17T17:26:18.424" v="66" actId="403"/>
          <ac:spMkLst>
            <pc:docMk/>
            <pc:sldMk cId="0" sldId="259"/>
            <ac:spMk id="14" creationId="{00000000-0000-0000-0000-000000000000}"/>
          </ac:spMkLst>
        </pc:spChg>
      </pc:sldChg>
      <pc:sldChg chg="modSp mod">
        <pc:chgData name="Amberson Rogers Lindoso da Silva" userId="1e7355cac7a206dd" providerId="LiveId" clId="{F3CFAD84-59F1-4795-A6D8-6D79CCCB1EA4}" dt="2026-09-17T17:28:18.880" v="87" actId="403"/>
        <pc:sldMkLst>
          <pc:docMk/>
          <pc:sldMk cId="0" sldId="260"/>
        </pc:sldMkLst>
        <pc:spChg chg="mod">
          <ac:chgData name="Amberson Rogers Lindoso da Silva" userId="1e7355cac7a206dd" providerId="LiveId" clId="{F3CFAD84-59F1-4795-A6D8-6D79CCCB1EA4}" dt="2026-09-17T17:26:57.307" v="71" actId="123"/>
          <ac:spMkLst>
            <pc:docMk/>
            <pc:sldMk cId="0" sldId="260"/>
            <ac:spMk id="8" creationId="{00000000-0000-0000-0000-000000000000}"/>
          </ac:spMkLst>
        </pc:spChg>
        <pc:spChg chg="mod">
          <ac:chgData name="Amberson Rogers Lindoso da Silva" userId="1e7355cac7a206dd" providerId="LiveId" clId="{F3CFAD84-59F1-4795-A6D8-6D79CCCB1EA4}" dt="2026-09-17T17:28:18.880" v="87" actId="403"/>
          <ac:spMkLst>
            <pc:docMk/>
            <pc:sldMk cId="0" sldId="260"/>
            <ac:spMk id="10" creationId="{00000000-0000-0000-0000-000000000000}"/>
          </ac:spMkLst>
        </pc:spChg>
        <pc:spChg chg="mod">
          <ac:chgData name="Amberson Rogers Lindoso da Silva" userId="1e7355cac7a206dd" providerId="LiveId" clId="{F3CFAD84-59F1-4795-A6D8-6D79CCCB1EA4}" dt="2026-09-17T17:26:51.284" v="70" actId="403"/>
          <ac:spMkLst>
            <pc:docMk/>
            <pc:sldMk cId="0" sldId="260"/>
            <ac:spMk id="13" creationId="{00000000-0000-0000-0000-000000000000}"/>
          </ac:spMkLst>
        </pc:spChg>
      </pc:sldChg>
      <pc:sldChg chg="modSp mod">
        <pc:chgData name="Amberson Rogers Lindoso da Silva" userId="1e7355cac7a206dd" providerId="LiveId" clId="{F3CFAD84-59F1-4795-A6D8-6D79CCCB1EA4}" dt="2026-09-17T17:30:23.740" v="119" actId="255"/>
        <pc:sldMkLst>
          <pc:docMk/>
          <pc:sldMk cId="0" sldId="261"/>
        </pc:sldMkLst>
        <pc:spChg chg="mod">
          <ac:chgData name="Amberson Rogers Lindoso da Silva" userId="1e7355cac7a206dd" providerId="LiveId" clId="{F3CFAD84-59F1-4795-A6D8-6D79CCCB1EA4}" dt="2026-09-17T17:30:23.740" v="119" actId="255"/>
          <ac:spMkLst>
            <pc:docMk/>
            <pc:sldMk cId="0" sldId="261"/>
            <ac:spMk id="9" creationId="{00000000-0000-0000-0000-000000000000}"/>
          </ac:spMkLst>
        </pc:spChg>
        <pc:spChg chg="mod">
          <ac:chgData name="Amberson Rogers Lindoso da Silva" userId="1e7355cac7a206dd" providerId="LiveId" clId="{F3CFAD84-59F1-4795-A6D8-6D79CCCB1EA4}" dt="2026-09-17T17:29:44.799" v="103" actId="403"/>
          <ac:spMkLst>
            <pc:docMk/>
            <pc:sldMk cId="0" sldId="261"/>
            <ac:spMk id="12" creationId="{00000000-0000-0000-0000-000000000000}"/>
          </ac:spMkLst>
        </pc:spChg>
        <pc:spChg chg="mod">
          <ac:chgData name="Amberson Rogers Lindoso da Silva" userId="1e7355cac7a206dd" providerId="LiveId" clId="{F3CFAD84-59F1-4795-A6D8-6D79CCCB1EA4}" dt="2026-09-17T17:29:49.894" v="105" actId="122"/>
          <ac:spMkLst>
            <pc:docMk/>
            <pc:sldMk cId="0" sldId="261"/>
            <ac:spMk id="15" creationId="{00000000-0000-0000-0000-000000000000}"/>
          </ac:spMkLst>
        </pc:spChg>
      </pc:sldChg>
      <pc:sldChg chg="modSp mod">
        <pc:chgData name="Amberson Rogers Lindoso da Silva" userId="1e7355cac7a206dd" providerId="LiveId" clId="{F3CFAD84-59F1-4795-A6D8-6D79CCCB1EA4}" dt="2026-09-17T17:33:37.865" v="171" actId="6549"/>
        <pc:sldMkLst>
          <pc:docMk/>
          <pc:sldMk cId="0" sldId="262"/>
        </pc:sldMkLst>
        <pc:spChg chg="mod">
          <ac:chgData name="Amberson Rogers Lindoso da Silva" userId="1e7355cac7a206dd" providerId="LiveId" clId="{F3CFAD84-59F1-4795-A6D8-6D79CCCB1EA4}" dt="2026-09-17T17:33:37.865" v="171" actId="6549"/>
          <ac:spMkLst>
            <pc:docMk/>
            <pc:sldMk cId="0" sldId="262"/>
            <ac:spMk id="9" creationId="{00000000-0000-0000-0000-000000000000}"/>
          </ac:spMkLst>
        </pc:spChg>
        <pc:spChg chg="mod">
          <ac:chgData name="Amberson Rogers Lindoso da Silva" userId="1e7355cac7a206dd" providerId="LiveId" clId="{F3CFAD84-59F1-4795-A6D8-6D79CCCB1EA4}" dt="2026-09-17T17:32:12.219" v="135" actId="122"/>
          <ac:spMkLst>
            <pc:docMk/>
            <pc:sldMk cId="0" sldId="262"/>
            <ac:spMk id="12" creationId="{00000000-0000-0000-0000-000000000000}"/>
          </ac:spMkLst>
        </pc:spChg>
        <pc:spChg chg="mod">
          <ac:chgData name="Amberson Rogers Lindoso da Silva" userId="1e7355cac7a206dd" providerId="LiveId" clId="{F3CFAD84-59F1-4795-A6D8-6D79CCCB1EA4}" dt="2026-09-17T17:32:02.757" v="132" actId="1076"/>
          <ac:spMkLst>
            <pc:docMk/>
            <pc:sldMk cId="0" sldId="262"/>
            <ac:spMk id="1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59" y="320040"/>
            <a:ext cx="8085067" cy="1477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defRPr sz="1600">
                <a:solidFill>
                  <a:srgbClr val="F1F5F9"/>
                </a:solidFill>
                <a:latin typeface="Segoe UI"/>
              </a:defRPr>
            </a:pPr>
            <a:r>
              <a:rPr sz="1600" dirty="0">
                <a:solidFill>
                  <a:srgbClr val="F1F5F9"/>
                </a:solidFill>
                <a:latin typeface="Segoe UI"/>
              </a:rPr>
              <a:t>UNIVERSIDADE ESTADUAL DO MARANHÃO – UEMA</a:t>
            </a:r>
          </a:p>
          <a:p>
            <a:pPr algn="just">
              <a:defRPr sz="1600">
                <a:solidFill>
                  <a:srgbClr val="F1F5F9"/>
                </a:solidFill>
                <a:latin typeface="Segoe UI"/>
              </a:defRPr>
            </a:pPr>
            <a:r>
              <a:rPr sz="1600" dirty="0">
                <a:solidFill>
                  <a:srgbClr val="F1F5F9"/>
                </a:solidFill>
                <a:latin typeface="Segoe UI"/>
              </a:rPr>
              <a:t>NÚCLEO DE TECNOLOGIAS PARA EDUCAÇÃO – UEMANET</a:t>
            </a:r>
          </a:p>
          <a:p>
            <a:pPr algn="just">
              <a:defRPr sz="1600">
                <a:solidFill>
                  <a:srgbClr val="F1F5F9"/>
                </a:solidFill>
                <a:latin typeface="Segoe UI"/>
              </a:defRPr>
            </a:pPr>
            <a:r>
              <a:rPr sz="1600" dirty="0">
                <a:solidFill>
                  <a:srgbClr val="F1F5F9"/>
                </a:solidFill>
                <a:latin typeface="Segoe UI"/>
              </a:rPr>
              <a:t>CURSO SUPERIOR DE TECNOLOGIA EM ANÁLISE E DESENVOLVIMENTO DE SISTEMAS</a:t>
            </a:r>
          </a:p>
          <a:p>
            <a:pPr algn="just">
              <a:defRPr sz="1600">
                <a:solidFill>
                  <a:srgbClr val="F1F5F9"/>
                </a:solidFill>
                <a:latin typeface="Segoe UI"/>
              </a:defRPr>
            </a:pPr>
            <a:r>
              <a:rPr sz="1600" dirty="0">
                <a:solidFill>
                  <a:srgbClr val="F1F5F9"/>
                </a:solidFill>
                <a:latin typeface="Segoe UI"/>
              </a:rPr>
              <a:t>DISCIPLINA: DESENVOLVIMENTO WEB</a:t>
            </a:r>
            <a:endParaRPr lang="pt-BR" sz="1600" dirty="0">
              <a:solidFill>
                <a:srgbClr val="F1F5F9"/>
              </a:solidFill>
              <a:latin typeface="Segoe UI"/>
            </a:endParaRPr>
          </a:p>
          <a:p>
            <a:pPr algn="just">
              <a:defRPr sz="1600">
                <a:solidFill>
                  <a:srgbClr val="F1F5F9"/>
                </a:solidFill>
                <a:latin typeface="Segoe UI"/>
              </a:defRPr>
            </a:pPr>
            <a:r>
              <a:rPr sz="1600" dirty="0">
                <a:solidFill>
                  <a:srgbClr val="F1F5F9"/>
                </a:solidFill>
                <a:latin typeface="Segoe UI"/>
              </a:rPr>
              <a:t>DOCENTE: PROF. EDILSON CARLOS SILVA LIMA </a:t>
            </a:r>
            <a:endParaRPr lang="pt-BR" sz="1600" dirty="0">
              <a:solidFill>
                <a:srgbClr val="F1F5F9"/>
              </a:solidFill>
              <a:latin typeface="Segoe UI"/>
            </a:endParaRPr>
          </a:p>
          <a:p>
            <a:pPr algn="just">
              <a:defRPr sz="1600">
                <a:solidFill>
                  <a:srgbClr val="F1F5F9"/>
                </a:solidFill>
                <a:latin typeface="Segoe UI"/>
              </a:defRPr>
            </a:pPr>
            <a:r>
              <a:rPr sz="1600" dirty="0">
                <a:solidFill>
                  <a:srgbClr val="F1F5F9"/>
                </a:solidFill>
                <a:latin typeface="Segoe UI"/>
              </a:rPr>
              <a:t>TUTORA: PROF.ª SIMONE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10545775" cy="1371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926080" y="1965960"/>
            <a:ext cx="6339535" cy="365760"/>
          </a:xfrm>
          <a:prstGeom prst="roundRect">
            <a:avLst/>
          </a:prstGeom>
          <a:solidFill>
            <a:srgbClr val="0C321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>
              <a:defRPr sz="1100" b="1">
                <a:solidFill>
                  <a:srgbClr val="4ADE80"/>
                </a:solidFill>
                <a:latin typeface="Segoe UI"/>
              </a:defRPr>
            </a:pPr>
            <a:r>
              <a:t>TECNOLOGIA A SERVIÇO DA VIDA  •  ODS 2 &amp; ODS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2316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Segoe UI"/>
              </a:rPr>
              <a:t>TIMBIRAS </a:t>
            </a:r>
            <a:r>
              <a:rPr sz="4600" b="1">
                <a:solidFill>
                  <a:srgbClr val="4ADE80"/>
                </a:solidFill>
                <a:latin typeface="Segoe UI"/>
              </a:rPr>
              <a:t>SOLIDÁRIA </a:t>
            </a:r>
            <a:r>
              <a:rPr sz="4000">
                <a:solidFill>
                  <a:srgbClr val="FFFFFF"/>
                </a:solidFill>
                <a:latin typeface="Segoe UI"/>
              </a:rPr>
              <a:t>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566160"/>
            <a:ext cx="88998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rPr dirty="0"/>
              <a:t>Plataforma Web </a:t>
            </a:r>
            <a:r>
              <a:rPr dirty="0" err="1"/>
              <a:t>Comunitária</a:t>
            </a:r>
            <a:r>
              <a:rPr dirty="0"/>
              <a:t> de </a:t>
            </a:r>
            <a:r>
              <a:rPr dirty="0" err="1"/>
              <a:t>Mapeamento</a:t>
            </a:r>
            <a:r>
              <a:rPr dirty="0"/>
              <a:t>, </a:t>
            </a:r>
            <a:r>
              <a:rPr dirty="0" err="1"/>
              <a:t>Solidariedade</a:t>
            </a:r>
            <a:r>
              <a:rPr dirty="0"/>
              <a:t> e </a:t>
            </a:r>
            <a:r>
              <a:rPr dirty="0" err="1"/>
              <a:t>Resiliência</a:t>
            </a:r>
            <a:r>
              <a:rPr dirty="0"/>
              <a:t> </a:t>
            </a:r>
            <a:r>
              <a:rPr dirty="0" err="1"/>
              <a:t>Alimentar</a:t>
            </a:r>
            <a:r>
              <a:rPr dirty="0"/>
              <a:t> no Interior do Maranhão</a:t>
            </a:r>
          </a:p>
          <a:p>
            <a:pPr algn="ctr">
              <a:defRPr sz="1250">
                <a:solidFill>
                  <a:srgbClr val="CBD5E1"/>
                </a:solidFill>
                <a:latin typeface="Segoe UI"/>
              </a:defRPr>
            </a:pPr>
            <a:r>
              <a:rPr dirty="0"/>
              <a:t>Uma </a:t>
            </a:r>
            <a:r>
              <a:rPr dirty="0" err="1"/>
              <a:t>ponte</a:t>
            </a:r>
            <a:r>
              <a:rPr dirty="0"/>
              <a:t> digital entre a </a:t>
            </a:r>
            <a:r>
              <a:rPr dirty="0" err="1"/>
              <a:t>generosidade</a:t>
            </a:r>
            <a:r>
              <a:rPr dirty="0"/>
              <a:t> de quem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doar</a:t>
            </a:r>
            <a:r>
              <a:rPr dirty="0"/>
              <a:t> e a </a:t>
            </a:r>
            <a:r>
              <a:rPr dirty="0" err="1"/>
              <a:t>dignidade</a:t>
            </a:r>
            <a:r>
              <a:rPr dirty="0"/>
              <a:t> de quem </a:t>
            </a:r>
            <a:r>
              <a:rPr dirty="0" err="1"/>
              <a:t>precisa</a:t>
            </a:r>
            <a:r>
              <a:rPr dirty="0"/>
              <a:t> </a:t>
            </a:r>
            <a:r>
              <a:rPr dirty="0" err="1"/>
              <a:t>receber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1645920" y="4754880"/>
            <a:ext cx="8899855" cy="1508760"/>
          </a:xfrm>
          <a:prstGeom prst="roundRect">
            <a:avLst/>
          </a:prstGeom>
          <a:solidFill>
            <a:srgbClr val="0C321D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64592" rtlCol="0" anchor="ctr"/>
          <a:lstStyle/>
          <a:p>
            <a:pPr algn="ctr">
              <a:defRPr sz="1250" b="1">
                <a:solidFill>
                  <a:srgbClr val="4ADE80"/>
                </a:solidFill>
                <a:latin typeface="Segoe UI"/>
              </a:defRPr>
            </a:pPr>
            <a:r>
              <a:t>EQUIPE TIMBIRANOS</a:t>
            </a:r>
          </a:p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Amberson Lindoso  •  Kelly Sousa  •  Jhony Fernandes  •  Weldes Reis</a:t>
            </a:r>
          </a:p>
          <a:p>
            <a:pPr algn="ctr">
              <a:defRPr sz="1150">
                <a:solidFill>
                  <a:srgbClr val="94A3B8"/>
                </a:solidFill>
                <a:latin typeface="Segoe UI"/>
              </a:defRPr>
            </a:pPr>
            <a:r>
              <a:t>Polo Universitário de Timbiras — Maranhão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873E"/>
                </a:solidFill>
                <a:latin typeface="Segoe UI"/>
              </a:defRPr>
            </a:pPr>
            <a:r>
              <a:t>1. Nossa Terra, Nossa Gente: Por Que Timbiras?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35440" y="411480"/>
            <a:ext cx="219456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1. INTRODUÇÃO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Timbiras Solidária — ADS UEMA 2026 | Polo Universitário de Timbiras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Segoe UI"/>
              </a:defRPr>
            </a:pPr>
            <a:r>
              <a:t>Slide 2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5943600" cy="1862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defRPr sz="1550" b="1">
                <a:solidFill>
                  <a:srgbClr val="1E293B"/>
                </a:solidFill>
                <a:latin typeface="Segoe UI"/>
              </a:defRPr>
            </a:pPr>
            <a:r>
              <a:rPr dirty="0"/>
              <a:t>A </a:t>
            </a:r>
            <a:r>
              <a:rPr dirty="0" err="1"/>
              <a:t>fome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é um </a:t>
            </a:r>
            <a:r>
              <a:rPr dirty="0" err="1"/>
              <a:t>número</a:t>
            </a:r>
            <a:r>
              <a:rPr dirty="0"/>
              <a:t> </a:t>
            </a:r>
            <a:r>
              <a:rPr dirty="0" err="1"/>
              <a:t>abstrato</a:t>
            </a:r>
            <a:r>
              <a:rPr dirty="0"/>
              <a:t>: </a:t>
            </a:r>
            <a:r>
              <a:rPr dirty="0" err="1"/>
              <a:t>ela</a:t>
            </a:r>
            <a:r>
              <a:rPr dirty="0"/>
              <a:t> </a:t>
            </a:r>
            <a:r>
              <a:rPr dirty="0" err="1"/>
              <a:t>tem</a:t>
            </a:r>
            <a:r>
              <a:rPr dirty="0"/>
              <a:t> </a:t>
            </a:r>
            <a:r>
              <a:rPr dirty="0" err="1"/>
              <a:t>nome</a:t>
            </a:r>
            <a:r>
              <a:rPr dirty="0"/>
              <a:t>, </a:t>
            </a:r>
            <a:r>
              <a:rPr dirty="0" err="1"/>
              <a:t>endereço</a:t>
            </a:r>
            <a:r>
              <a:rPr dirty="0"/>
              <a:t> e </a:t>
            </a:r>
            <a:r>
              <a:rPr dirty="0" err="1"/>
              <a:t>rosto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bairros e </a:t>
            </a:r>
            <a:r>
              <a:rPr dirty="0" err="1"/>
              <a:t>na</a:t>
            </a:r>
            <a:r>
              <a:rPr dirty="0"/>
              <a:t> zona rural da </a:t>
            </a:r>
            <a:r>
              <a:rPr dirty="0" err="1"/>
              <a:t>nossa</a:t>
            </a:r>
            <a:r>
              <a:rPr dirty="0"/>
              <a:t> </a:t>
            </a:r>
            <a:r>
              <a:rPr dirty="0" err="1"/>
              <a:t>cidade</a:t>
            </a:r>
            <a:r>
              <a:rPr dirty="0"/>
              <a:t>.</a:t>
            </a:r>
          </a:p>
          <a:p>
            <a:pPr algn="just"/>
            <a:br>
              <a:rPr dirty="0"/>
            </a:br>
            <a:r>
              <a:rPr dirty="0"/>
              <a:t>Timbiras é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cidade</a:t>
            </a:r>
            <a:r>
              <a:rPr dirty="0"/>
              <a:t> </a:t>
            </a:r>
            <a:r>
              <a:rPr dirty="0" err="1"/>
              <a:t>acolhedora</a:t>
            </a:r>
            <a:r>
              <a:rPr dirty="0"/>
              <a:t>, forte e </a:t>
            </a:r>
            <a:r>
              <a:rPr dirty="0" err="1"/>
              <a:t>trabalhadora</a:t>
            </a:r>
            <a:r>
              <a:rPr dirty="0"/>
              <a:t>, </a:t>
            </a:r>
            <a:r>
              <a:rPr dirty="0" err="1"/>
              <a:t>banhada</a:t>
            </a:r>
            <a:r>
              <a:rPr dirty="0"/>
              <a:t> </a:t>
            </a:r>
            <a:r>
              <a:rPr dirty="0" err="1"/>
              <a:t>pelas</a:t>
            </a:r>
            <a:r>
              <a:rPr dirty="0"/>
              <a:t> </a:t>
            </a:r>
            <a:r>
              <a:rPr dirty="0" err="1"/>
              <a:t>águas</a:t>
            </a:r>
            <a:r>
              <a:rPr dirty="0"/>
              <a:t> do Rio </a:t>
            </a:r>
            <a:r>
              <a:rPr dirty="0" err="1"/>
              <a:t>Itapecuru</a:t>
            </a:r>
            <a:r>
              <a:rPr dirty="0"/>
              <a:t>. Mas,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tantas</a:t>
            </a:r>
            <a:r>
              <a:rPr dirty="0"/>
              <a:t> </a:t>
            </a:r>
            <a:r>
              <a:rPr dirty="0" err="1"/>
              <a:t>cidades</a:t>
            </a:r>
            <a:r>
              <a:rPr dirty="0"/>
              <a:t> do interior do Maranhão, </a:t>
            </a:r>
            <a:r>
              <a:rPr dirty="0" err="1"/>
              <a:t>muitas</a:t>
            </a:r>
            <a:r>
              <a:rPr dirty="0"/>
              <a:t> </a:t>
            </a:r>
            <a:r>
              <a:rPr dirty="0" err="1"/>
              <a:t>famílias</a:t>
            </a:r>
            <a:r>
              <a:rPr lang="pt-BR" dirty="0"/>
              <a:t> </a:t>
            </a:r>
            <a:r>
              <a:rPr dirty="0" err="1"/>
              <a:t>enfrentam</a:t>
            </a:r>
            <a:r>
              <a:rPr dirty="0"/>
              <a:t> </a:t>
            </a:r>
            <a:r>
              <a:rPr dirty="0" err="1"/>
              <a:t>dias</a:t>
            </a:r>
            <a:r>
              <a:rPr dirty="0"/>
              <a:t> </a:t>
            </a:r>
            <a:r>
              <a:rPr dirty="0" err="1"/>
              <a:t>difíceis</a:t>
            </a:r>
            <a:r>
              <a:rPr dirty="0"/>
              <a:t> para </a:t>
            </a:r>
            <a:r>
              <a:rPr dirty="0" err="1"/>
              <a:t>garantir</a:t>
            </a:r>
            <a:r>
              <a:rPr dirty="0"/>
              <a:t> o </a:t>
            </a:r>
            <a:r>
              <a:rPr dirty="0" err="1"/>
              <a:t>básico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mesa.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94360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840480"/>
            <a:ext cx="73152" cy="2194560"/>
          </a:xfrm>
          <a:prstGeom prst="rect">
            <a:avLst/>
          </a:prstGeom>
          <a:solidFill>
            <a:srgbClr val="00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977639"/>
            <a:ext cx="557784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873E"/>
                </a:solidFill>
                <a:latin typeface="Segoe UI"/>
              </a:defRPr>
            </a:pPr>
            <a:r>
              <a:rPr dirty="0"/>
              <a:t>O </a:t>
            </a:r>
            <a:r>
              <a:rPr dirty="0" err="1"/>
              <a:t>Encontro</a:t>
            </a:r>
            <a:r>
              <a:rPr dirty="0"/>
              <a:t> de Duas </a:t>
            </a:r>
            <a:r>
              <a:rPr dirty="0" err="1"/>
              <a:t>Realidades</a:t>
            </a:r>
            <a:endParaRPr dirty="0"/>
          </a:p>
          <a:p>
            <a:pPr algn="just"/>
            <a:br>
              <a:rPr dirty="0"/>
            </a:br>
            <a:r>
              <a:rPr dirty="0"/>
              <a:t>De um </a:t>
            </a:r>
            <a:r>
              <a:rPr dirty="0" err="1"/>
              <a:t>lado</a:t>
            </a:r>
            <a:r>
              <a:rPr dirty="0"/>
              <a:t>, </a:t>
            </a:r>
            <a:r>
              <a:rPr dirty="0" err="1"/>
              <a:t>pequenos</a:t>
            </a:r>
            <a:r>
              <a:rPr dirty="0"/>
              <a:t> </a:t>
            </a:r>
            <a:r>
              <a:rPr dirty="0" err="1"/>
              <a:t>agricultores</a:t>
            </a:r>
            <a:r>
              <a:rPr dirty="0"/>
              <a:t> e </a:t>
            </a:r>
            <a:r>
              <a:rPr dirty="0" err="1"/>
              <a:t>comerciantes</a:t>
            </a:r>
            <a:r>
              <a:rPr dirty="0"/>
              <a:t> com </a:t>
            </a:r>
            <a:r>
              <a:rPr dirty="0" err="1"/>
              <a:t>vontade</a:t>
            </a:r>
            <a:r>
              <a:rPr dirty="0"/>
              <a:t> de </a:t>
            </a:r>
            <a:r>
              <a:rPr dirty="0" err="1"/>
              <a:t>ajudar</a:t>
            </a:r>
            <a:r>
              <a:rPr dirty="0"/>
              <a:t> e </a:t>
            </a:r>
            <a:r>
              <a:rPr dirty="0" err="1"/>
              <a:t>excedentes</a:t>
            </a:r>
            <a:r>
              <a:rPr dirty="0"/>
              <a:t> de </a:t>
            </a:r>
            <a:r>
              <a:rPr dirty="0" err="1"/>
              <a:t>colheita</a:t>
            </a:r>
            <a:r>
              <a:rPr dirty="0"/>
              <a:t>. Do outro, </a:t>
            </a:r>
            <a:r>
              <a:rPr dirty="0" err="1"/>
              <a:t>famílias</a:t>
            </a:r>
            <a:r>
              <a:rPr dirty="0"/>
              <a:t> </a:t>
            </a:r>
            <a:r>
              <a:rPr dirty="0" err="1"/>
              <a:t>precisando</a:t>
            </a:r>
            <a:r>
              <a:rPr dirty="0"/>
              <a:t> de </a:t>
            </a:r>
            <a:r>
              <a:rPr dirty="0" err="1"/>
              <a:t>auxílio</a:t>
            </a:r>
            <a:r>
              <a:rPr dirty="0"/>
              <a:t> </a:t>
            </a:r>
            <a:r>
              <a:rPr dirty="0" err="1"/>
              <a:t>imediato</a:t>
            </a:r>
            <a:r>
              <a:rPr dirty="0"/>
              <a:t>. O Timbiras </a:t>
            </a:r>
            <a:r>
              <a:rPr dirty="0" err="1"/>
              <a:t>Solidária</a:t>
            </a:r>
            <a:r>
              <a:rPr dirty="0"/>
              <a:t> </a:t>
            </a:r>
            <a:r>
              <a:rPr dirty="0" err="1"/>
              <a:t>nasceu</a:t>
            </a:r>
            <a:r>
              <a:rPr dirty="0"/>
              <a:t> para ser a </a:t>
            </a:r>
            <a:r>
              <a:rPr dirty="0" err="1"/>
              <a:t>ponte</a:t>
            </a:r>
            <a:r>
              <a:rPr dirty="0"/>
              <a:t> digital entre a </a:t>
            </a:r>
            <a:r>
              <a:rPr dirty="0" err="1"/>
              <a:t>generosidade</a:t>
            </a:r>
            <a:r>
              <a:rPr dirty="0"/>
              <a:t> de quem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doar</a:t>
            </a:r>
            <a:r>
              <a:rPr dirty="0"/>
              <a:t> e a </a:t>
            </a:r>
            <a:r>
              <a:rPr dirty="0" err="1"/>
              <a:t>dignidade</a:t>
            </a:r>
            <a:r>
              <a:rPr dirty="0"/>
              <a:t> de quem </a:t>
            </a:r>
            <a:r>
              <a:rPr dirty="0" err="1"/>
              <a:t>precisa</a:t>
            </a:r>
            <a:r>
              <a:rPr dirty="0"/>
              <a:t> </a:t>
            </a:r>
            <a:r>
              <a:rPr dirty="0" err="1"/>
              <a:t>receber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234440"/>
            <a:ext cx="4510735" cy="48006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0" y="1417320"/>
            <a:ext cx="3977639" cy="42088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0873E"/>
                </a:solidFill>
                <a:latin typeface="Segoe UI"/>
              </a:defRPr>
            </a:pPr>
            <a:r>
              <a:rPr sz="1600" dirty="0" err="1"/>
              <a:t>Compromisso</a:t>
            </a:r>
            <a:r>
              <a:rPr sz="1600" dirty="0"/>
              <a:t> Real com o ODS 2</a:t>
            </a:r>
          </a:p>
          <a:p>
            <a:pPr algn="just">
              <a:defRPr sz="1150">
                <a:solidFill>
                  <a:srgbClr val="1E293B"/>
                </a:solidFill>
                <a:latin typeface="Segoe UI"/>
              </a:defRPr>
            </a:pPr>
            <a:r>
              <a:rPr sz="1400" dirty="0" err="1"/>
              <a:t>Fome</a:t>
            </a:r>
            <a:r>
              <a:rPr sz="1400" dirty="0"/>
              <a:t> Zero e Agricultura </a:t>
            </a:r>
            <a:r>
              <a:rPr sz="1400" dirty="0" err="1"/>
              <a:t>Sustentável</a:t>
            </a:r>
            <a:r>
              <a:rPr sz="1400" dirty="0"/>
              <a:t>: </a:t>
            </a:r>
            <a:r>
              <a:rPr sz="1400" dirty="0" err="1"/>
              <a:t>nosso</a:t>
            </a:r>
            <a:r>
              <a:rPr sz="1400" dirty="0"/>
              <a:t> </a:t>
            </a:r>
            <a:r>
              <a:rPr sz="1400" dirty="0" err="1"/>
              <a:t>foco</a:t>
            </a:r>
            <a:r>
              <a:rPr sz="1400" dirty="0"/>
              <a:t> </a:t>
            </a:r>
            <a:r>
              <a:rPr sz="1400" dirty="0" err="1"/>
              <a:t>não</a:t>
            </a:r>
            <a:r>
              <a:rPr sz="1400" dirty="0"/>
              <a:t> é </a:t>
            </a:r>
            <a:r>
              <a:rPr sz="1400" dirty="0" err="1"/>
              <a:t>assistencialismo</a:t>
            </a:r>
            <a:r>
              <a:rPr sz="1400" dirty="0"/>
              <a:t> </a:t>
            </a:r>
            <a:r>
              <a:rPr sz="1400" dirty="0" err="1"/>
              <a:t>frio</a:t>
            </a:r>
            <a:r>
              <a:rPr sz="1400" dirty="0"/>
              <a:t>, mas </a:t>
            </a:r>
            <a:r>
              <a:rPr sz="1400" dirty="0" err="1"/>
              <a:t>mobilização</a:t>
            </a:r>
            <a:r>
              <a:rPr sz="1400" dirty="0"/>
              <a:t> </a:t>
            </a:r>
            <a:r>
              <a:rPr sz="1400" dirty="0" err="1"/>
              <a:t>comunitária</a:t>
            </a:r>
            <a:r>
              <a:rPr sz="1400" dirty="0"/>
              <a:t> com </a:t>
            </a:r>
            <a:r>
              <a:rPr sz="1400" dirty="0" err="1"/>
              <a:t>valorização</a:t>
            </a:r>
            <a:r>
              <a:rPr sz="1400" dirty="0"/>
              <a:t> do </a:t>
            </a:r>
            <a:r>
              <a:rPr sz="1400" dirty="0" err="1"/>
              <a:t>agricultor</a:t>
            </a:r>
            <a:r>
              <a:rPr sz="1400" dirty="0"/>
              <a:t> familiar local.</a:t>
            </a:r>
          </a:p>
          <a:p>
            <a:br>
              <a:rPr sz="2400" dirty="0"/>
            </a:br>
            <a:r>
              <a:rPr sz="2400" dirty="0"/>
              <a:t>Público-Alvo </a:t>
            </a:r>
            <a:r>
              <a:rPr sz="2400" dirty="0" err="1"/>
              <a:t>que</a:t>
            </a:r>
            <a:r>
              <a:rPr sz="2400" dirty="0"/>
              <a:t> </a:t>
            </a:r>
            <a:r>
              <a:rPr sz="2400" dirty="0" err="1"/>
              <a:t>Abraçamos</a:t>
            </a:r>
            <a:r>
              <a:rPr sz="2400" dirty="0"/>
              <a:t>:</a:t>
            </a:r>
          </a:p>
          <a:p>
            <a:pPr algn="just">
              <a:defRPr sz="110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</a:t>
            </a:r>
            <a:r>
              <a:rPr sz="1400" dirty="0" err="1"/>
              <a:t>Cidadãos</a:t>
            </a:r>
            <a:r>
              <a:rPr sz="1400" dirty="0"/>
              <a:t> </a:t>
            </a:r>
            <a:r>
              <a:rPr sz="1400" dirty="0" err="1"/>
              <a:t>comuns</a:t>
            </a:r>
            <a:r>
              <a:rPr sz="1400" dirty="0"/>
              <a:t>:  </a:t>
            </a:r>
            <a:r>
              <a:rPr sz="1400" dirty="0" err="1"/>
              <a:t>Que</a:t>
            </a:r>
            <a:r>
              <a:rPr sz="1400" dirty="0"/>
              <a:t> </a:t>
            </a:r>
            <a:r>
              <a:rPr sz="1400" dirty="0" err="1"/>
              <a:t>querem</a:t>
            </a:r>
            <a:r>
              <a:rPr sz="1400" dirty="0"/>
              <a:t> </a:t>
            </a:r>
            <a:r>
              <a:rPr sz="1400" dirty="0" err="1"/>
              <a:t>doar</a:t>
            </a:r>
            <a:r>
              <a:rPr sz="1400" dirty="0"/>
              <a:t> 1 cesta </a:t>
            </a:r>
            <a:r>
              <a:rPr sz="1400" dirty="0" err="1"/>
              <a:t>ou</a:t>
            </a:r>
            <a:r>
              <a:rPr sz="1400" dirty="0"/>
              <a:t> 1 kg de </a:t>
            </a:r>
            <a:r>
              <a:rPr sz="1400" dirty="0" err="1"/>
              <a:t>alimento</a:t>
            </a:r>
            <a:r>
              <a:rPr sz="1400" dirty="0"/>
              <a:t>;</a:t>
            </a:r>
            <a:endParaRPr lang="pt-BR" sz="1400" dirty="0"/>
          </a:p>
          <a:p>
            <a:pPr algn="just">
              <a:defRPr sz="1100">
                <a:solidFill>
                  <a:srgbClr val="1E293B"/>
                </a:solidFill>
                <a:latin typeface="Segoe UI"/>
              </a:defRPr>
            </a:pPr>
            <a:endParaRPr sz="1400" dirty="0"/>
          </a:p>
          <a:p>
            <a:pPr algn="just">
              <a:defRPr sz="110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Comércio e </a:t>
            </a:r>
            <a:r>
              <a:rPr sz="1400" dirty="0" err="1"/>
              <a:t>feirantes</a:t>
            </a:r>
            <a:r>
              <a:rPr sz="1400" dirty="0"/>
              <a:t>:  </a:t>
            </a:r>
            <a:r>
              <a:rPr sz="1400" dirty="0" err="1"/>
              <a:t>Que</a:t>
            </a:r>
            <a:r>
              <a:rPr sz="1400" dirty="0"/>
              <a:t> </a:t>
            </a:r>
            <a:r>
              <a:rPr sz="1400" dirty="0" err="1"/>
              <a:t>exercem</a:t>
            </a:r>
            <a:r>
              <a:rPr sz="1400" dirty="0"/>
              <a:t> </a:t>
            </a:r>
            <a:r>
              <a:rPr sz="1400" dirty="0" err="1"/>
              <a:t>cidadania</a:t>
            </a:r>
            <a:r>
              <a:rPr sz="1400" dirty="0"/>
              <a:t> </a:t>
            </a:r>
            <a:r>
              <a:rPr sz="1400" dirty="0" err="1"/>
              <a:t>ativa</a:t>
            </a:r>
            <a:r>
              <a:rPr sz="1400" dirty="0"/>
              <a:t>;</a:t>
            </a:r>
            <a:endParaRPr lang="pt-BR" sz="1400" dirty="0"/>
          </a:p>
          <a:p>
            <a:pPr algn="just">
              <a:defRPr sz="1100">
                <a:solidFill>
                  <a:srgbClr val="1E293B"/>
                </a:solidFill>
                <a:latin typeface="Segoe UI"/>
              </a:defRPr>
            </a:pPr>
            <a:endParaRPr sz="1400" dirty="0"/>
          </a:p>
          <a:p>
            <a:pPr algn="just">
              <a:defRPr sz="110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Agricultura familiar:  </a:t>
            </a:r>
            <a:r>
              <a:rPr sz="1400" dirty="0" err="1"/>
              <a:t>Que</a:t>
            </a:r>
            <a:r>
              <a:rPr sz="1400" dirty="0"/>
              <a:t> </a:t>
            </a:r>
            <a:r>
              <a:rPr sz="1400" dirty="0" err="1"/>
              <a:t>abastece</a:t>
            </a:r>
            <a:r>
              <a:rPr sz="1400" dirty="0"/>
              <a:t> a </a:t>
            </a:r>
            <a:r>
              <a:rPr sz="1400" dirty="0" err="1"/>
              <a:t>cidade</a:t>
            </a:r>
            <a:r>
              <a:rPr sz="1400" dirty="0"/>
              <a:t> com </a:t>
            </a:r>
            <a:r>
              <a:rPr sz="1400" dirty="0" err="1"/>
              <a:t>alimentos</a:t>
            </a:r>
            <a:r>
              <a:rPr sz="1400" dirty="0"/>
              <a:t> frescos;</a:t>
            </a:r>
            <a:endParaRPr lang="pt-BR" sz="1400" dirty="0"/>
          </a:p>
          <a:p>
            <a:pPr algn="just">
              <a:defRPr sz="1100">
                <a:solidFill>
                  <a:srgbClr val="1E293B"/>
                </a:solidFill>
                <a:latin typeface="Segoe UI"/>
              </a:defRPr>
            </a:pPr>
            <a:endParaRPr sz="1400" dirty="0"/>
          </a:p>
          <a:p>
            <a:pPr algn="just">
              <a:defRPr sz="110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Poder </a:t>
            </a:r>
            <a:r>
              <a:rPr sz="1400" dirty="0" err="1"/>
              <a:t>público</a:t>
            </a:r>
            <a:r>
              <a:rPr sz="1400" dirty="0"/>
              <a:t> &amp; </a:t>
            </a:r>
            <a:r>
              <a:rPr sz="1400" dirty="0" err="1"/>
              <a:t>voluntários</a:t>
            </a:r>
            <a:r>
              <a:rPr sz="1400" dirty="0"/>
              <a:t>:  Para </a:t>
            </a:r>
            <a:r>
              <a:rPr sz="1400" dirty="0" err="1"/>
              <a:t>transparência</a:t>
            </a:r>
            <a:r>
              <a:rPr sz="1400" dirty="0"/>
              <a:t> e </a:t>
            </a:r>
            <a:r>
              <a:rPr sz="1400" dirty="0" err="1"/>
              <a:t>logística</a:t>
            </a:r>
            <a:r>
              <a:rPr sz="14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873E"/>
                </a:solidFill>
                <a:latin typeface="Segoe UI"/>
              </a:defRPr>
            </a:pPr>
            <a:r>
              <a:t>2. Do Cartaz Estático à Aplicação Viva e Dinâmica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35440" y="411480"/>
            <a:ext cx="219456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2. DESENVOLVIMENTO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Timbiras Solidária — ADS UEMA 2026 | Polo Universitário de Timbiras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Segoe UI"/>
              </a:defRPr>
            </a:pPr>
            <a:r>
              <a:t>Slide 3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5166360" cy="30085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defRPr sz="1550" b="1">
                <a:solidFill>
                  <a:srgbClr val="00873E"/>
                </a:solidFill>
                <a:latin typeface="Segoe UI"/>
              </a:defRPr>
            </a:pPr>
            <a:r>
              <a:rPr sz="1600" dirty="0"/>
              <a:t>O Salto da </a:t>
            </a:r>
            <a:r>
              <a:rPr sz="1600" dirty="0" err="1"/>
              <a:t>Primeira</a:t>
            </a:r>
            <a:r>
              <a:rPr sz="1600" dirty="0"/>
              <a:t> para a Segunda Etapa</a:t>
            </a:r>
          </a:p>
          <a:p>
            <a:pPr algn="just"/>
            <a:br>
              <a:rPr dirty="0"/>
            </a:br>
            <a:r>
              <a:rPr dirty="0"/>
              <a:t>Na Nota 1, </a:t>
            </a:r>
            <a:r>
              <a:rPr dirty="0" err="1"/>
              <a:t>criamos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interface </a:t>
            </a:r>
            <a:r>
              <a:rPr dirty="0" err="1"/>
              <a:t>estática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HTML5, CSS3 e Bootstrap. Era </a:t>
            </a:r>
            <a:r>
              <a:rPr dirty="0" err="1"/>
              <a:t>bonita</a:t>
            </a:r>
            <a:r>
              <a:rPr dirty="0"/>
              <a:t> e </a:t>
            </a:r>
            <a:r>
              <a:rPr dirty="0" err="1"/>
              <a:t>organizada</a:t>
            </a:r>
            <a:r>
              <a:rPr dirty="0"/>
              <a:t>, mas </a:t>
            </a:r>
            <a:r>
              <a:rPr dirty="0" err="1"/>
              <a:t>funcionava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um </a:t>
            </a:r>
            <a:r>
              <a:rPr dirty="0" err="1"/>
              <a:t>panfleto</a:t>
            </a:r>
            <a:r>
              <a:rPr dirty="0"/>
              <a:t> digital: </a:t>
            </a:r>
            <a:r>
              <a:rPr dirty="0" err="1"/>
              <a:t>parada</a:t>
            </a:r>
            <a:r>
              <a:rPr dirty="0"/>
              <a:t>, </a:t>
            </a:r>
            <a:r>
              <a:rPr dirty="0" err="1"/>
              <a:t>passiva</a:t>
            </a:r>
            <a:r>
              <a:rPr dirty="0"/>
              <a:t> e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diálogo</a:t>
            </a:r>
            <a:r>
              <a:rPr dirty="0"/>
              <a:t> </a:t>
            </a:r>
            <a:r>
              <a:rPr dirty="0" err="1"/>
              <a:t>direto</a:t>
            </a:r>
            <a:r>
              <a:rPr dirty="0"/>
              <a:t> com quem </a:t>
            </a:r>
            <a:r>
              <a:rPr dirty="0" err="1"/>
              <a:t>acessava</a:t>
            </a:r>
            <a:r>
              <a:rPr dirty="0"/>
              <a:t>.</a:t>
            </a:r>
          </a:p>
          <a:p>
            <a:pPr algn="just"/>
            <a:br>
              <a:rPr dirty="0"/>
            </a:br>
            <a:r>
              <a:rPr dirty="0"/>
              <a:t>Na Nota 2, </a:t>
            </a:r>
            <a:r>
              <a:rPr dirty="0" err="1"/>
              <a:t>nossa</a:t>
            </a:r>
            <a:r>
              <a:rPr dirty="0"/>
              <a:t> </a:t>
            </a:r>
            <a:r>
              <a:rPr dirty="0" err="1"/>
              <a:t>missão</a:t>
            </a:r>
            <a:r>
              <a:rPr dirty="0"/>
              <a:t> </a:t>
            </a:r>
            <a:r>
              <a:rPr dirty="0" err="1"/>
              <a:t>foi</a:t>
            </a:r>
            <a:r>
              <a:rPr dirty="0"/>
              <a:t> </a:t>
            </a:r>
            <a:r>
              <a:rPr dirty="0" err="1"/>
              <a:t>dar</a:t>
            </a:r>
            <a:r>
              <a:rPr dirty="0"/>
              <a:t> </a:t>
            </a:r>
            <a:r>
              <a:rPr dirty="0" err="1"/>
              <a:t>vida</a:t>
            </a:r>
            <a:r>
              <a:rPr dirty="0"/>
              <a:t> e </a:t>
            </a:r>
            <a:r>
              <a:rPr dirty="0" err="1"/>
              <a:t>coração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projeto</a:t>
            </a:r>
            <a:r>
              <a:rPr dirty="0"/>
              <a:t>: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alguém</a:t>
            </a:r>
            <a:r>
              <a:rPr dirty="0"/>
              <a:t> </a:t>
            </a:r>
            <a:r>
              <a:rPr dirty="0" err="1"/>
              <a:t>preenche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doação</a:t>
            </a:r>
            <a:r>
              <a:rPr dirty="0"/>
              <a:t>, </a:t>
            </a:r>
            <a:r>
              <a:rPr dirty="0" err="1"/>
              <a:t>precisa</a:t>
            </a:r>
            <a:r>
              <a:rPr dirty="0"/>
              <a:t> </a:t>
            </a:r>
            <a:r>
              <a:rPr dirty="0" err="1"/>
              <a:t>sentir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aquele</a:t>
            </a:r>
            <a:r>
              <a:rPr dirty="0"/>
              <a:t> </a:t>
            </a:r>
            <a:r>
              <a:rPr dirty="0" err="1"/>
              <a:t>ato</a:t>
            </a:r>
            <a:r>
              <a:rPr dirty="0"/>
              <a:t> </a:t>
            </a:r>
            <a:r>
              <a:rPr dirty="0" err="1"/>
              <a:t>gerou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resposta</a:t>
            </a:r>
            <a:r>
              <a:rPr dirty="0"/>
              <a:t> no </a:t>
            </a:r>
            <a:r>
              <a:rPr dirty="0" err="1"/>
              <a:t>mundo</a:t>
            </a:r>
            <a:r>
              <a:rPr dirty="0"/>
              <a:t> real.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5166360" cy="1874519"/>
          </a:xfrm>
          <a:prstGeom prst="roundRect">
            <a:avLst/>
          </a:prstGeom>
          <a:solidFill>
            <a:srgbClr val="FEFCE8"/>
          </a:solidFill>
          <a:ln w="1270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4160520"/>
            <a:ext cx="73152" cy="18745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297680"/>
            <a:ext cx="480060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B45309"/>
                </a:solidFill>
                <a:latin typeface="Segoe UI"/>
              </a:defRPr>
            </a:pPr>
            <a:r>
              <a:rPr dirty="0" err="1"/>
              <a:t>Interação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Acolhe</a:t>
            </a:r>
            <a:endParaRPr dirty="0"/>
          </a:p>
          <a:p>
            <a:pPr algn="just"/>
            <a:br>
              <a:rPr dirty="0"/>
            </a:br>
            <a:r>
              <a:rPr dirty="0" err="1"/>
              <a:t>Abraçamos</a:t>
            </a:r>
            <a:r>
              <a:rPr dirty="0"/>
              <a:t> o React 19 para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elemento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tela</a:t>
            </a:r>
            <a:r>
              <a:rPr dirty="0"/>
              <a:t> </a:t>
            </a:r>
            <a:r>
              <a:rPr dirty="0" err="1"/>
              <a:t>reaja</a:t>
            </a:r>
            <a:r>
              <a:rPr dirty="0"/>
              <a:t> </a:t>
            </a:r>
            <a:r>
              <a:rPr dirty="0" err="1"/>
              <a:t>imediatamente</a:t>
            </a:r>
            <a:r>
              <a:rPr dirty="0"/>
              <a:t> </a:t>
            </a:r>
            <a:r>
              <a:rPr dirty="0" err="1"/>
              <a:t>aos</a:t>
            </a:r>
            <a:r>
              <a:rPr dirty="0"/>
              <a:t> </a:t>
            </a:r>
            <a:r>
              <a:rPr dirty="0" err="1"/>
              <a:t>sentimentos</a:t>
            </a:r>
            <a:r>
              <a:rPr dirty="0"/>
              <a:t> e </a:t>
            </a:r>
            <a:r>
              <a:rPr dirty="0" err="1"/>
              <a:t>intenções</a:t>
            </a:r>
            <a:r>
              <a:rPr dirty="0"/>
              <a:t> do </a:t>
            </a:r>
            <a:r>
              <a:rPr dirty="0" err="1"/>
              <a:t>usuário</a:t>
            </a:r>
            <a:r>
              <a:rPr dirty="0"/>
              <a:t>,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recarregar</a:t>
            </a:r>
            <a:r>
              <a:rPr dirty="0"/>
              <a:t> a </a:t>
            </a:r>
            <a:r>
              <a:rPr dirty="0" err="1"/>
              <a:t>página</a:t>
            </a:r>
            <a:r>
              <a:rPr dirty="0"/>
              <a:t> e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travar</a:t>
            </a:r>
            <a:r>
              <a:rPr dirty="0"/>
              <a:t> a </a:t>
            </a:r>
            <a:r>
              <a:rPr dirty="0" err="1"/>
              <a:t>navegação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234440"/>
            <a:ext cx="5166360" cy="4800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417320"/>
            <a:ext cx="4617720" cy="44012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0873E"/>
                </a:solidFill>
                <a:latin typeface="Segoe UI"/>
              </a:defRPr>
            </a:pPr>
            <a:r>
              <a:rPr sz="1600" dirty="0"/>
              <a:t>O </a:t>
            </a:r>
            <a:r>
              <a:rPr sz="1600" dirty="0" err="1"/>
              <a:t>Que</a:t>
            </a:r>
            <a:r>
              <a:rPr sz="1600" dirty="0"/>
              <a:t> </a:t>
            </a:r>
            <a:r>
              <a:rPr sz="1600" dirty="0" err="1"/>
              <a:t>Mudou</a:t>
            </a:r>
            <a:r>
              <a:rPr sz="1600" dirty="0"/>
              <a:t> </a:t>
            </a:r>
            <a:r>
              <a:rPr sz="1600" dirty="0" err="1"/>
              <a:t>na</a:t>
            </a:r>
            <a:r>
              <a:rPr sz="1600" dirty="0"/>
              <a:t> </a:t>
            </a:r>
            <a:r>
              <a:rPr sz="1600" dirty="0" err="1"/>
              <a:t>Experiência</a:t>
            </a:r>
            <a:r>
              <a:rPr sz="1600" dirty="0"/>
              <a:t> de Quem Usa</a:t>
            </a:r>
          </a:p>
          <a:p>
            <a:pPr algn="just"/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Retorno</a:t>
            </a:r>
            <a:r>
              <a:rPr sz="1600" dirty="0"/>
              <a:t> </a:t>
            </a:r>
            <a:r>
              <a:rPr sz="1600" dirty="0" err="1"/>
              <a:t>Imediato</a:t>
            </a:r>
            <a:r>
              <a:rPr sz="1600" dirty="0"/>
              <a:t>: Ao </a:t>
            </a:r>
            <a:r>
              <a:rPr sz="1600" dirty="0" err="1"/>
              <a:t>enviar</a:t>
            </a:r>
            <a:r>
              <a:rPr sz="1600" dirty="0"/>
              <a:t> </a:t>
            </a:r>
            <a:r>
              <a:rPr sz="1600" dirty="0" err="1"/>
              <a:t>uma</a:t>
            </a:r>
            <a:r>
              <a:rPr sz="1600" dirty="0"/>
              <a:t> </a:t>
            </a:r>
            <a:r>
              <a:rPr sz="1600" dirty="0" err="1"/>
              <a:t>doação</a:t>
            </a:r>
            <a:r>
              <a:rPr sz="1600" dirty="0"/>
              <a:t>, a meta </a:t>
            </a:r>
            <a:r>
              <a:rPr sz="1600" dirty="0" err="1"/>
              <a:t>comunitária</a:t>
            </a:r>
            <a:r>
              <a:rPr sz="1600" dirty="0"/>
              <a:t> </a:t>
            </a:r>
            <a:r>
              <a:rPr sz="1600" dirty="0" err="1"/>
              <a:t>sobe</a:t>
            </a:r>
            <a:r>
              <a:rPr sz="1600" dirty="0"/>
              <a:t> </a:t>
            </a:r>
            <a:r>
              <a:rPr sz="1600" dirty="0" err="1"/>
              <a:t>na</a:t>
            </a:r>
            <a:r>
              <a:rPr sz="1600" dirty="0"/>
              <a:t> </a:t>
            </a:r>
            <a:r>
              <a:rPr sz="1600" dirty="0" err="1"/>
              <a:t>mesma</a:t>
            </a:r>
            <a:r>
              <a:rPr sz="1600" dirty="0"/>
              <a:t> hora no topo do site e um </a:t>
            </a:r>
            <a:r>
              <a:rPr sz="1600" dirty="0" err="1"/>
              <a:t>Recibo</a:t>
            </a:r>
            <a:r>
              <a:rPr sz="1600" dirty="0"/>
              <a:t> </a:t>
            </a:r>
            <a:r>
              <a:rPr sz="1600" dirty="0" err="1"/>
              <a:t>Solidário</a:t>
            </a:r>
            <a:r>
              <a:rPr sz="1600" dirty="0"/>
              <a:t> com </a:t>
            </a:r>
            <a:r>
              <a:rPr sz="1600" dirty="0" err="1"/>
              <a:t>código</a:t>
            </a:r>
            <a:r>
              <a:rPr sz="1600" dirty="0"/>
              <a:t> </a:t>
            </a:r>
            <a:r>
              <a:rPr sz="1600" dirty="0" err="1"/>
              <a:t>único</a:t>
            </a:r>
            <a:r>
              <a:rPr sz="1600" dirty="0"/>
              <a:t> surge </a:t>
            </a:r>
            <a:r>
              <a:rPr sz="1600" dirty="0" err="1"/>
              <a:t>na</a:t>
            </a:r>
            <a:r>
              <a:rPr sz="1600" dirty="0"/>
              <a:t> </a:t>
            </a:r>
            <a:r>
              <a:rPr sz="1600" dirty="0" err="1"/>
              <a:t>tela</a:t>
            </a:r>
            <a:r>
              <a:rPr sz="1600" dirty="0"/>
              <a:t>.</a:t>
            </a:r>
          </a:p>
          <a:p>
            <a:pPr algn="just"/>
            <a:br>
              <a:rPr sz="1600" dirty="0"/>
            </a:br>
            <a:r>
              <a:rPr sz="1600" dirty="0"/>
              <a:t>• Menos </a:t>
            </a:r>
            <a:r>
              <a:rPr sz="1600" dirty="0" err="1"/>
              <a:t>Esforço</a:t>
            </a:r>
            <a:r>
              <a:rPr sz="1600" dirty="0"/>
              <a:t> para Fazer o Bem: </a:t>
            </a:r>
            <a:r>
              <a:rPr sz="1600" dirty="0" err="1"/>
              <a:t>Botões</a:t>
            </a:r>
            <a:r>
              <a:rPr sz="1600" dirty="0"/>
              <a:t> de clique </a:t>
            </a:r>
            <a:r>
              <a:rPr sz="1600" dirty="0" err="1"/>
              <a:t>rápido</a:t>
            </a:r>
            <a:r>
              <a:rPr sz="1600" dirty="0"/>
              <a:t> ('1 Cesta', '2 Cestas', '5 Cestas') </a:t>
            </a:r>
            <a:r>
              <a:rPr sz="1600" dirty="0" err="1"/>
              <a:t>evitam</a:t>
            </a:r>
            <a:r>
              <a:rPr sz="1600" dirty="0"/>
              <a:t> </a:t>
            </a:r>
            <a:r>
              <a:rPr sz="1600" dirty="0" err="1"/>
              <a:t>digitação</a:t>
            </a:r>
            <a:r>
              <a:rPr sz="1600" dirty="0"/>
              <a:t> </a:t>
            </a:r>
            <a:r>
              <a:rPr sz="1600" dirty="0" err="1"/>
              <a:t>demorada</a:t>
            </a:r>
            <a:r>
              <a:rPr sz="1600" dirty="0"/>
              <a:t> no </a:t>
            </a:r>
            <a:r>
              <a:rPr sz="1600" dirty="0" err="1"/>
              <a:t>celular</a:t>
            </a:r>
            <a:r>
              <a:rPr sz="1600" dirty="0"/>
              <a:t>.</a:t>
            </a:r>
          </a:p>
          <a:p>
            <a:pPr algn="just"/>
            <a:br>
              <a:rPr sz="1600" dirty="0"/>
            </a:br>
            <a:r>
              <a:rPr sz="1600" dirty="0"/>
              <a:t>• Chave PIX com 1 Toque: </a:t>
            </a:r>
            <a:r>
              <a:rPr sz="1600" dirty="0" err="1"/>
              <a:t>Cópia</a:t>
            </a:r>
            <a:r>
              <a:rPr sz="1600" dirty="0"/>
              <a:t> </a:t>
            </a:r>
            <a:r>
              <a:rPr sz="1600" dirty="0" err="1"/>
              <a:t>instantânea</a:t>
            </a:r>
            <a:r>
              <a:rPr sz="1600" dirty="0"/>
              <a:t> da </a:t>
            </a:r>
            <a:r>
              <a:rPr sz="1600" dirty="0" err="1"/>
              <a:t>chave</a:t>
            </a:r>
            <a:r>
              <a:rPr sz="1600" dirty="0"/>
              <a:t> </a:t>
            </a:r>
            <a:r>
              <a:rPr sz="1600" dirty="0" err="1"/>
              <a:t>institucional</a:t>
            </a:r>
            <a:r>
              <a:rPr sz="1600" dirty="0"/>
              <a:t> com aviso de </a:t>
            </a:r>
            <a:r>
              <a:rPr sz="1600" dirty="0" err="1"/>
              <a:t>confirmação</a:t>
            </a:r>
            <a:r>
              <a:rPr sz="1600" dirty="0"/>
              <a:t> </a:t>
            </a:r>
            <a:r>
              <a:rPr sz="1600" dirty="0" err="1"/>
              <a:t>na</a:t>
            </a:r>
            <a:r>
              <a:rPr sz="1600" dirty="0"/>
              <a:t> </a:t>
            </a:r>
            <a:r>
              <a:rPr sz="1600" dirty="0" err="1"/>
              <a:t>tela</a:t>
            </a:r>
            <a:r>
              <a:rPr sz="1600" dirty="0"/>
              <a:t> via Clipboard API.</a:t>
            </a:r>
          </a:p>
          <a:p>
            <a:pPr algn="just"/>
            <a:br>
              <a:rPr sz="1600" dirty="0"/>
            </a:br>
            <a:r>
              <a:rPr sz="1600" dirty="0"/>
              <a:t>• Trilha Sonora Emocionante: Player com a </a:t>
            </a:r>
            <a:r>
              <a:rPr sz="1600" dirty="0" err="1"/>
              <a:t>canção</a:t>
            </a:r>
            <a:r>
              <a:rPr sz="1600" dirty="0"/>
              <a:t> 'Imagine' (John Lennon, 1971), </a:t>
            </a:r>
            <a:r>
              <a:rPr sz="1600" dirty="0" err="1"/>
              <a:t>que</a:t>
            </a:r>
            <a:r>
              <a:rPr sz="1600" dirty="0"/>
              <a:t> </a:t>
            </a:r>
            <a:r>
              <a:rPr sz="1600" dirty="0" err="1"/>
              <a:t>respeita</a:t>
            </a:r>
            <a:r>
              <a:rPr sz="1600" dirty="0"/>
              <a:t> a </a:t>
            </a:r>
            <a:r>
              <a:rPr sz="1600" dirty="0" err="1"/>
              <a:t>privacidade</a:t>
            </a:r>
            <a:r>
              <a:rPr sz="1600" dirty="0"/>
              <a:t> do </a:t>
            </a:r>
            <a:r>
              <a:rPr sz="1600" dirty="0" err="1"/>
              <a:t>usuário</a:t>
            </a:r>
            <a:r>
              <a:rPr sz="1600" dirty="0"/>
              <a:t> e </a:t>
            </a:r>
            <a:r>
              <a:rPr sz="1600" dirty="0" err="1"/>
              <a:t>pode</a:t>
            </a:r>
            <a:r>
              <a:rPr sz="1600" dirty="0"/>
              <a:t> ser </a:t>
            </a:r>
            <a:r>
              <a:rPr sz="1600" dirty="0" err="1"/>
              <a:t>pausado</a:t>
            </a:r>
            <a:r>
              <a:rPr sz="1600" dirty="0"/>
              <a:t>, </a:t>
            </a:r>
            <a:r>
              <a:rPr sz="1600" dirty="0" err="1"/>
              <a:t>mutado</a:t>
            </a:r>
            <a:r>
              <a:rPr sz="1600" dirty="0"/>
              <a:t> </a:t>
            </a:r>
            <a:r>
              <a:rPr sz="1600" dirty="0" err="1"/>
              <a:t>ou</a:t>
            </a:r>
            <a:r>
              <a:rPr sz="1600" dirty="0"/>
              <a:t> </a:t>
            </a:r>
            <a:r>
              <a:rPr sz="1600" dirty="0" err="1"/>
              <a:t>recolhido</a:t>
            </a:r>
            <a:r>
              <a:rPr sz="1600" dirty="0"/>
              <a:t> a </a:t>
            </a:r>
            <a:r>
              <a:rPr sz="1600" dirty="0" err="1"/>
              <a:t>qualquer</a:t>
            </a:r>
            <a:r>
              <a:rPr sz="1600" dirty="0"/>
              <a:t> </a:t>
            </a:r>
            <a:r>
              <a:rPr sz="1600" dirty="0" err="1"/>
              <a:t>momento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873E"/>
                </a:solidFill>
                <a:latin typeface="Segoe UI"/>
              </a:defRPr>
            </a:pPr>
            <a:r>
              <a:t>2. Interatividade com Respeito ao Usuário: DOM &amp; Eventos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35440" y="411480"/>
            <a:ext cx="219456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2. DESENVOLVIMENTO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Timbiras Solidária — ADS UEMA 2026 | Polo Universitário de Timbiras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Segoe UI"/>
              </a:defRPr>
            </a:pPr>
            <a:r>
              <a:t>Slide 4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516636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defRPr sz="1550" b="1">
                <a:solidFill>
                  <a:srgbClr val="00873E"/>
                </a:solidFill>
                <a:latin typeface="Segoe UI"/>
              </a:defRPr>
            </a:pPr>
            <a:r>
              <a:rPr sz="1600" dirty="0" err="1"/>
              <a:t>Os</a:t>
            </a:r>
            <a:r>
              <a:rPr sz="1600" dirty="0"/>
              <a:t> </a:t>
            </a:r>
            <a:r>
              <a:rPr sz="1600" dirty="0" err="1"/>
              <a:t>Sentidos</a:t>
            </a:r>
            <a:r>
              <a:rPr sz="1600" dirty="0"/>
              <a:t> da </a:t>
            </a:r>
            <a:r>
              <a:rPr sz="1600" dirty="0" err="1"/>
              <a:t>Aplicação</a:t>
            </a:r>
            <a:r>
              <a:rPr sz="1600" dirty="0"/>
              <a:t> (</a:t>
            </a:r>
            <a:r>
              <a:rPr sz="1600" dirty="0" err="1"/>
              <a:t>Eventos</a:t>
            </a:r>
            <a:r>
              <a:rPr sz="1600" dirty="0"/>
              <a:t> JavaScript)</a:t>
            </a:r>
          </a:p>
          <a:p>
            <a:pPr algn="just">
              <a:defRPr sz="1200">
                <a:solidFill>
                  <a:srgbClr val="64748B"/>
                </a:solidFill>
                <a:latin typeface="Segoe UI"/>
              </a:defRPr>
            </a:pPr>
            <a:r>
              <a:rPr dirty="0" err="1"/>
              <a:t>Tratamento</a:t>
            </a:r>
            <a:r>
              <a:rPr dirty="0"/>
              <a:t> de </a:t>
            </a:r>
            <a:r>
              <a:rPr dirty="0" err="1"/>
              <a:t>eventos</a:t>
            </a:r>
            <a:r>
              <a:rPr dirty="0"/>
              <a:t> </a:t>
            </a:r>
            <a:r>
              <a:rPr dirty="0" err="1"/>
              <a:t>pensado</a:t>
            </a:r>
            <a:r>
              <a:rPr dirty="0"/>
              <a:t> para ser </a:t>
            </a:r>
            <a:r>
              <a:rPr dirty="0" err="1"/>
              <a:t>acolhedor</a:t>
            </a:r>
            <a:r>
              <a:rPr dirty="0"/>
              <a:t> e </a:t>
            </a:r>
            <a:r>
              <a:rPr dirty="0" err="1"/>
              <a:t>intuitivo</a:t>
            </a:r>
            <a:r>
              <a:rPr dirty="0"/>
              <a:t>,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burocracias</a:t>
            </a:r>
            <a:r>
              <a:rPr dirty="0"/>
              <a:t>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5166360" cy="3520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73152" cy="3520440"/>
          </a:xfrm>
          <a:prstGeom prst="rect">
            <a:avLst/>
          </a:prstGeom>
          <a:solidFill>
            <a:srgbClr val="00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4800600" cy="32470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defRPr sz="1300" b="1">
                <a:solidFill>
                  <a:srgbClr val="00873E"/>
                </a:solidFill>
                <a:latin typeface="Segoe UI"/>
              </a:defRPr>
            </a:pPr>
            <a:r>
              <a:rPr sz="1600" dirty="0" err="1"/>
              <a:t>Eventos</a:t>
            </a:r>
            <a:r>
              <a:rPr sz="1600" dirty="0"/>
              <a:t> Centrais </a:t>
            </a:r>
            <a:r>
              <a:rPr sz="1600" dirty="0" err="1"/>
              <a:t>Implementados</a:t>
            </a:r>
            <a:r>
              <a:rPr sz="1600" dirty="0"/>
              <a:t>:</a:t>
            </a:r>
            <a:endParaRPr lang="pt-BR" sz="1600" dirty="0"/>
          </a:p>
          <a:p>
            <a:pPr algn="just">
              <a:defRPr sz="1300" b="1">
                <a:solidFill>
                  <a:srgbClr val="00873E"/>
                </a:solidFill>
                <a:latin typeface="Segoe UI"/>
              </a:defRPr>
            </a:pPr>
            <a:endParaRPr dirty="0"/>
          </a:p>
          <a:p>
            <a:pPr algn="just">
              <a:defRPr sz="105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</a:t>
            </a:r>
            <a:r>
              <a:rPr sz="1400" dirty="0" err="1"/>
              <a:t>onSubmit</a:t>
            </a:r>
            <a:r>
              <a:rPr sz="1400" dirty="0"/>
              <a:t> (</a:t>
            </a:r>
            <a:r>
              <a:rPr sz="1400" dirty="0" err="1"/>
              <a:t>Doar.jsx</a:t>
            </a:r>
            <a:r>
              <a:rPr sz="1400" dirty="0"/>
              <a:t>): </a:t>
            </a:r>
            <a:r>
              <a:rPr sz="1400" dirty="0" err="1"/>
              <a:t>Interrompe</a:t>
            </a:r>
            <a:r>
              <a:rPr sz="1400" dirty="0"/>
              <a:t> o </a:t>
            </a:r>
            <a:r>
              <a:rPr sz="1400" dirty="0" err="1"/>
              <a:t>recarregamento</a:t>
            </a:r>
            <a:r>
              <a:rPr sz="1400" dirty="0"/>
              <a:t> </a:t>
            </a:r>
            <a:r>
              <a:rPr sz="1400" dirty="0" err="1"/>
              <a:t>brusco</a:t>
            </a:r>
            <a:r>
              <a:rPr sz="1400" dirty="0"/>
              <a:t>, </a:t>
            </a:r>
            <a:r>
              <a:rPr sz="1400" dirty="0" err="1"/>
              <a:t>valida</a:t>
            </a:r>
            <a:r>
              <a:rPr sz="1400" dirty="0"/>
              <a:t> campos, </a:t>
            </a:r>
            <a:r>
              <a:rPr sz="1400" dirty="0" err="1"/>
              <a:t>grava</a:t>
            </a:r>
            <a:r>
              <a:rPr sz="1400" dirty="0"/>
              <a:t> no </a:t>
            </a:r>
            <a:r>
              <a:rPr sz="1400" dirty="0" err="1"/>
              <a:t>localStorage</a:t>
            </a:r>
            <a:r>
              <a:rPr sz="1400" dirty="0"/>
              <a:t> e </a:t>
            </a:r>
            <a:r>
              <a:rPr sz="1400" dirty="0" err="1"/>
              <a:t>emite</a:t>
            </a:r>
            <a:r>
              <a:rPr sz="1400" dirty="0"/>
              <a:t> </a:t>
            </a:r>
            <a:r>
              <a:rPr sz="1400" dirty="0" err="1"/>
              <a:t>Recibo</a:t>
            </a:r>
            <a:r>
              <a:rPr sz="1400" dirty="0"/>
              <a:t> </a:t>
            </a:r>
            <a:r>
              <a:rPr sz="1400" dirty="0" err="1"/>
              <a:t>Solidário</a:t>
            </a:r>
            <a:r>
              <a:rPr sz="1400" dirty="0"/>
              <a:t> com </a:t>
            </a:r>
            <a:r>
              <a:rPr sz="1400" dirty="0" err="1"/>
              <a:t>código</a:t>
            </a:r>
            <a:r>
              <a:rPr sz="1400" dirty="0"/>
              <a:t> </a:t>
            </a:r>
            <a:r>
              <a:rPr sz="1400" dirty="0" err="1"/>
              <a:t>rastreável</a:t>
            </a:r>
            <a:r>
              <a:rPr sz="1400" dirty="0"/>
              <a:t> (REC-XXXXXX).</a:t>
            </a:r>
            <a:endParaRPr lang="pt-BR" sz="1400" dirty="0"/>
          </a:p>
          <a:p>
            <a:pPr algn="just">
              <a:defRPr sz="1050">
                <a:solidFill>
                  <a:srgbClr val="1E293B"/>
                </a:solidFill>
                <a:latin typeface="Segoe UI"/>
              </a:defRPr>
            </a:pPr>
            <a:endParaRPr sz="1400" dirty="0"/>
          </a:p>
          <a:p>
            <a:pPr algn="just">
              <a:defRPr sz="105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</a:t>
            </a:r>
            <a:r>
              <a:rPr sz="1400" dirty="0" err="1"/>
              <a:t>onChange</a:t>
            </a:r>
            <a:r>
              <a:rPr sz="1400" dirty="0"/>
              <a:t> (</a:t>
            </a:r>
            <a:r>
              <a:rPr sz="1400" dirty="0" err="1"/>
              <a:t>PrestacaoContas.jsx</a:t>
            </a:r>
            <a:r>
              <a:rPr sz="1400" dirty="0"/>
              <a:t>): Filtra </a:t>
            </a:r>
            <a:r>
              <a:rPr sz="1400" dirty="0" err="1"/>
              <a:t>os</a:t>
            </a:r>
            <a:r>
              <a:rPr sz="1400" dirty="0"/>
              <a:t> 13 bairros e a Zona Rural </a:t>
            </a:r>
            <a:r>
              <a:rPr sz="1400" dirty="0" err="1"/>
              <a:t>enquanto</a:t>
            </a:r>
            <a:r>
              <a:rPr sz="1400" dirty="0"/>
              <a:t> o </a:t>
            </a:r>
            <a:r>
              <a:rPr sz="1400" dirty="0" err="1"/>
              <a:t>morador</a:t>
            </a:r>
            <a:r>
              <a:rPr sz="1400" dirty="0"/>
              <a:t> </a:t>
            </a:r>
            <a:r>
              <a:rPr sz="1400" dirty="0" err="1"/>
              <a:t>digita</a:t>
            </a:r>
            <a:r>
              <a:rPr sz="1400" dirty="0"/>
              <a:t>, </a:t>
            </a:r>
            <a:r>
              <a:rPr sz="1400" dirty="0" err="1"/>
              <a:t>normalizando</a:t>
            </a:r>
            <a:r>
              <a:rPr sz="1400" dirty="0"/>
              <a:t> </a:t>
            </a:r>
            <a:r>
              <a:rPr sz="1400" dirty="0" err="1"/>
              <a:t>acentos</a:t>
            </a:r>
            <a:r>
              <a:rPr sz="1400" dirty="0"/>
              <a:t> </a:t>
            </a:r>
            <a:r>
              <a:rPr sz="1400" dirty="0" err="1"/>
              <a:t>sem</a:t>
            </a:r>
            <a:r>
              <a:rPr sz="1400" dirty="0"/>
              <a:t> </a:t>
            </a:r>
            <a:r>
              <a:rPr sz="1400" dirty="0" err="1"/>
              <a:t>travamentos</a:t>
            </a:r>
            <a:r>
              <a:rPr sz="1400" dirty="0"/>
              <a:t>.</a:t>
            </a:r>
            <a:endParaRPr lang="pt-BR" sz="1400" dirty="0"/>
          </a:p>
          <a:p>
            <a:pPr algn="just">
              <a:defRPr sz="1050">
                <a:solidFill>
                  <a:srgbClr val="1E293B"/>
                </a:solidFill>
                <a:latin typeface="Segoe UI"/>
              </a:defRPr>
            </a:pPr>
            <a:endParaRPr sz="1400" dirty="0"/>
          </a:p>
          <a:p>
            <a:pPr algn="just">
              <a:defRPr sz="105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</a:t>
            </a:r>
            <a:r>
              <a:rPr sz="1400" dirty="0" err="1"/>
              <a:t>onClick</a:t>
            </a:r>
            <a:r>
              <a:rPr sz="1400" dirty="0"/>
              <a:t> </a:t>
            </a:r>
            <a:r>
              <a:rPr sz="1400" dirty="0" err="1"/>
              <a:t>na</a:t>
            </a:r>
            <a:r>
              <a:rPr sz="1400" dirty="0"/>
              <a:t> Navbar: Menu </a:t>
            </a:r>
            <a:r>
              <a:rPr sz="1400" dirty="0" err="1"/>
              <a:t>móvel</a:t>
            </a:r>
            <a:r>
              <a:rPr sz="1400" dirty="0"/>
              <a:t> </a:t>
            </a:r>
            <a:r>
              <a:rPr sz="1400" dirty="0" err="1"/>
              <a:t>que</a:t>
            </a:r>
            <a:r>
              <a:rPr sz="1400" dirty="0"/>
              <a:t> </a:t>
            </a:r>
            <a:r>
              <a:rPr sz="1400" dirty="0" err="1"/>
              <a:t>abre</a:t>
            </a:r>
            <a:r>
              <a:rPr sz="1400" dirty="0"/>
              <a:t> e </a:t>
            </a:r>
            <a:r>
              <a:rPr sz="1400" dirty="0" err="1"/>
              <a:t>fecha</a:t>
            </a:r>
            <a:r>
              <a:rPr sz="1400" dirty="0"/>
              <a:t> </a:t>
            </a:r>
            <a:r>
              <a:rPr sz="1400" dirty="0" err="1"/>
              <a:t>sozinho</a:t>
            </a:r>
            <a:r>
              <a:rPr sz="1400" dirty="0"/>
              <a:t> </a:t>
            </a:r>
            <a:r>
              <a:rPr sz="1400" dirty="0" err="1"/>
              <a:t>ao</a:t>
            </a:r>
            <a:r>
              <a:rPr sz="1400" dirty="0"/>
              <a:t> </a:t>
            </a:r>
            <a:r>
              <a:rPr sz="1400" dirty="0" err="1"/>
              <a:t>tocar</a:t>
            </a:r>
            <a:r>
              <a:rPr sz="1400" dirty="0"/>
              <a:t>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qualquer</a:t>
            </a:r>
            <a:r>
              <a:rPr sz="1400" dirty="0"/>
              <a:t> link.</a:t>
            </a:r>
            <a:endParaRPr lang="pt-BR" sz="1400" dirty="0"/>
          </a:p>
          <a:p>
            <a:pPr algn="just">
              <a:defRPr sz="1050">
                <a:solidFill>
                  <a:srgbClr val="1E293B"/>
                </a:solidFill>
                <a:latin typeface="Segoe UI"/>
              </a:defRPr>
            </a:pPr>
            <a:endParaRPr sz="1400" dirty="0"/>
          </a:p>
          <a:p>
            <a:pPr algn="just">
              <a:defRPr sz="105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Clipboard API: </a:t>
            </a:r>
            <a:r>
              <a:rPr sz="1400" dirty="0" err="1"/>
              <a:t>Cópia</a:t>
            </a:r>
            <a:r>
              <a:rPr sz="1400" dirty="0"/>
              <a:t> suave da </a:t>
            </a:r>
            <a:r>
              <a:rPr sz="1400" dirty="0" err="1"/>
              <a:t>chave</a:t>
            </a:r>
            <a:r>
              <a:rPr sz="1400" dirty="0"/>
              <a:t> PIX </a:t>
            </a:r>
            <a:r>
              <a:rPr sz="1400" dirty="0" err="1"/>
              <a:t>sem</a:t>
            </a:r>
            <a:r>
              <a:rPr sz="1400" dirty="0"/>
              <a:t> </a:t>
            </a:r>
            <a:r>
              <a:rPr sz="1400" dirty="0" err="1"/>
              <a:t>selecionar</a:t>
            </a:r>
            <a:r>
              <a:rPr sz="1400" dirty="0"/>
              <a:t> </a:t>
            </a:r>
            <a:r>
              <a:rPr sz="1400" dirty="0" err="1"/>
              <a:t>texto</a:t>
            </a:r>
            <a:r>
              <a:rPr sz="1400" dirty="0"/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166360" cy="10233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defRPr sz="1500" b="1">
                <a:solidFill>
                  <a:srgbClr val="00873E"/>
                </a:solidFill>
                <a:latin typeface="Segoe UI"/>
              </a:defRPr>
            </a:pPr>
            <a:r>
              <a:rPr sz="1600" dirty="0"/>
              <a:t>A Música </a:t>
            </a:r>
            <a:r>
              <a:rPr sz="1600" dirty="0" err="1"/>
              <a:t>que</a:t>
            </a:r>
            <a:r>
              <a:rPr sz="1600" dirty="0"/>
              <a:t> </a:t>
            </a:r>
            <a:r>
              <a:rPr sz="1600" dirty="0" err="1"/>
              <a:t>Conecta</a:t>
            </a:r>
            <a:r>
              <a:rPr sz="1600" dirty="0"/>
              <a:t> </a:t>
            </a:r>
            <a:r>
              <a:rPr sz="1600" dirty="0" err="1"/>
              <a:t>Gerações</a:t>
            </a:r>
            <a:r>
              <a:rPr sz="1600" dirty="0"/>
              <a:t> (Imagine — John Lennon, 1971)</a:t>
            </a:r>
          </a:p>
          <a:p>
            <a:pPr algn="just">
              <a:defRPr sz="1150">
                <a:solidFill>
                  <a:srgbClr val="64748B"/>
                </a:solidFill>
                <a:latin typeface="Segoe UI"/>
              </a:defRPr>
            </a:pPr>
            <a:r>
              <a:rPr dirty="0" err="1"/>
              <a:t>Nenhum</a:t>
            </a:r>
            <a:r>
              <a:rPr dirty="0"/>
              <a:t> </a:t>
            </a:r>
            <a:r>
              <a:rPr dirty="0" err="1"/>
              <a:t>projeto</a:t>
            </a:r>
            <a:r>
              <a:rPr dirty="0"/>
              <a:t> </a:t>
            </a:r>
            <a:r>
              <a:rPr dirty="0" err="1"/>
              <a:t>comunitário</a:t>
            </a:r>
            <a:r>
              <a:rPr dirty="0"/>
              <a:t> </a:t>
            </a:r>
            <a:r>
              <a:rPr dirty="0" err="1"/>
              <a:t>vive</a:t>
            </a:r>
            <a:r>
              <a:rPr dirty="0"/>
              <a:t> </a:t>
            </a:r>
            <a:r>
              <a:rPr dirty="0" err="1"/>
              <a:t>só</a:t>
            </a:r>
            <a:r>
              <a:rPr dirty="0"/>
              <a:t> de </a:t>
            </a:r>
            <a:r>
              <a:rPr dirty="0" err="1"/>
              <a:t>botões</a:t>
            </a:r>
            <a:r>
              <a:rPr dirty="0"/>
              <a:t>; </a:t>
            </a:r>
            <a:r>
              <a:rPr dirty="0" err="1"/>
              <a:t>ele</a:t>
            </a:r>
            <a:r>
              <a:rPr dirty="0"/>
              <a:t> </a:t>
            </a:r>
            <a:r>
              <a:rPr dirty="0" err="1"/>
              <a:t>vive</a:t>
            </a:r>
            <a:r>
              <a:rPr dirty="0"/>
              <a:t> de </a:t>
            </a:r>
            <a:r>
              <a:rPr dirty="0" err="1"/>
              <a:t>sentimento</a:t>
            </a:r>
            <a:r>
              <a:rPr dirty="0"/>
              <a:t>. A </a:t>
            </a:r>
            <a:r>
              <a:rPr dirty="0" err="1"/>
              <a:t>trilha</a:t>
            </a:r>
            <a:r>
              <a:rPr dirty="0"/>
              <a:t> </a:t>
            </a:r>
            <a:r>
              <a:rPr dirty="0" err="1"/>
              <a:t>sonora</a:t>
            </a:r>
            <a:r>
              <a:rPr dirty="0"/>
              <a:t> </a:t>
            </a:r>
            <a:r>
              <a:rPr dirty="0" err="1"/>
              <a:t>traz</a:t>
            </a:r>
            <a:r>
              <a:rPr dirty="0"/>
              <a:t> a </a:t>
            </a:r>
            <a:r>
              <a:rPr dirty="0" err="1"/>
              <a:t>clássica</a:t>
            </a:r>
            <a:r>
              <a:rPr dirty="0"/>
              <a:t> </a:t>
            </a:r>
            <a:r>
              <a:rPr dirty="0" err="1"/>
              <a:t>canção</a:t>
            </a:r>
            <a:r>
              <a:rPr dirty="0"/>
              <a:t> 'Imagine' para </a:t>
            </a:r>
            <a:r>
              <a:rPr dirty="0" err="1"/>
              <a:t>sensibilização</a:t>
            </a:r>
            <a:r>
              <a:rPr dirty="0"/>
              <a:t> </a:t>
            </a:r>
            <a:r>
              <a:rPr dirty="0" err="1"/>
              <a:t>pedagógica</a:t>
            </a:r>
            <a:r>
              <a:rPr dirty="0"/>
              <a:t> e </a:t>
            </a:r>
            <a:r>
              <a:rPr dirty="0" err="1"/>
              <a:t>acolhimento</a:t>
            </a:r>
            <a:r>
              <a:rPr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514600"/>
            <a:ext cx="5166360" cy="35204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651760"/>
            <a:ext cx="4663440" cy="31700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00873E"/>
                </a:solidFill>
                <a:latin typeface="Segoe UI"/>
              </a:defRPr>
            </a:pPr>
            <a:r>
              <a:rPr sz="1600" dirty="0" err="1"/>
              <a:t>Tratamento</a:t>
            </a:r>
            <a:r>
              <a:rPr sz="1600" dirty="0"/>
              <a:t> </a:t>
            </a:r>
            <a:r>
              <a:rPr sz="1600" dirty="0" err="1"/>
              <a:t>Cuidadoso</a:t>
            </a:r>
            <a:r>
              <a:rPr sz="1600" dirty="0"/>
              <a:t> de </a:t>
            </a:r>
            <a:r>
              <a:rPr sz="1600" dirty="0" err="1"/>
              <a:t>Áudio</a:t>
            </a:r>
            <a:r>
              <a:rPr sz="1600" dirty="0"/>
              <a:t>:</a:t>
            </a:r>
          </a:p>
          <a:p>
            <a:pPr algn="just"/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Respeito</a:t>
            </a:r>
            <a:r>
              <a:rPr sz="1600" dirty="0"/>
              <a:t> </a:t>
            </a:r>
            <a:r>
              <a:rPr sz="1600" dirty="0" err="1"/>
              <a:t>ao</a:t>
            </a:r>
            <a:r>
              <a:rPr sz="1600" dirty="0"/>
              <a:t> </a:t>
            </a:r>
            <a:r>
              <a:rPr sz="1600" dirty="0" err="1"/>
              <a:t>Usuário</a:t>
            </a:r>
            <a:r>
              <a:rPr sz="1600" dirty="0"/>
              <a:t> (Anti-Autoplay </a:t>
            </a:r>
            <a:r>
              <a:rPr sz="1600" dirty="0" err="1"/>
              <a:t>Invasivo</a:t>
            </a:r>
            <a:r>
              <a:rPr sz="1600" dirty="0"/>
              <a:t>): </a:t>
            </a:r>
            <a:r>
              <a:rPr sz="1600" dirty="0" err="1"/>
              <a:t>Navegadores</a:t>
            </a:r>
            <a:r>
              <a:rPr sz="1600" dirty="0"/>
              <a:t> </a:t>
            </a:r>
            <a:r>
              <a:rPr sz="1600" dirty="0" err="1"/>
              <a:t>modernos</a:t>
            </a:r>
            <a:r>
              <a:rPr sz="1600" dirty="0"/>
              <a:t> </a:t>
            </a:r>
            <a:r>
              <a:rPr sz="1600" dirty="0" err="1"/>
              <a:t>bloqueiam</a:t>
            </a:r>
            <a:r>
              <a:rPr sz="1600" dirty="0"/>
              <a:t> </a:t>
            </a:r>
            <a:r>
              <a:rPr sz="1600" dirty="0" err="1"/>
              <a:t>reprodução</a:t>
            </a:r>
            <a:r>
              <a:rPr sz="1600" dirty="0"/>
              <a:t> </a:t>
            </a:r>
            <a:r>
              <a:rPr sz="1600" dirty="0" err="1"/>
              <a:t>automática</a:t>
            </a:r>
            <a:r>
              <a:rPr sz="1600" dirty="0"/>
              <a:t>. </a:t>
            </a:r>
            <a:r>
              <a:rPr sz="1600" dirty="0" err="1"/>
              <a:t>Criamos</a:t>
            </a:r>
            <a:r>
              <a:rPr sz="1600" dirty="0"/>
              <a:t> </a:t>
            </a:r>
            <a:r>
              <a:rPr sz="1600" dirty="0" err="1"/>
              <a:t>escutadores</a:t>
            </a:r>
            <a:r>
              <a:rPr sz="1600" dirty="0"/>
              <a:t> de </a:t>
            </a:r>
            <a:r>
              <a:rPr sz="1600" dirty="0" err="1"/>
              <a:t>evento</a:t>
            </a:r>
            <a:r>
              <a:rPr sz="1600" dirty="0"/>
              <a:t> (</a:t>
            </a:r>
            <a:r>
              <a:rPr sz="1600" dirty="0" err="1"/>
              <a:t>window.addEventListener</a:t>
            </a:r>
            <a:r>
              <a:rPr sz="1600" dirty="0"/>
              <a:t>('click') e </a:t>
            </a:r>
            <a:r>
              <a:rPr sz="1600" dirty="0" err="1"/>
              <a:t>rolagem</a:t>
            </a:r>
            <a:r>
              <a:rPr sz="1600" dirty="0"/>
              <a:t>) para </a:t>
            </a:r>
            <a:r>
              <a:rPr sz="1600" dirty="0" err="1"/>
              <a:t>iniciar</a:t>
            </a:r>
            <a:r>
              <a:rPr sz="1600" dirty="0"/>
              <a:t> </a:t>
            </a:r>
            <a:r>
              <a:rPr sz="1600" dirty="0" err="1"/>
              <a:t>suavemente</a:t>
            </a:r>
            <a:r>
              <a:rPr sz="1600" dirty="0"/>
              <a:t> </a:t>
            </a:r>
            <a:r>
              <a:rPr sz="1600" dirty="0" err="1"/>
              <a:t>quando</a:t>
            </a:r>
            <a:r>
              <a:rPr sz="1600" dirty="0"/>
              <a:t> o </a:t>
            </a:r>
            <a:r>
              <a:rPr sz="1600" dirty="0" err="1"/>
              <a:t>visitante</a:t>
            </a:r>
            <a:r>
              <a:rPr sz="1600" dirty="0"/>
              <a:t> </a:t>
            </a:r>
            <a:r>
              <a:rPr sz="1600" dirty="0" err="1"/>
              <a:t>demonstra</a:t>
            </a:r>
            <a:r>
              <a:rPr sz="1600" dirty="0"/>
              <a:t> interesse </a:t>
            </a:r>
            <a:r>
              <a:rPr sz="1600" dirty="0" err="1"/>
              <a:t>pelo</a:t>
            </a:r>
            <a:r>
              <a:rPr sz="1600" dirty="0"/>
              <a:t> site.</a:t>
            </a:r>
          </a:p>
          <a:p>
            <a:pPr algn="just"/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Controles</a:t>
            </a:r>
            <a:r>
              <a:rPr sz="1600" dirty="0"/>
              <a:t> </a:t>
            </a:r>
            <a:r>
              <a:rPr sz="1600" dirty="0" err="1"/>
              <a:t>Completos</a:t>
            </a:r>
            <a:r>
              <a:rPr sz="1600" dirty="0"/>
              <a:t>: Slider de volume </a:t>
            </a:r>
            <a:r>
              <a:rPr sz="1600" dirty="0" err="1"/>
              <a:t>contínuo</a:t>
            </a:r>
            <a:r>
              <a:rPr sz="1600" dirty="0"/>
              <a:t>, </a:t>
            </a:r>
            <a:r>
              <a:rPr sz="1600" dirty="0" err="1"/>
              <a:t>botão</a:t>
            </a:r>
            <a:r>
              <a:rPr sz="1600" dirty="0"/>
              <a:t> de </a:t>
            </a:r>
            <a:r>
              <a:rPr sz="1600" dirty="0" err="1"/>
              <a:t>silenciar</a:t>
            </a:r>
            <a:r>
              <a:rPr sz="1600" dirty="0"/>
              <a:t> (mute), </a:t>
            </a:r>
            <a:r>
              <a:rPr sz="1600" dirty="0" err="1"/>
              <a:t>equalizador</a:t>
            </a:r>
            <a:r>
              <a:rPr sz="1600" dirty="0"/>
              <a:t> com 3 barras </a:t>
            </a:r>
            <a:r>
              <a:rPr sz="1600" dirty="0" err="1"/>
              <a:t>animadas</a:t>
            </a:r>
            <a:r>
              <a:rPr sz="1600" dirty="0"/>
              <a:t> </a:t>
            </a:r>
            <a:r>
              <a:rPr sz="1600" dirty="0" err="1"/>
              <a:t>em</a:t>
            </a:r>
            <a:r>
              <a:rPr sz="1600" dirty="0"/>
              <a:t> CSS e </a:t>
            </a:r>
            <a:r>
              <a:rPr sz="1600" dirty="0" err="1"/>
              <a:t>botão</a:t>
            </a:r>
            <a:r>
              <a:rPr sz="1600" dirty="0"/>
              <a:t> para </a:t>
            </a:r>
            <a:r>
              <a:rPr sz="1600" dirty="0" err="1"/>
              <a:t>recolher</a:t>
            </a:r>
            <a:r>
              <a:rPr sz="1600" dirty="0"/>
              <a:t> o </a:t>
            </a:r>
            <a:r>
              <a:rPr sz="1600" dirty="0" err="1"/>
              <a:t>tocador</a:t>
            </a:r>
            <a:r>
              <a:rPr sz="1600" dirty="0"/>
              <a:t> para um canto </a:t>
            </a:r>
            <a:r>
              <a:rPr sz="1600" dirty="0" err="1"/>
              <a:t>discreto</a:t>
            </a:r>
            <a:r>
              <a:rPr sz="1600" dirty="0"/>
              <a:t> da </a:t>
            </a:r>
            <a:r>
              <a:rPr sz="1600" dirty="0" err="1"/>
              <a:t>tela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873E"/>
                </a:solidFill>
                <a:latin typeface="Segoe UI"/>
              </a:defRPr>
            </a:pPr>
            <a:r>
              <a:t>3. A Força dos Dados Oficiais: A API Pública do IBGE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35440" y="411480"/>
            <a:ext cx="219456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3. CONSUMO DE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Timbiras Solidária — ADS UEMA 2026 | Polo Universitário de Timbiras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Segoe UI"/>
              </a:defRPr>
            </a:pPr>
            <a:r>
              <a:t>Slide 5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5166360" cy="16235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defRPr sz="1550" b="1">
                <a:solidFill>
                  <a:srgbClr val="00873E"/>
                </a:solidFill>
                <a:latin typeface="Segoe UI"/>
              </a:defRPr>
            </a:pPr>
            <a:r>
              <a:rPr dirty="0"/>
              <a:t>Por </a:t>
            </a:r>
            <a:r>
              <a:rPr dirty="0" err="1"/>
              <a:t>Que</a:t>
            </a:r>
            <a:r>
              <a:rPr dirty="0"/>
              <a:t> Usar a API do IBGE?</a:t>
            </a:r>
          </a:p>
          <a:p>
            <a:pPr algn="just"/>
            <a:br>
              <a:rPr dirty="0"/>
            </a:br>
            <a:r>
              <a:rPr dirty="0" err="1"/>
              <a:t>Poderíamos</a:t>
            </a:r>
            <a:r>
              <a:rPr dirty="0"/>
              <a:t> ter </a:t>
            </a:r>
            <a:r>
              <a:rPr dirty="0" err="1"/>
              <a:t>inventado</a:t>
            </a:r>
            <a:r>
              <a:rPr dirty="0"/>
              <a:t> </a:t>
            </a:r>
            <a:r>
              <a:rPr dirty="0" err="1"/>
              <a:t>nomes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um </a:t>
            </a:r>
            <a:r>
              <a:rPr dirty="0" err="1"/>
              <a:t>arquivo</a:t>
            </a:r>
            <a:r>
              <a:rPr dirty="0"/>
              <a:t> </a:t>
            </a:r>
            <a:r>
              <a:rPr dirty="0" err="1"/>
              <a:t>fixo</a:t>
            </a:r>
            <a:r>
              <a:rPr dirty="0"/>
              <a:t>, mas a </a:t>
            </a:r>
            <a:r>
              <a:rPr dirty="0" err="1"/>
              <a:t>disciplina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desafiou</a:t>
            </a:r>
            <a:r>
              <a:rPr dirty="0"/>
              <a:t> a </a:t>
            </a:r>
            <a:r>
              <a:rPr dirty="0" err="1"/>
              <a:t>trabalhar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desenvolvedores</a:t>
            </a:r>
            <a:r>
              <a:rPr dirty="0"/>
              <a:t> </a:t>
            </a:r>
            <a:r>
              <a:rPr dirty="0" err="1"/>
              <a:t>profissionais</a:t>
            </a:r>
            <a:r>
              <a:rPr dirty="0"/>
              <a:t> </a:t>
            </a:r>
            <a:r>
              <a:rPr dirty="0" err="1"/>
              <a:t>trabalham</a:t>
            </a:r>
            <a:r>
              <a:rPr dirty="0"/>
              <a:t>: </a:t>
            </a:r>
            <a:r>
              <a:rPr dirty="0" err="1"/>
              <a:t>consumindo</a:t>
            </a:r>
            <a:r>
              <a:rPr dirty="0"/>
              <a:t> dados reais de </a:t>
            </a:r>
            <a:r>
              <a:rPr dirty="0" err="1"/>
              <a:t>servidores</a:t>
            </a:r>
            <a:r>
              <a:rPr dirty="0"/>
              <a:t> </a:t>
            </a:r>
            <a:r>
              <a:rPr dirty="0" err="1"/>
              <a:t>públicos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tempo real.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29000"/>
            <a:ext cx="5166360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1" y="3520440"/>
            <a:ext cx="5048864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defRPr sz="1050" b="1">
                <a:solidFill>
                  <a:srgbClr val="38BDF8"/>
                </a:solidFill>
                <a:latin typeface="Consolas"/>
              </a:defRPr>
            </a:pPr>
            <a:r>
              <a:rPr sz="1200" dirty="0"/>
              <a:t>GET https://servicodados.ibge.gov.br/api/v1/localidades/estados/MA/municipios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17720"/>
            <a:ext cx="5166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150">
                <a:solidFill>
                  <a:srgbClr val="1E293B"/>
                </a:solidFill>
                <a:latin typeface="Segoe UI"/>
              </a:defRPr>
            </a:pPr>
            <a:r>
              <a:rPr dirty="0"/>
              <a:t>Obtivemos com total </a:t>
            </a:r>
            <a:r>
              <a:rPr dirty="0" err="1"/>
              <a:t>precisão</a:t>
            </a:r>
            <a:r>
              <a:rPr dirty="0"/>
              <a:t> o Código </a:t>
            </a:r>
            <a:r>
              <a:rPr dirty="0" err="1"/>
              <a:t>Oficial</a:t>
            </a:r>
            <a:r>
              <a:rPr dirty="0"/>
              <a:t> do IBGE (ID de 7 </a:t>
            </a:r>
            <a:r>
              <a:rPr dirty="0" err="1"/>
              <a:t>dígitos</a:t>
            </a:r>
            <a:r>
              <a:rPr dirty="0"/>
              <a:t>), a </a:t>
            </a:r>
            <a:r>
              <a:rPr dirty="0" err="1"/>
              <a:t>Microrregião</a:t>
            </a:r>
            <a:r>
              <a:rPr dirty="0"/>
              <a:t> e a </a:t>
            </a:r>
            <a:r>
              <a:rPr dirty="0" err="1"/>
              <a:t>Mesorregião</a:t>
            </a:r>
            <a:r>
              <a:rPr dirty="0"/>
              <a:t> de Timbiras e </a:t>
            </a:r>
            <a:r>
              <a:rPr dirty="0" err="1"/>
              <a:t>cidades</a:t>
            </a:r>
            <a:r>
              <a:rPr dirty="0"/>
              <a:t> </a:t>
            </a:r>
            <a:r>
              <a:rPr dirty="0" err="1"/>
              <a:t>vizinhas</a:t>
            </a:r>
            <a:r>
              <a:rPr dirty="0"/>
              <a:t> da </a:t>
            </a:r>
            <a:r>
              <a:rPr dirty="0" err="1"/>
              <a:t>Região</a:t>
            </a:r>
            <a:r>
              <a:rPr dirty="0"/>
              <a:t> dos </a:t>
            </a:r>
            <a:r>
              <a:rPr dirty="0" err="1"/>
              <a:t>Cocais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234440"/>
            <a:ext cx="5166360" cy="48006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417320"/>
            <a:ext cx="4617720" cy="415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284C7"/>
                </a:solidFill>
                <a:latin typeface="Segoe UI"/>
              </a:defRPr>
            </a:pPr>
            <a:r>
              <a:rPr sz="1600" dirty="0" err="1"/>
              <a:t>Tratamento</a:t>
            </a:r>
            <a:r>
              <a:rPr sz="1600" dirty="0"/>
              <a:t> Humano dos </a:t>
            </a:r>
            <a:r>
              <a:rPr sz="1600" dirty="0" err="1"/>
              <a:t>Estados</a:t>
            </a:r>
            <a:r>
              <a:rPr sz="1600" dirty="0"/>
              <a:t> de Rede</a:t>
            </a:r>
          </a:p>
          <a:p>
            <a:pPr algn="just"/>
            <a:br>
              <a:rPr sz="1600" dirty="0"/>
            </a:br>
            <a:r>
              <a:rPr sz="1600" dirty="0"/>
              <a:t>1. </a:t>
            </a:r>
            <a:r>
              <a:rPr sz="1600" dirty="0" err="1"/>
              <a:t>Momento</a:t>
            </a:r>
            <a:r>
              <a:rPr sz="1600" dirty="0"/>
              <a:t> da Espera (Loading):</a:t>
            </a:r>
            <a:br>
              <a:rPr sz="1600" dirty="0"/>
            </a:br>
            <a:r>
              <a:rPr sz="1600" dirty="0"/>
              <a:t> Em </a:t>
            </a:r>
            <a:r>
              <a:rPr sz="1600" dirty="0" err="1"/>
              <a:t>conexões</a:t>
            </a:r>
            <a:r>
              <a:rPr sz="1600" dirty="0"/>
              <a:t> 3G </a:t>
            </a:r>
            <a:r>
              <a:rPr sz="1600" dirty="0" err="1"/>
              <a:t>ou</a:t>
            </a:r>
            <a:r>
              <a:rPr sz="1600" dirty="0"/>
              <a:t> 4G </a:t>
            </a:r>
            <a:r>
              <a:rPr sz="1600" dirty="0" err="1"/>
              <a:t>comuns</a:t>
            </a:r>
            <a:r>
              <a:rPr sz="1600" dirty="0"/>
              <a:t> no interior, a </a:t>
            </a:r>
            <a:r>
              <a:rPr sz="1600" dirty="0" err="1"/>
              <a:t>requisição</a:t>
            </a:r>
            <a:r>
              <a:rPr sz="1600" dirty="0"/>
              <a:t> </a:t>
            </a:r>
            <a:r>
              <a:rPr sz="1600" dirty="0" err="1"/>
              <a:t>pode</a:t>
            </a:r>
            <a:r>
              <a:rPr sz="1600" dirty="0"/>
              <a:t> </a:t>
            </a:r>
            <a:r>
              <a:rPr sz="1600" dirty="0" err="1"/>
              <a:t>demorar</a:t>
            </a:r>
            <a:r>
              <a:rPr sz="1600" dirty="0"/>
              <a:t>. </a:t>
            </a:r>
            <a:r>
              <a:rPr sz="1600" dirty="0" err="1"/>
              <a:t>Exibimos</a:t>
            </a:r>
            <a:r>
              <a:rPr sz="1600" dirty="0"/>
              <a:t> um spinner </a:t>
            </a:r>
            <a:r>
              <a:rPr sz="1600" dirty="0" err="1"/>
              <a:t>amigável</a:t>
            </a:r>
            <a:r>
              <a:rPr sz="1600" dirty="0"/>
              <a:t> com a </a:t>
            </a:r>
            <a:r>
              <a:rPr sz="1600" dirty="0" err="1"/>
              <a:t>mensagem</a:t>
            </a:r>
            <a:r>
              <a:rPr sz="1600" dirty="0"/>
              <a:t>: '</a:t>
            </a:r>
            <a:r>
              <a:rPr sz="1600" dirty="0" err="1"/>
              <a:t>Consultando</a:t>
            </a:r>
            <a:r>
              <a:rPr sz="1600" dirty="0"/>
              <a:t> base </a:t>
            </a:r>
            <a:r>
              <a:rPr sz="1600" dirty="0" err="1"/>
              <a:t>pública</a:t>
            </a:r>
            <a:r>
              <a:rPr sz="1600" dirty="0"/>
              <a:t> do IBGE...'</a:t>
            </a:r>
          </a:p>
          <a:p>
            <a:pPr algn="just"/>
            <a:br>
              <a:rPr sz="1600" dirty="0"/>
            </a:br>
            <a:r>
              <a:rPr sz="1600" dirty="0"/>
              <a:t>2. Quando a </a:t>
            </a:r>
            <a:r>
              <a:rPr sz="1600" dirty="0" err="1"/>
              <a:t>Conexão</a:t>
            </a:r>
            <a:r>
              <a:rPr sz="1600" dirty="0"/>
              <a:t> Falha (Error):</a:t>
            </a:r>
            <a:br>
              <a:rPr sz="1600" dirty="0"/>
            </a:br>
            <a:r>
              <a:rPr sz="1600" dirty="0"/>
              <a:t> A </a:t>
            </a:r>
            <a:r>
              <a:rPr sz="1600" dirty="0" err="1"/>
              <a:t>vida</a:t>
            </a:r>
            <a:r>
              <a:rPr sz="1600" dirty="0"/>
              <a:t> real </a:t>
            </a:r>
            <a:r>
              <a:rPr sz="1600" dirty="0" err="1"/>
              <a:t>tem</a:t>
            </a:r>
            <a:r>
              <a:rPr sz="1600" dirty="0"/>
              <a:t> </a:t>
            </a:r>
            <a:r>
              <a:rPr sz="1600" dirty="0" err="1"/>
              <a:t>quedas</a:t>
            </a:r>
            <a:r>
              <a:rPr sz="1600" dirty="0"/>
              <a:t> de </a:t>
            </a:r>
            <a:r>
              <a:rPr sz="1600" dirty="0" err="1"/>
              <a:t>sinal</a:t>
            </a:r>
            <a:r>
              <a:rPr sz="1600" dirty="0"/>
              <a:t>. Em </a:t>
            </a:r>
            <a:r>
              <a:rPr sz="1600" dirty="0" err="1"/>
              <a:t>vez</a:t>
            </a:r>
            <a:r>
              <a:rPr sz="1600" dirty="0"/>
              <a:t> de </a:t>
            </a:r>
            <a:r>
              <a:rPr sz="1600" dirty="0" err="1"/>
              <a:t>tela</a:t>
            </a:r>
            <a:r>
              <a:rPr sz="1600" dirty="0"/>
              <a:t> </a:t>
            </a:r>
            <a:r>
              <a:rPr sz="1600" dirty="0" err="1"/>
              <a:t>branca</a:t>
            </a:r>
            <a:r>
              <a:rPr sz="1600" dirty="0"/>
              <a:t> </a:t>
            </a:r>
            <a:r>
              <a:rPr sz="1600" dirty="0" err="1"/>
              <a:t>ou</a:t>
            </a:r>
            <a:r>
              <a:rPr sz="1600" dirty="0"/>
              <a:t> </a:t>
            </a:r>
            <a:r>
              <a:rPr sz="1600" dirty="0" err="1"/>
              <a:t>travamento</a:t>
            </a:r>
            <a:r>
              <a:rPr sz="1600" dirty="0"/>
              <a:t>, </a:t>
            </a:r>
            <a:r>
              <a:rPr sz="1600" dirty="0" err="1"/>
              <a:t>exibimos</a:t>
            </a:r>
            <a:r>
              <a:rPr sz="1600" dirty="0"/>
              <a:t> um </a:t>
            </a:r>
            <a:r>
              <a:rPr sz="1600" dirty="0" err="1"/>
              <a:t>painel</a:t>
            </a:r>
            <a:r>
              <a:rPr sz="1600" dirty="0"/>
              <a:t> </a:t>
            </a:r>
            <a:r>
              <a:rPr sz="1600" dirty="0" err="1"/>
              <a:t>explicativo</a:t>
            </a:r>
            <a:r>
              <a:rPr sz="1600" dirty="0"/>
              <a:t> e o </a:t>
            </a:r>
            <a:r>
              <a:rPr sz="1600" dirty="0" err="1"/>
              <a:t>botão</a:t>
            </a:r>
            <a:r>
              <a:rPr sz="1600" dirty="0"/>
              <a:t> '</a:t>
            </a:r>
            <a:r>
              <a:rPr sz="1600" dirty="0" err="1"/>
              <a:t>Recarregar</a:t>
            </a:r>
            <a:r>
              <a:rPr sz="1600" dirty="0"/>
              <a:t> API'.</a:t>
            </a:r>
          </a:p>
          <a:p>
            <a:pPr algn="just"/>
            <a:br>
              <a:rPr sz="1600" dirty="0"/>
            </a:br>
            <a:r>
              <a:rPr sz="1600" dirty="0"/>
              <a:t>3. Quando </a:t>
            </a:r>
            <a:r>
              <a:rPr sz="1600" dirty="0" err="1"/>
              <a:t>os</a:t>
            </a:r>
            <a:r>
              <a:rPr sz="1600" dirty="0"/>
              <a:t> Dados </a:t>
            </a:r>
            <a:r>
              <a:rPr sz="1600" dirty="0" err="1"/>
              <a:t>Chegam</a:t>
            </a:r>
            <a:r>
              <a:rPr sz="1600" dirty="0"/>
              <a:t> (Success):</a:t>
            </a:r>
            <a:br>
              <a:rPr sz="1600" dirty="0"/>
            </a:br>
            <a:r>
              <a:rPr sz="1600" dirty="0"/>
              <a:t> </a:t>
            </a:r>
            <a:r>
              <a:rPr sz="1600" dirty="0" err="1"/>
              <a:t>Convertemos</a:t>
            </a:r>
            <a:r>
              <a:rPr sz="1600" dirty="0"/>
              <a:t> o JSON com </a:t>
            </a:r>
            <a:r>
              <a:rPr sz="1600" dirty="0" err="1"/>
              <a:t>response.json</a:t>
            </a:r>
            <a:r>
              <a:rPr sz="1600" dirty="0"/>
              <a:t>() e </a:t>
            </a:r>
            <a:r>
              <a:rPr sz="1600" dirty="0" err="1"/>
              <a:t>preenchemos</a:t>
            </a:r>
            <a:r>
              <a:rPr sz="1600" dirty="0"/>
              <a:t> 217 </a:t>
            </a:r>
            <a:r>
              <a:rPr sz="1600" dirty="0" err="1"/>
              <a:t>cidades</a:t>
            </a:r>
            <a:r>
              <a:rPr sz="1600" dirty="0"/>
              <a:t>, </a:t>
            </a:r>
            <a:r>
              <a:rPr sz="1600" dirty="0" err="1"/>
              <a:t>dando</a:t>
            </a:r>
            <a:r>
              <a:rPr sz="1600" dirty="0"/>
              <a:t> </a:t>
            </a:r>
            <a:r>
              <a:rPr sz="1600" dirty="0" err="1"/>
              <a:t>destaque</a:t>
            </a:r>
            <a:r>
              <a:rPr sz="1600" dirty="0"/>
              <a:t> a Timbiras, </a:t>
            </a:r>
            <a:r>
              <a:rPr sz="1600" dirty="0" err="1"/>
              <a:t>Codó</a:t>
            </a:r>
            <a:r>
              <a:rPr sz="1600" dirty="0"/>
              <a:t>, </a:t>
            </a:r>
            <a:r>
              <a:rPr sz="1600" dirty="0" err="1"/>
              <a:t>Coroatá</a:t>
            </a:r>
            <a:r>
              <a:rPr sz="1600" dirty="0"/>
              <a:t>, Caxias, </a:t>
            </a:r>
            <a:r>
              <a:rPr sz="1600" dirty="0" err="1"/>
              <a:t>Peritoró</a:t>
            </a:r>
            <a:r>
              <a:rPr sz="1600" dirty="0"/>
              <a:t> e Alto Alegre.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873E"/>
                </a:solidFill>
                <a:latin typeface="Segoe UI"/>
              </a:defRPr>
            </a:pPr>
            <a:r>
              <a:t>3. Do JSON ao Mapa: A Rota da Solidariedade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35440" y="411480"/>
            <a:ext cx="219456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3. CONSUMO DE API &amp; LEAFLET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Timbiras Solidária — ADS UEMA 2026 | Polo Universitário de Timbiras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Segoe UI"/>
              </a:defRPr>
            </a:pPr>
            <a:r>
              <a:t>Slide 6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166360" cy="4800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5071" y="1417320"/>
            <a:ext cx="5053289" cy="40626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rPr sz="1600" dirty="0"/>
              <a:t>Código de </a:t>
            </a:r>
            <a:r>
              <a:rPr sz="1600" dirty="0" err="1"/>
              <a:t>Integração</a:t>
            </a:r>
            <a:r>
              <a:rPr sz="1600" dirty="0"/>
              <a:t> </a:t>
            </a:r>
            <a:r>
              <a:rPr sz="1600" dirty="0" err="1"/>
              <a:t>Assíncrona</a:t>
            </a:r>
            <a:endParaRPr sz="1600" dirty="0"/>
          </a:p>
          <a:p>
            <a:br>
              <a:rPr sz="1200" dirty="0">
                <a:solidFill>
                  <a:schemeClr val="bg1"/>
                </a:solidFill>
              </a:rPr>
            </a:br>
            <a:r>
              <a:rPr sz="1200" dirty="0" err="1">
                <a:solidFill>
                  <a:schemeClr val="bg1"/>
                </a:solidFill>
              </a:rPr>
              <a:t>useEffect</a:t>
            </a:r>
            <a:r>
              <a:rPr sz="1200" dirty="0">
                <a:solidFill>
                  <a:schemeClr val="bg1"/>
                </a:solidFill>
              </a:rPr>
              <a:t>(() =&gt; {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const </a:t>
            </a:r>
            <a:r>
              <a:rPr sz="1200" dirty="0" err="1">
                <a:solidFill>
                  <a:schemeClr val="bg1"/>
                </a:solidFill>
              </a:rPr>
              <a:t>controlador</a:t>
            </a:r>
            <a:r>
              <a:rPr sz="1200" dirty="0">
                <a:solidFill>
                  <a:schemeClr val="bg1"/>
                </a:solidFill>
              </a:rPr>
              <a:t> = new </a:t>
            </a:r>
            <a:r>
              <a:rPr sz="1200" dirty="0" err="1">
                <a:solidFill>
                  <a:schemeClr val="bg1"/>
                </a:solidFill>
              </a:rPr>
              <a:t>AbortController</a:t>
            </a:r>
            <a:r>
              <a:rPr sz="1200" dirty="0">
                <a:solidFill>
                  <a:schemeClr val="bg1"/>
                </a:solidFill>
              </a:rPr>
              <a:t>();</a:t>
            </a:r>
            <a:br>
              <a:rPr sz="1200" dirty="0">
                <a:solidFill>
                  <a:schemeClr val="bg1"/>
                </a:solidFill>
              </a:rPr>
            </a:b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fetch('https://servicodados.ibge.gov.br/.../municipios', {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  signal: </a:t>
            </a:r>
            <a:r>
              <a:rPr sz="1200" dirty="0" err="1">
                <a:solidFill>
                  <a:schemeClr val="bg1"/>
                </a:solidFill>
              </a:rPr>
              <a:t>controlador.signal</a:t>
            </a:r>
            <a:r>
              <a:rPr sz="1200" dirty="0">
                <a:solidFill>
                  <a:schemeClr val="bg1"/>
                </a:solidFill>
              </a:rPr>
              <a:t> // Evita memory leak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})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  .then(res =&gt; {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    if (!</a:t>
            </a:r>
            <a:r>
              <a:rPr sz="1200" dirty="0" err="1">
                <a:solidFill>
                  <a:schemeClr val="bg1"/>
                </a:solidFill>
              </a:rPr>
              <a:t>res.ok</a:t>
            </a:r>
            <a:r>
              <a:rPr sz="1200" dirty="0">
                <a:solidFill>
                  <a:schemeClr val="bg1"/>
                </a:solidFill>
              </a:rPr>
              <a:t>) throw new Error('Falha </a:t>
            </a:r>
            <a:r>
              <a:rPr sz="1200" dirty="0" err="1">
                <a:solidFill>
                  <a:schemeClr val="bg1"/>
                </a:solidFill>
              </a:rPr>
              <a:t>na</a:t>
            </a:r>
            <a:r>
              <a:rPr sz="1200" dirty="0">
                <a:solidFill>
                  <a:schemeClr val="bg1"/>
                </a:solidFill>
              </a:rPr>
              <a:t> </a:t>
            </a:r>
            <a:r>
              <a:rPr sz="1200" dirty="0" err="1">
                <a:solidFill>
                  <a:schemeClr val="bg1"/>
                </a:solidFill>
              </a:rPr>
              <a:t>resposta</a:t>
            </a:r>
            <a:r>
              <a:rPr sz="1200" dirty="0">
                <a:solidFill>
                  <a:schemeClr val="bg1"/>
                </a:solidFill>
              </a:rPr>
              <a:t>');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    return </a:t>
            </a:r>
            <a:r>
              <a:rPr sz="1200" dirty="0" err="1">
                <a:solidFill>
                  <a:schemeClr val="bg1"/>
                </a:solidFill>
              </a:rPr>
              <a:t>res.json</a:t>
            </a:r>
            <a:r>
              <a:rPr sz="1200" dirty="0">
                <a:solidFill>
                  <a:schemeClr val="bg1"/>
                </a:solidFill>
              </a:rPr>
              <a:t>(); // </a:t>
            </a:r>
            <a:r>
              <a:rPr sz="1200" dirty="0" err="1">
                <a:solidFill>
                  <a:schemeClr val="bg1"/>
                </a:solidFill>
              </a:rPr>
              <a:t>Converte</a:t>
            </a:r>
            <a:r>
              <a:rPr sz="1200" dirty="0">
                <a:solidFill>
                  <a:schemeClr val="bg1"/>
                </a:solidFill>
              </a:rPr>
              <a:t> </a:t>
            </a:r>
            <a:r>
              <a:rPr sz="1200" dirty="0" err="1">
                <a:solidFill>
                  <a:schemeClr val="bg1"/>
                </a:solidFill>
              </a:rPr>
              <a:t>fluxo</a:t>
            </a:r>
            <a:r>
              <a:rPr sz="1200" dirty="0">
                <a:solidFill>
                  <a:schemeClr val="bg1"/>
                </a:solidFill>
              </a:rPr>
              <a:t> </a:t>
            </a:r>
            <a:r>
              <a:rPr sz="1200" dirty="0" err="1">
                <a:solidFill>
                  <a:schemeClr val="bg1"/>
                </a:solidFill>
              </a:rPr>
              <a:t>em</a:t>
            </a:r>
            <a:r>
              <a:rPr sz="1200" dirty="0">
                <a:solidFill>
                  <a:schemeClr val="bg1"/>
                </a:solidFill>
              </a:rPr>
              <a:t> JSON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  })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  .then(dados =&gt; </a:t>
            </a:r>
            <a:r>
              <a:rPr sz="1200" dirty="0" err="1">
                <a:solidFill>
                  <a:schemeClr val="bg1"/>
                </a:solidFill>
              </a:rPr>
              <a:t>setMunicipiosIbge</a:t>
            </a:r>
            <a:r>
              <a:rPr sz="1200" dirty="0">
                <a:solidFill>
                  <a:schemeClr val="bg1"/>
                </a:solidFill>
              </a:rPr>
              <a:t>(dados))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  .catch(err =&gt; {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    if (err.name !== '</a:t>
            </a:r>
            <a:r>
              <a:rPr sz="1200" dirty="0" err="1">
                <a:solidFill>
                  <a:schemeClr val="bg1"/>
                </a:solidFill>
              </a:rPr>
              <a:t>AbortError</a:t>
            </a:r>
            <a:r>
              <a:rPr sz="1200" dirty="0">
                <a:solidFill>
                  <a:schemeClr val="bg1"/>
                </a:solidFill>
              </a:rPr>
              <a:t>')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      </a:t>
            </a:r>
            <a:r>
              <a:rPr sz="1200" dirty="0" err="1">
                <a:solidFill>
                  <a:schemeClr val="bg1"/>
                </a:solidFill>
              </a:rPr>
              <a:t>setErro</a:t>
            </a:r>
            <a:r>
              <a:rPr sz="1200" dirty="0">
                <a:solidFill>
                  <a:schemeClr val="bg1"/>
                </a:solidFill>
              </a:rPr>
              <a:t>('</a:t>
            </a:r>
            <a:r>
              <a:rPr sz="1200" dirty="0" err="1">
                <a:solidFill>
                  <a:schemeClr val="bg1"/>
                </a:solidFill>
              </a:rPr>
              <a:t>Sinal</a:t>
            </a:r>
            <a:r>
              <a:rPr sz="1200" dirty="0">
                <a:solidFill>
                  <a:schemeClr val="bg1"/>
                </a:solidFill>
              </a:rPr>
              <a:t> </a:t>
            </a:r>
            <a:r>
              <a:rPr sz="1200" dirty="0" err="1">
                <a:solidFill>
                  <a:schemeClr val="bg1"/>
                </a:solidFill>
              </a:rPr>
              <a:t>instável</a:t>
            </a:r>
            <a:r>
              <a:rPr sz="1200" dirty="0">
                <a:solidFill>
                  <a:schemeClr val="bg1"/>
                </a:solidFill>
              </a:rPr>
              <a:t>. </a:t>
            </a:r>
            <a:r>
              <a:rPr sz="1200" dirty="0" err="1">
                <a:solidFill>
                  <a:schemeClr val="bg1"/>
                </a:solidFill>
              </a:rPr>
              <a:t>Tente</a:t>
            </a:r>
            <a:r>
              <a:rPr sz="1200" dirty="0">
                <a:solidFill>
                  <a:schemeClr val="bg1"/>
                </a:solidFill>
              </a:rPr>
              <a:t> </a:t>
            </a:r>
            <a:r>
              <a:rPr sz="1200" dirty="0" err="1">
                <a:solidFill>
                  <a:schemeClr val="bg1"/>
                </a:solidFill>
              </a:rPr>
              <a:t>novamente</a:t>
            </a:r>
            <a:r>
              <a:rPr sz="1200" dirty="0">
                <a:solidFill>
                  <a:schemeClr val="bg1"/>
                </a:solidFill>
              </a:rPr>
              <a:t>.');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  })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  .finally(() =&gt; </a:t>
            </a:r>
            <a:r>
              <a:rPr sz="1200" dirty="0" err="1">
                <a:solidFill>
                  <a:schemeClr val="bg1"/>
                </a:solidFill>
              </a:rPr>
              <a:t>setCarregando</a:t>
            </a:r>
            <a:r>
              <a:rPr sz="1200" dirty="0">
                <a:solidFill>
                  <a:schemeClr val="bg1"/>
                </a:solidFill>
              </a:rPr>
              <a:t>(false));</a:t>
            </a:r>
            <a:br>
              <a:rPr sz="1200" dirty="0">
                <a:solidFill>
                  <a:schemeClr val="bg1"/>
                </a:solidFill>
              </a:rPr>
            </a:b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return () =&gt; </a:t>
            </a:r>
            <a:r>
              <a:rPr sz="1400" dirty="0" err="1">
                <a:solidFill>
                  <a:schemeClr val="bg1"/>
                </a:solidFill>
              </a:rPr>
              <a:t>controlador.abort</a:t>
            </a:r>
            <a:r>
              <a:rPr sz="1400" dirty="0">
                <a:solidFill>
                  <a:schemeClr val="bg1"/>
                </a:solidFill>
              </a:rPr>
              <a:t>();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}, []);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16636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234440"/>
            <a:ext cx="73152" cy="2286000"/>
          </a:xfrm>
          <a:prstGeom prst="rect">
            <a:avLst/>
          </a:prstGeom>
          <a:solidFill>
            <a:srgbClr val="00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417320"/>
            <a:ext cx="4663440" cy="21852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00873E"/>
                </a:solidFill>
                <a:latin typeface="Segoe UI"/>
              </a:defRPr>
            </a:pPr>
            <a:r>
              <a:rPr dirty="0"/>
              <a:t>O Voo da Esperança (</a:t>
            </a:r>
            <a:r>
              <a:rPr dirty="0" err="1"/>
              <a:t>mapa.flyTo</a:t>
            </a:r>
            <a:r>
              <a:rPr dirty="0"/>
              <a:t>)</a:t>
            </a:r>
          </a:p>
          <a:p>
            <a:pPr algn="just"/>
            <a:br>
              <a:rPr dirty="0"/>
            </a:br>
            <a:r>
              <a:rPr dirty="0" err="1"/>
              <a:t>Usamos</a:t>
            </a:r>
            <a:r>
              <a:rPr dirty="0"/>
              <a:t> o hook </a:t>
            </a:r>
            <a:r>
              <a:rPr dirty="0" err="1"/>
              <a:t>useMemo</a:t>
            </a:r>
            <a:r>
              <a:rPr dirty="0"/>
              <a:t> para </a:t>
            </a:r>
            <a:r>
              <a:rPr dirty="0" err="1"/>
              <a:t>cruzar</a:t>
            </a:r>
            <a:r>
              <a:rPr dirty="0"/>
              <a:t> a </a:t>
            </a:r>
            <a:r>
              <a:rPr dirty="0" err="1"/>
              <a:t>lista</a:t>
            </a:r>
            <a:r>
              <a:rPr dirty="0"/>
              <a:t> </a:t>
            </a:r>
            <a:r>
              <a:rPr dirty="0" err="1"/>
              <a:t>oficial</a:t>
            </a:r>
            <a:r>
              <a:rPr dirty="0"/>
              <a:t> do IBGE com as </a:t>
            </a:r>
            <a:r>
              <a:rPr dirty="0" err="1"/>
              <a:t>coordenadas</a:t>
            </a:r>
            <a:r>
              <a:rPr dirty="0"/>
              <a:t> </a:t>
            </a:r>
            <a:r>
              <a:rPr dirty="0" err="1"/>
              <a:t>geográficas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cidade</a:t>
            </a:r>
            <a:r>
              <a:rPr dirty="0"/>
              <a:t> </a:t>
            </a:r>
            <a:r>
              <a:rPr dirty="0" err="1"/>
              <a:t>parceira</a:t>
            </a:r>
            <a:r>
              <a:rPr dirty="0"/>
              <a:t>. Ao </a:t>
            </a:r>
            <a:r>
              <a:rPr dirty="0" err="1"/>
              <a:t>clicar</a:t>
            </a:r>
            <a:r>
              <a:rPr dirty="0"/>
              <a:t> no card de </a:t>
            </a:r>
            <a:r>
              <a:rPr dirty="0" err="1"/>
              <a:t>Coroatá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Codó</a:t>
            </a:r>
            <a:r>
              <a:rPr dirty="0"/>
              <a:t>, o </a:t>
            </a:r>
            <a:r>
              <a:rPr dirty="0" err="1"/>
              <a:t>mapa</a:t>
            </a:r>
            <a:r>
              <a:rPr dirty="0"/>
              <a:t> </a:t>
            </a:r>
            <a:r>
              <a:rPr dirty="0" err="1"/>
              <a:t>faz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transição</a:t>
            </a:r>
            <a:r>
              <a:rPr dirty="0"/>
              <a:t> suave de </a:t>
            </a:r>
            <a:r>
              <a:rPr dirty="0" err="1"/>
              <a:t>câmera</a:t>
            </a:r>
            <a:r>
              <a:rPr dirty="0"/>
              <a:t> </a:t>
            </a:r>
            <a:r>
              <a:rPr dirty="0" err="1"/>
              <a:t>até</a:t>
            </a:r>
            <a:r>
              <a:rPr dirty="0"/>
              <a:t> a </a:t>
            </a:r>
            <a:r>
              <a:rPr dirty="0" err="1"/>
              <a:t>cidade</a:t>
            </a:r>
            <a:r>
              <a:rPr dirty="0"/>
              <a:t>, com </a:t>
            </a:r>
            <a:r>
              <a:rPr dirty="0" err="1"/>
              <a:t>marcador</a:t>
            </a:r>
            <a:r>
              <a:rPr dirty="0"/>
              <a:t> e </a:t>
            </a:r>
            <a:r>
              <a:rPr dirty="0" err="1"/>
              <a:t>detalhes</a:t>
            </a:r>
            <a:r>
              <a:rPr dirty="0"/>
              <a:t> da </a:t>
            </a:r>
            <a:r>
              <a:rPr dirty="0" err="1"/>
              <a:t>distância</a:t>
            </a:r>
            <a:r>
              <a:rPr dirty="0"/>
              <a:t> de Timbiras.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749039"/>
            <a:ext cx="5166360" cy="2286000"/>
          </a:xfrm>
          <a:prstGeom prst="roundRect">
            <a:avLst/>
          </a:prstGeom>
          <a:solidFill>
            <a:srgbClr val="FEFCE8"/>
          </a:solidFill>
          <a:ln w="1270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3749039"/>
            <a:ext cx="73152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3931920"/>
            <a:ext cx="4663440" cy="1631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B45309"/>
                </a:solidFill>
                <a:latin typeface="Segoe UI"/>
              </a:defRPr>
            </a:pPr>
            <a:r>
              <a:rPr sz="1600" dirty="0" err="1"/>
              <a:t>Busca</a:t>
            </a:r>
            <a:r>
              <a:rPr sz="1600" dirty="0"/>
              <a:t> </a:t>
            </a:r>
            <a:r>
              <a:rPr sz="1600" dirty="0" err="1"/>
              <a:t>Ampla</a:t>
            </a:r>
            <a:r>
              <a:rPr sz="1600" dirty="0"/>
              <a:t> </a:t>
            </a:r>
            <a:r>
              <a:rPr sz="1600" dirty="0" err="1"/>
              <a:t>por</a:t>
            </a:r>
            <a:r>
              <a:rPr sz="1600" dirty="0"/>
              <a:t> </a:t>
            </a:r>
            <a:r>
              <a:rPr sz="1600" dirty="0" err="1"/>
              <a:t>Qualquer</a:t>
            </a:r>
            <a:r>
              <a:rPr sz="1600" dirty="0"/>
              <a:t> </a:t>
            </a:r>
            <a:r>
              <a:rPr sz="1600" dirty="0" err="1"/>
              <a:t>Cidade</a:t>
            </a:r>
            <a:endParaRPr sz="1600" dirty="0"/>
          </a:p>
          <a:p>
            <a:pPr algn="just"/>
            <a:br>
              <a:rPr dirty="0"/>
            </a:br>
            <a:r>
              <a:rPr dirty="0" err="1"/>
              <a:t>Além</a:t>
            </a:r>
            <a:r>
              <a:rPr dirty="0"/>
              <a:t> das </a:t>
            </a:r>
            <a:r>
              <a:rPr dirty="0" err="1"/>
              <a:t>cidades</a:t>
            </a:r>
            <a:r>
              <a:rPr dirty="0"/>
              <a:t> dos </a:t>
            </a:r>
            <a:r>
              <a:rPr dirty="0" err="1"/>
              <a:t>Cocais</a:t>
            </a:r>
            <a:r>
              <a:rPr dirty="0"/>
              <a:t>, o </a:t>
            </a:r>
            <a:r>
              <a:rPr dirty="0" err="1"/>
              <a:t>usuário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selecionar</a:t>
            </a:r>
            <a:r>
              <a:rPr dirty="0"/>
              <a:t> </a:t>
            </a:r>
            <a:r>
              <a:rPr dirty="0" err="1"/>
              <a:t>qualquer</a:t>
            </a:r>
            <a:r>
              <a:rPr dirty="0"/>
              <a:t> </a:t>
            </a:r>
            <a:r>
              <a:rPr dirty="0" err="1"/>
              <a:t>município</a:t>
            </a:r>
            <a:r>
              <a:rPr dirty="0"/>
              <a:t> do Maranhão no dropdown </a:t>
            </a:r>
            <a:r>
              <a:rPr dirty="0" err="1"/>
              <a:t>dinâmico</a:t>
            </a:r>
            <a:r>
              <a:rPr dirty="0"/>
              <a:t> para </a:t>
            </a:r>
            <a:r>
              <a:rPr dirty="0" err="1"/>
              <a:t>localizar</a:t>
            </a:r>
            <a:r>
              <a:rPr dirty="0"/>
              <a:t> e </a:t>
            </a:r>
            <a:r>
              <a:rPr dirty="0" err="1"/>
              <a:t>planejar</a:t>
            </a:r>
            <a:r>
              <a:rPr dirty="0"/>
              <a:t> </a:t>
            </a:r>
            <a:r>
              <a:rPr dirty="0" err="1"/>
              <a:t>novos</a:t>
            </a:r>
            <a:r>
              <a:rPr dirty="0"/>
              <a:t> polos de </a:t>
            </a:r>
            <a:r>
              <a:rPr dirty="0" err="1"/>
              <a:t>expansão</a:t>
            </a:r>
            <a:r>
              <a:rPr dirty="0"/>
              <a:t> </a:t>
            </a:r>
            <a:r>
              <a:rPr dirty="0" err="1"/>
              <a:t>solidária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873E"/>
                </a:solidFill>
                <a:latin typeface="Segoe UI"/>
              </a:defRPr>
            </a:pPr>
            <a:r>
              <a:t>4. Organização com React: Componentes com Propósito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35440" y="411480"/>
            <a:ext cx="219456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4. FRAMEWORK &amp; SPA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Timbiras Solidária — ADS UEMA 2026 | Polo Universitário de Timbiras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Segoe UI"/>
              </a:defRPr>
            </a:pPr>
            <a:r>
              <a:t>Slide 7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4572000" cy="4800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417320"/>
            <a:ext cx="4114800" cy="3847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00873E"/>
                </a:solidFill>
                <a:latin typeface="Segoe UI"/>
              </a:defRPr>
            </a:pPr>
            <a:r>
              <a:rPr sz="1600" dirty="0" err="1"/>
              <a:t>Árvore</a:t>
            </a:r>
            <a:r>
              <a:rPr sz="1600" dirty="0"/>
              <a:t> Modular de </a:t>
            </a:r>
            <a:r>
              <a:rPr sz="1600" dirty="0" err="1"/>
              <a:t>Componentes</a:t>
            </a:r>
            <a:endParaRPr sz="1600" dirty="0"/>
          </a:p>
          <a:p>
            <a:br>
              <a:rPr dirty="0"/>
            </a:br>
            <a:r>
              <a:rPr dirty="0" err="1"/>
              <a:t>App.jsx</a:t>
            </a:r>
            <a:r>
              <a:rPr dirty="0"/>
              <a:t> (</a:t>
            </a:r>
            <a:r>
              <a:rPr dirty="0" err="1"/>
              <a:t>Orquestrador</a:t>
            </a:r>
            <a:r>
              <a:rPr dirty="0"/>
              <a:t> Global)</a:t>
            </a:r>
            <a:br>
              <a:rPr dirty="0"/>
            </a:br>
            <a:r>
              <a:rPr dirty="0"/>
              <a:t>├ </a:t>
            </a:r>
            <a:r>
              <a:rPr dirty="0" err="1"/>
              <a:t>Navbar.jsx</a:t>
            </a:r>
            <a:r>
              <a:rPr dirty="0"/>
              <a:t> (Menu &amp; Mobile Toggle)</a:t>
            </a:r>
            <a:br>
              <a:rPr dirty="0"/>
            </a:br>
            <a:r>
              <a:rPr dirty="0"/>
              <a:t>├ </a:t>
            </a:r>
            <a:r>
              <a:rPr dirty="0" err="1"/>
              <a:t>Hero.jsx</a:t>
            </a:r>
            <a:r>
              <a:rPr dirty="0"/>
              <a:t> (Banner &amp; Metas </a:t>
            </a:r>
            <a:r>
              <a:rPr dirty="0" err="1"/>
              <a:t>ao</a:t>
            </a:r>
            <a:r>
              <a:rPr dirty="0"/>
              <a:t> Vivo)</a:t>
            </a:r>
            <a:br>
              <a:rPr dirty="0"/>
            </a:br>
            <a:r>
              <a:rPr dirty="0"/>
              <a:t>├ </a:t>
            </a:r>
            <a:r>
              <a:rPr dirty="0" err="1"/>
              <a:t>ConsumoApi.jsx</a:t>
            </a:r>
            <a:r>
              <a:rPr dirty="0"/>
              <a:t> (IBGE &amp; Leaflet)</a:t>
            </a:r>
            <a:br>
              <a:rPr dirty="0"/>
            </a:br>
            <a:r>
              <a:rPr dirty="0"/>
              <a:t>├ </a:t>
            </a:r>
            <a:r>
              <a:rPr dirty="0" err="1"/>
              <a:t>SobreCompleto.jsx</a:t>
            </a:r>
            <a:r>
              <a:rPr dirty="0"/>
              <a:t> (</a:t>
            </a:r>
            <a:r>
              <a:rPr dirty="0" err="1"/>
              <a:t>História</a:t>
            </a:r>
            <a:r>
              <a:rPr dirty="0"/>
              <a:t>)</a:t>
            </a:r>
            <a:br>
              <a:rPr dirty="0"/>
            </a:br>
            <a:r>
              <a:rPr dirty="0"/>
              <a:t>├ </a:t>
            </a:r>
            <a:r>
              <a:rPr dirty="0" err="1"/>
              <a:t>ComoFunciona.jsx</a:t>
            </a:r>
            <a:r>
              <a:rPr dirty="0"/>
              <a:t> (4 Passos)</a:t>
            </a:r>
            <a:br>
              <a:rPr dirty="0"/>
            </a:br>
            <a:r>
              <a:rPr dirty="0"/>
              <a:t>├ </a:t>
            </a:r>
            <a:r>
              <a:rPr dirty="0" err="1"/>
              <a:t>Fluxo.jsx</a:t>
            </a:r>
            <a:r>
              <a:rPr dirty="0"/>
              <a:t> (</a:t>
            </a:r>
            <a:r>
              <a:rPr dirty="0" err="1"/>
              <a:t>Percurso</a:t>
            </a:r>
            <a:r>
              <a:rPr dirty="0"/>
              <a:t> do Alimento)</a:t>
            </a:r>
            <a:br>
              <a:rPr dirty="0"/>
            </a:br>
            <a:r>
              <a:rPr dirty="0"/>
              <a:t>├ </a:t>
            </a:r>
            <a:r>
              <a:rPr dirty="0" err="1"/>
              <a:t>PrestacaoContas.jsx</a:t>
            </a:r>
            <a:r>
              <a:rPr dirty="0"/>
              <a:t> (Bairros)</a:t>
            </a:r>
            <a:br>
              <a:rPr dirty="0"/>
            </a:br>
            <a:r>
              <a:rPr dirty="0"/>
              <a:t>├ </a:t>
            </a:r>
            <a:r>
              <a:rPr dirty="0" err="1"/>
              <a:t>Doar.jsx</a:t>
            </a:r>
            <a:r>
              <a:rPr dirty="0"/>
              <a:t> (Chips, PIX &amp; </a:t>
            </a:r>
            <a:r>
              <a:rPr dirty="0" err="1"/>
              <a:t>Recibo</a:t>
            </a:r>
            <a:r>
              <a:rPr dirty="0"/>
              <a:t>)</a:t>
            </a:r>
            <a:br>
              <a:rPr dirty="0"/>
            </a:br>
            <a:r>
              <a:rPr dirty="0"/>
              <a:t>├ </a:t>
            </a:r>
            <a:r>
              <a:rPr dirty="0" err="1"/>
              <a:t>PlayerAudio.jsx</a:t>
            </a:r>
            <a:r>
              <a:rPr dirty="0"/>
              <a:t> (Trilha Sonora)</a:t>
            </a:r>
            <a:br>
              <a:rPr dirty="0"/>
            </a:br>
            <a:r>
              <a:rPr dirty="0"/>
              <a:t>├ </a:t>
            </a:r>
            <a:r>
              <a:rPr dirty="0" err="1"/>
              <a:t>Contato.jsx</a:t>
            </a:r>
            <a:r>
              <a:rPr dirty="0"/>
              <a:t> (</a:t>
            </a:r>
            <a:r>
              <a:rPr dirty="0" err="1"/>
              <a:t>Ouvidoria</a:t>
            </a:r>
            <a:r>
              <a:rPr dirty="0"/>
              <a:t> Local)</a:t>
            </a:r>
            <a:br>
              <a:rPr dirty="0"/>
            </a:br>
            <a:r>
              <a:rPr lang="pt-BR" dirty="0"/>
              <a:t> </a:t>
            </a:r>
            <a:r>
              <a:rPr dirty="0"/>
              <a:t>└</a:t>
            </a:r>
            <a:r>
              <a:rPr lang="pt-BR"/>
              <a:t>-</a:t>
            </a:r>
            <a:r>
              <a:t> </a:t>
            </a:r>
            <a:r>
              <a:rPr dirty="0" err="1"/>
              <a:t>Footer.jsx</a:t>
            </a:r>
            <a:r>
              <a:rPr dirty="0"/>
              <a:t> (</a:t>
            </a:r>
            <a:r>
              <a:rPr dirty="0" err="1"/>
              <a:t>Créditos</a:t>
            </a:r>
            <a:r>
              <a:rPr dirty="0"/>
              <a:t> &amp; Links)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234440"/>
            <a:ext cx="5836615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23560" y="1234440"/>
            <a:ext cx="73152" cy="2011680"/>
          </a:xfrm>
          <a:prstGeom prst="rect">
            <a:avLst/>
          </a:prstGeom>
          <a:solidFill>
            <a:srgbClr val="00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97880" y="1371600"/>
            <a:ext cx="5303520" cy="1631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00873E"/>
                </a:solidFill>
                <a:latin typeface="Segoe UI"/>
              </a:defRPr>
            </a:pPr>
            <a:r>
              <a:rPr sz="1600" dirty="0"/>
              <a:t>Sem </a:t>
            </a:r>
            <a:r>
              <a:rPr sz="1600" dirty="0" err="1"/>
              <a:t>Aquele</a:t>
            </a:r>
            <a:r>
              <a:rPr sz="1600" dirty="0"/>
              <a:t> '</a:t>
            </a:r>
            <a:r>
              <a:rPr sz="1600" dirty="0" err="1"/>
              <a:t>Piscar</a:t>
            </a:r>
            <a:r>
              <a:rPr sz="1600" dirty="0"/>
              <a:t> Branco' do </a:t>
            </a:r>
            <a:r>
              <a:rPr sz="1600" dirty="0" err="1"/>
              <a:t>Navegador</a:t>
            </a:r>
            <a:endParaRPr sz="1600" dirty="0"/>
          </a:p>
          <a:p>
            <a:pPr algn="just"/>
            <a:br>
              <a:rPr dirty="0"/>
            </a:br>
            <a:r>
              <a:rPr dirty="0"/>
              <a:t>Como </a:t>
            </a:r>
            <a:r>
              <a:rPr dirty="0" err="1"/>
              <a:t>uma</a:t>
            </a:r>
            <a:r>
              <a:rPr dirty="0"/>
              <a:t> Single Page Application (SPA), a </a:t>
            </a:r>
            <a:r>
              <a:rPr dirty="0" err="1"/>
              <a:t>navegação</a:t>
            </a:r>
            <a:r>
              <a:rPr dirty="0"/>
              <a:t> </a:t>
            </a:r>
            <a:r>
              <a:rPr dirty="0" err="1"/>
              <a:t>ocorre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rolagem</a:t>
            </a:r>
            <a:r>
              <a:rPr dirty="0"/>
              <a:t> suave (smooth scroll), </a:t>
            </a:r>
            <a:r>
              <a:rPr dirty="0" err="1"/>
              <a:t>mantendo</a:t>
            </a:r>
            <a:r>
              <a:rPr dirty="0"/>
              <a:t> a </a:t>
            </a:r>
            <a:r>
              <a:rPr dirty="0" err="1"/>
              <a:t>música</a:t>
            </a:r>
            <a:r>
              <a:rPr dirty="0"/>
              <a:t> </a:t>
            </a:r>
            <a:r>
              <a:rPr dirty="0" err="1"/>
              <a:t>tocando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cortes e </a:t>
            </a:r>
            <a:r>
              <a:rPr dirty="0" err="1"/>
              <a:t>os</a:t>
            </a:r>
            <a:r>
              <a:rPr dirty="0"/>
              <a:t> dados </a:t>
            </a:r>
            <a:r>
              <a:rPr dirty="0" err="1"/>
              <a:t>preenchidos</a:t>
            </a:r>
            <a:r>
              <a:rPr dirty="0"/>
              <a:t> no </a:t>
            </a:r>
            <a:r>
              <a:rPr dirty="0" err="1"/>
              <a:t>formulário</a:t>
            </a:r>
            <a:r>
              <a:rPr dirty="0"/>
              <a:t> </a:t>
            </a:r>
            <a:r>
              <a:rPr dirty="0" err="1"/>
              <a:t>preservados</a:t>
            </a:r>
            <a:r>
              <a:rPr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3474720"/>
            <a:ext cx="5836615" cy="25603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56874" y="3694888"/>
            <a:ext cx="5234203" cy="1785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00873E"/>
                </a:solidFill>
                <a:latin typeface="Segoe UI"/>
              </a:defRPr>
            </a:pPr>
            <a:r>
              <a:rPr sz="1600" dirty="0"/>
              <a:t>Hooks do React </a:t>
            </a:r>
            <a:r>
              <a:rPr sz="1600" dirty="0" err="1"/>
              <a:t>que</a:t>
            </a:r>
            <a:r>
              <a:rPr sz="1600" dirty="0"/>
              <a:t> Deram Vida à </a:t>
            </a:r>
            <a:r>
              <a:rPr sz="1600" dirty="0" err="1"/>
              <a:t>Aplicação</a:t>
            </a:r>
            <a:r>
              <a:rPr sz="1600" dirty="0"/>
              <a:t>:</a:t>
            </a:r>
            <a:endParaRPr lang="pt-BR" sz="1600" dirty="0"/>
          </a:p>
          <a:p>
            <a:pPr algn="ctr">
              <a:defRPr sz="1300" b="1">
                <a:solidFill>
                  <a:srgbClr val="00873E"/>
                </a:solidFill>
                <a:latin typeface="Segoe UI"/>
              </a:defRPr>
            </a:pPr>
            <a:endParaRPr sz="1600" dirty="0"/>
          </a:p>
          <a:p>
            <a:pPr algn="just">
              <a:defRPr sz="1100">
                <a:solidFill>
                  <a:srgbClr val="1E293B"/>
                </a:solidFill>
                <a:latin typeface="Segoe UI"/>
              </a:defRPr>
            </a:pPr>
            <a:r>
              <a:rPr sz="1200" dirty="0"/>
              <a:t>• </a:t>
            </a:r>
            <a:r>
              <a:rPr sz="1200" dirty="0" err="1"/>
              <a:t>useState</a:t>
            </a:r>
            <a:r>
              <a:rPr sz="1200" dirty="0"/>
              <a:t>:  Guarda o total </a:t>
            </a:r>
            <a:r>
              <a:rPr sz="1200" dirty="0" err="1"/>
              <a:t>arrecadado</a:t>
            </a:r>
            <a:r>
              <a:rPr sz="1200" dirty="0"/>
              <a:t>, </a:t>
            </a:r>
            <a:r>
              <a:rPr sz="1200" dirty="0" err="1"/>
              <a:t>filtro</a:t>
            </a:r>
            <a:r>
              <a:rPr sz="1200" dirty="0"/>
              <a:t> de bairros e menu </a:t>
            </a:r>
            <a:r>
              <a:rPr sz="1200" dirty="0" err="1"/>
              <a:t>aberto</a:t>
            </a:r>
            <a:r>
              <a:rPr sz="1200" dirty="0"/>
              <a:t>;</a:t>
            </a:r>
            <a:endParaRPr lang="pt-BR" sz="1200" dirty="0"/>
          </a:p>
          <a:p>
            <a:pPr algn="just">
              <a:defRPr sz="1100">
                <a:solidFill>
                  <a:srgbClr val="1E293B"/>
                </a:solidFill>
                <a:latin typeface="Segoe UI"/>
              </a:defRPr>
            </a:pPr>
            <a:endParaRPr sz="1200" dirty="0"/>
          </a:p>
          <a:p>
            <a:pPr algn="just">
              <a:defRPr sz="1100">
                <a:solidFill>
                  <a:srgbClr val="1E293B"/>
                </a:solidFill>
                <a:latin typeface="Segoe UI"/>
              </a:defRPr>
            </a:pPr>
            <a:r>
              <a:rPr sz="1200" dirty="0"/>
              <a:t>• </a:t>
            </a:r>
            <a:r>
              <a:rPr sz="1200" dirty="0" err="1"/>
              <a:t>useEffect</a:t>
            </a:r>
            <a:r>
              <a:rPr sz="1200" dirty="0"/>
              <a:t>:  </a:t>
            </a:r>
            <a:r>
              <a:rPr sz="1200" dirty="0" err="1"/>
              <a:t>Busca</a:t>
            </a:r>
            <a:r>
              <a:rPr sz="1200" dirty="0"/>
              <a:t> dados no IBGE e </a:t>
            </a:r>
            <a:r>
              <a:rPr sz="1200" dirty="0" err="1"/>
              <a:t>escuta</a:t>
            </a:r>
            <a:r>
              <a:rPr sz="1200" dirty="0"/>
              <a:t> </a:t>
            </a:r>
            <a:r>
              <a:rPr sz="1200" dirty="0" err="1"/>
              <a:t>eventos</a:t>
            </a:r>
            <a:r>
              <a:rPr sz="1200" dirty="0"/>
              <a:t> de clique para o </a:t>
            </a:r>
            <a:r>
              <a:rPr sz="1200" dirty="0" err="1"/>
              <a:t>som</a:t>
            </a:r>
            <a:r>
              <a:rPr sz="1200" dirty="0"/>
              <a:t>;</a:t>
            </a:r>
            <a:endParaRPr lang="pt-BR" sz="1200" dirty="0"/>
          </a:p>
          <a:p>
            <a:pPr algn="just">
              <a:defRPr sz="1100">
                <a:solidFill>
                  <a:srgbClr val="1E293B"/>
                </a:solidFill>
                <a:latin typeface="Segoe UI"/>
              </a:defRPr>
            </a:pPr>
            <a:endParaRPr sz="1200" dirty="0"/>
          </a:p>
          <a:p>
            <a:pPr algn="just">
              <a:defRPr sz="1100">
                <a:solidFill>
                  <a:srgbClr val="1E293B"/>
                </a:solidFill>
                <a:latin typeface="Segoe UI"/>
              </a:defRPr>
            </a:pPr>
            <a:r>
              <a:rPr sz="1200" dirty="0"/>
              <a:t>• </a:t>
            </a:r>
            <a:r>
              <a:rPr sz="1200" dirty="0" err="1"/>
              <a:t>useRef</a:t>
            </a:r>
            <a:r>
              <a:rPr sz="1200" dirty="0"/>
              <a:t>:  </a:t>
            </a:r>
            <a:r>
              <a:rPr sz="1200" dirty="0" err="1"/>
              <a:t>Controla</a:t>
            </a:r>
            <a:r>
              <a:rPr sz="1200" dirty="0"/>
              <a:t> a tag HTML5 audio </a:t>
            </a:r>
            <a:r>
              <a:rPr sz="1200" dirty="0" err="1"/>
              <a:t>sem</a:t>
            </a:r>
            <a:r>
              <a:rPr sz="1200" dirty="0"/>
              <a:t> re-</a:t>
            </a:r>
            <a:r>
              <a:rPr sz="1200" dirty="0" err="1"/>
              <a:t>renderizar</a:t>
            </a:r>
            <a:r>
              <a:rPr sz="1200" dirty="0"/>
              <a:t> a </a:t>
            </a:r>
            <a:r>
              <a:rPr sz="1200" dirty="0" err="1"/>
              <a:t>tela</a:t>
            </a:r>
            <a:r>
              <a:rPr sz="1200" dirty="0"/>
              <a:t> </a:t>
            </a:r>
            <a:r>
              <a:rPr sz="1200" dirty="0" err="1"/>
              <a:t>inteira</a:t>
            </a:r>
            <a:r>
              <a:rPr sz="1200" dirty="0"/>
              <a:t>;</a:t>
            </a:r>
            <a:endParaRPr lang="pt-BR" sz="1200" dirty="0"/>
          </a:p>
          <a:p>
            <a:pPr algn="just">
              <a:defRPr sz="1100">
                <a:solidFill>
                  <a:srgbClr val="1E293B"/>
                </a:solidFill>
                <a:latin typeface="Segoe UI"/>
              </a:defRPr>
            </a:pPr>
            <a:endParaRPr sz="1200" dirty="0"/>
          </a:p>
          <a:p>
            <a:pPr algn="just">
              <a:defRPr sz="1100">
                <a:solidFill>
                  <a:srgbClr val="1E293B"/>
                </a:solidFill>
                <a:latin typeface="Segoe UI"/>
              </a:defRPr>
            </a:pPr>
            <a:r>
              <a:rPr sz="1200" dirty="0"/>
              <a:t>• </a:t>
            </a:r>
            <a:r>
              <a:rPr sz="1200" dirty="0" err="1"/>
              <a:t>localStorage</a:t>
            </a:r>
            <a:r>
              <a:rPr sz="1200" dirty="0"/>
              <a:t>:  </a:t>
            </a:r>
            <a:r>
              <a:rPr sz="1200" dirty="0" err="1"/>
              <a:t>Preserva</a:t>
            </a:r>
            <a:r>
              <a:rPr sz="1200" dirty="0"/>
              <a:t> as </a:t>
            </a:r>
            <a:r>
              <a:rPr sz="1200" dirty="0" err="1"/>
              <a:t>doações</a:t>
            </a:r>
            <a:r>
              <a:rPr sz="1200" dirty="0"/>
              <a:t> </a:t>
            </a:r>
            <a:r>
              <a:rPr sz="1200" dirty="0" err="1"/>
              <a:t>mesmo</a:t>
            </a:r>
            <a:r>
              <a:rPr sz="1200" dirty="0"/>
              <a:t> </a:t>
            </a:r>
            <a:r>
              <a:rPr sz="1200" dirty="0" err="1"/>
              <a:t>fechando</a:t>
            </a:r>
            <a:r>
              <a:rPr sz="1200" dirty="0"/>
              <a:t> o </a:t>
            </a:r>
            <a:r>
              <a:rPr sz="1200" dirty="0" err="1"/>
              <a:t>navegador</a:t>
            </a:r>
            <a:r>
              <a:rPr sz="120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873E"/>
                </a:solidFill>
                <a:latin typeface="Segoe UI"/>
              </a:defRPr>
            </a:pPr>
            <a:r>
              <a:t>5. Testando na Prática: Desafios e Correções Reais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35440" y="411480"/>
            <a:ext cx="219456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5. TESTES &amp; QUALIDADE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Timbiras Solidária — ADS UEMA 2026 | Polo Universitário de Timbiras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Segoe UI"/>
              </a:defRPr>
            </a:pPr>
            <a:r>
              <a:t>Slide 8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5166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00873E"/>
                </a:solidFill>
                <a:latin typeface="Segoe UI"/>
              </a:defRPr>
            </a:pPr>
            <a:r>
              <a:t>O Que Deu Errado e Como Consertamos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516636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783080"/>
            <a:ext cx="73152" cy="1371600"/>
          </a:xfrm>
          <a:prstGeom prst="rect">
            <a:avLst/>
          </a:prstGeom>
          <a:solidFill>
            <a:srgbClr val="00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892808"/>
            <a:ext cx="48006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E293B"/>
                </a:solidFill>
                <a:latin typeface="Segoe UI"/>
              </a:defRPr>
            </a:pPr>
            <a:r>
              <a:t>1. O Desafio do Menu no Celular</a:t>
            </a:r>
          </a:p>
          <a:p>
            <a:pPr algn="just">
              <a:defRPr sz="1050">
                <a:solidFill>
                  <a:srgbClr val="64748B"/>
                </a:solidFill>
                <a:latin typeface="Segoe UI"/>
              </a:defRPr>
            </a:pPr>
            <a:r>
              <a:t>Nos primeiros testes em telas pequenas, os botões quebravam e ocupavam metade da tela. Criamos um menu hambúrguer com estado React que se recolhe perfeitamente.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37560"/>
            <a:ext cx="516636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337560"/>
            <a:ext cx="73152" cy="1371600"/>
          </a:xfrm>
          <a:prstGeom prst="rect">
            <a:avLst/>
          </a:prstGeom>
          <a:solidFill>
            <a:srgbClr val="00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447288"/>
            <a:ext cx="48006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E293B"/>
                </a:solidFill>
                <a:latin typeface="Segoe UI"/>
              </a:defRPr>
            </a:pPr>
            <a:r>
              <a:t>2. O Dado da API Visível na Tela</a:t>
            </a:r>
          </a:p>
          <a:p>
            <a:pPr algn="just">
              <a:defRPr sz="1050">
                <a:solidFill>
                  <a:srgbClr val="64748B"/>
                </a:solidFill>
                <a:latin typeface="Segoe UI"/>
              </a:defRPr>
            </a:pPr>
            <a:r>
              <a:t>Inicialmente fazíamos a busca no IBGE apenas para validar nomes internamente. O professor pontuou que o dado precisava ser visual. Criamos os cards com código IBGE de 7 dígitos e microrregião.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92040"/>
            <a:ext cx="516636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4892040"/>
            <a:ext cx="73152" cy="1371600"/>
          </a:xfrm>
          <a:prstGeom prst="rect">
            <a:avLst/>
          </a:prstGeom>
          <a:solidFill>
            <a:srgbClr val="00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5001768"/>
            <a:ext cx="48006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E293B"/>
                </a:solidFill>
                <a:latin typeface="Segoe UI"/>
              </a:defRPr>
            </a:pPr>
            <a:r>
              <a:t>3. Aviso de Renderização em Cascata</a:t>
            </a:r>
          </a:p>
          <a:p>
            <a:pPr algn="just">
              <a:defRPr sz="1050">
                <a:solidFill>
                  <a:srgbClr val="64748B"/>
                </a:solidFill>
                <a:latin typeface="Segoe UI"/>
              </a:defRPr>
            </a:pPr>
            <a:r>
              <a:t>O linter acusava risco com setState síncrono no efeito inicial. Reorganizamos a montagem dos componentes deixando o fluxo limpo.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234440"/>
            <a:ext cx="5166360" cy="48006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417320"/>
            <a:ext cx="46177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00873E"/>
                </a:solidFill>
                <a:latin typeface="Segoe UI"/>
              </a:defRPr>
            </a:pPr>
            <a:r>
              <a:t>Bateria de Testes Executados</a:t>
            </a:r>
          </a:p>
          <a:p>
            <a:br/>
            <a:r>
              <a:t>• Build de Produção com Vite: Compilado em menos de 800ms, gerando código minificado e assets otimizados na pasta dist/.</a:t>
            </a:r>
          </a:p>
          <a:p>
            <a:br/>
            <a:r>
              <a:t>• Análise Estática com Oxlint: Zero erros de sintaxe, zero alertas de React e conformidade estrita com padrões modernos de código.</a:t>
            </a:r>
          </a:p>
          <a:p>
            <a:br/>
            <a:r>
              <a:t>• Teste de Formulários em Branco: O navegador bloqueia submissão vazia e orienta o usuário de forma amigável.</a:t>
            </a:r>
          </a:p>
          <a:p>
            <a:br/>
            <a:r>
              <a:t>• Teste em Celulares Reais: Testamos botões de toque, teclado numérico e rolagem suave em dispositivos Android e iOS dos membros da equipe.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873E"/>
                </a:solidFill>
                <a:latin typeface="Segoe UI"/>
              </a:defRPr>
            </a:pPr>
            <a:r>
              <a:t>5. A Aplicação no Ar: Acesso Livre e Transparente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35440" y="411480"/>
            <a:ext cx="219456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5. PUBLICAÇÃO &amp; HOSPEDAGEM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Timbiras Solidária — ADS UEMA 2026 | Polo Universitário de Timbiras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Segoe UI"/>
              </a:defRPr>
            </a:pPr>
            <a:r>
              <a:t>Slide 9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  <a:latin typeface="Segoe UI"/>
              </a:defRPr>
            </a:pPr>
            <a:r>
              <a:t>O projeto não ficou preso em um computador local: está publicado na internet com certificado de segurança HTTPS e integração contínua a cada alteração da equipe.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965960"/>
            <a:ext cx="46634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2194560"/>
            <a:ext cx="4297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873E"/>
                </a:solidFill>
                <a:latin typeface="Segoe UI"/>
              </a:defRPr>
            </a:pPr>
            <a:r>
              <a:t>Código-Fonte no GitHub</a:t>
            </a:r>
          </a:p>
          <a:p>
            <a:br/>
            <a:r>
              <a:t>Histórico completo de versões, commits explicativos da equipe, componentes React e instruções de execução.</a:t>
            </a:r>
          </a:p>
          <a:p>
            <a:br/>
            <a:r>
              <a:t>https://github.com/ambersonrogers/timbiras-solidaria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9535" y="1965960"/>
            <a:ext cx="46634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22415" y="2194560"/>
            <a:ext cx="4297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284C7"/>
                </a:solidFill>
                <a:latin typeface="Segoe UI"/>
              </a:defRPr>
            </a:pPr>
            <a:r>
              <a:t>Aplicação no Ar (Vercel)</a:t>
            </a:r>
          </a:p>
          <a:p>
            <a:br/>
            <a:r>
              <a:t>Deploy em nuvem de alta velocidade, com roteamento de SPA configurado via vercel.json e acesso mundial.</a:t>
            </a:r>
          </a:p>
          <a:p>
            <a:br/>
            <a:r>
              <a:t>https://timbiras-solidaria.vercel.app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5623560"/>
            <a:ext cx="9814255" cy="4572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5687568"/>
            <a:ext cx="94484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873E"/>
                </a:solidFill>
                <a:latin typeface="Segoe UI"/>
              </a:defRPr>
            </a:pPr>
            <a:r>
              <a:t>Ambos os links foram testados em abas anônimas e diferentes redes para garantir acesso irrestrito do professor.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873E"/>
                </a:solidFill>
                <a:latin typeface="Segoe UI"/>
              </a:defRPr>
            </a:pPr>
            <a:r>
              <a:t>Demonstração Visual: Tela Inicial &amp; API do IBGE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35440" y="411480"/>
            <a:ext cx="219456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EVIDÊNCIAS REAIS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Timbiras Solidária — ADS UEMA 2026 | Polo Universitário de Timbiras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Segoe UI"/>
              </a:defRPr>
            </a:pPr>
            <a:r>
              <a:t>Slide 10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166360" cy="4800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32588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defRPr sz="1200" b="1">
                <a:solidFill>
                  <a:srgbClr val="00873E"/>
                </a:solidFill>
                <a:latin typeface="Segoe UI"/>
              </a:defRPr>
            </a:pPr>
            <a:r>
              <a:t>1. Tela Inicial &amp; Painel de Metas Comunitárias</a:t>
            </a:r>
          </a:p>
        </p:txBody>
      </p:sp>
      <p:pic>
        <p:nvPicPr>
          <p:cNvPr id="10" name="Picture 9" descr="captura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37360"/>
            <a:ext cx="4892040" cy="27504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4892040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000">
                <a:solidFill>
                  <a:srgbClr val="64748B"/>
                </a:solidFill>
                <a:latin typeface="Segoe UI"/>
              </a:defRPr>
            </a:pPr>
            <a:r>
              <a:t>Destaque para o acolhimento visual, foto real da agricultura familiar, contador reativo de 12 cestas e barra de progresso da meta comunitária.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234440"/>
            <a:ext cx="5166360" cy="4800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32588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2. Rota Solidária &amp; Dados Oficiais do IBGE</a:t>
            </a:r>
          </a:p>
        </p:txBody>
      </p:sp>
      <p:pic>
        <p:nvPicPr>
          <p:cNvPr id="14" name="Picture 13" descr="captura_api_ib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37360"/>
            <a:ext cx="4892040" cy="275043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0" y="4892040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000">
                <a:solidFill>
                  <a:srgbClr val="64748B"/>
                </a:solidFill>
                <a:latin typeface="Segoe UI"/>
              </a:defRPr>
            </a:pPr>
            <a:r>
              <a:t>Cards gerados diretamente do JSON da API pública do IBGE, exibindo código oficial de 7 dígitos (ex: Timbiras 2112307, Codó 2103307), microrregião e mapa interativo Leaflet.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873E"/>
                </a:solidFill>
                <a:latin typeface="Segoe UI"/>
              </a:defRPr>
            </a:pPr>
            <a:r>
              <a:t>Demonstração Visual: Formulário, PIX &amp; Prestação de Contas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35440" y="411480"/>
            <a:ext cx="219456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EVIDÊNCIAS REAIS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Timbiras Solidária — ADS UEMA 2026 | Polo Universitário de Timbiras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Segoe UI"/>
              </a:defRPr>
            </a:pPr>
            <a:r>
              <a:t>Slide 11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166360" cy="4800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32588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45309"/>
                </a:solidFill>
                <a:latin typeface="Segoe UI"/>
              </a:defRPr>
            </a:pPr>
            <a:r>
              <a:t>3. Formulário de Doação &amp; Cópia do PIX</a:t>
            </a:r>
          </a:p>
        </p:txBody>
      </p:sp>
      <p:pic>
        <p:nvPicPr>
          <p:cNvPr id="10" name="Picture 9" descr="captura_do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37360"/>
            <a:ext cx="4892040" cy="27504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4892040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000">
                <a:solidFill>
                  <a:srgbClr val="64748B"/>
                </a:solidFill>
                <a:latin typeface="Segoe UI"/>
              </a:defRPr>
            </a:pPr>
            <a:r>
              <a:t>Seleção facilitada por chips ('1 Cesta', '2 Cestas', '5 Cestas'), chave PIX com botão de cópia instantânea e formulário completo com validação nativa.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234440"/>
            <a:ext cx="5166360" cy="4800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32588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873E"/>
                </a:solidFill>
                <a:latin typeface="Segoe UI"/>
              </a:defRPr>
            </a:pPr>
            <a:r>
              <a:t>4. Transparência por Bairro e Zona Rural</a:t>
            </a:r>
          </a:p>
        </p:txBody>
      </p:sp>
      <p:pic>
        <p:nvPicPr>
          <p:cNvPr id="14" name="Picture 13" descr="captura_prestacao_cont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37360"/>
            <a:ext cx="4892040" cy="275043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0" y="4892040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000">
                <a:solidFill>
                  <a:srgbClr val="64748B"/>
                </a:solidFill>
                <a:latin typeface="Segoe UI"/>
              </a:defRPr>
            </a:pPr>
            <a:r>
              <a:t>Busca instantânea por bairros (Mutirão, Centro, Olaria, etc.), destaque para a Zona Rural (35 cestas) e somatório oficial transparente (215 cestas entregues).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873E"/>
                </a:solidFill>
                <a:latin typeface="Segoe UI"/>
              </a:defRPr>
            </a:pPr>
            <a:r>
              <a:t>Demonstração Visual: Adaptação em Telas Mobile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35440" y="411480"/>
            <a:ext cx="219456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RESPONSIVIDADE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Timbiras Solidária — ADS UEMA 2026 | Polo Universitário de Timbiras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Segoe UI"/>
              </a:defRPr>
            </a:pPr>
            <a:r>
              <a:t>Slide 12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3291840" cy="4800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873E"/>
                </a:solidFill>
                <a:latin typeface="Segoe UI"/>
              </a:defRPr>
            </a:pPr>
            <a:r>
              <a:t>Menu Hambúrguer Aberto</a:t>
            </a:r>
          </a:p>
        </p:txBody>
      </p:sp>
      <p:pic>
        <p:nvPicPr>
          <p:cNvPr id="10" name="Picture 9" descr="captura_mobile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691640"/>
            <a:ext cx="1774629" cy="3840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5623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Smartphone (390x844px)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234440"/>
            <a:ext cx="7162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defRPr sz="1600" b="1">
                <a:solidFill>
                  <a:srgbClr val="00873E"/>
                </a:solidFill>
                <a:latin typeface="Segoe UI"/>
              </a:defRPr>
            </a:pPr>
            <a:r>
              <a:t>Pensado para a Realidade de Quem Acessa pelo Celular</a:t>
            </a:r>
          </a:p>
          <a:p>
            <a:pPr algn="just">
              <a:defRPr sz="1150">
                <a:solidFill>
                  <a:srgbClr val="64748B"/>
                </a:solidFill>
                <a:latin typeface="Segoe UI"/>
              </a:defRPr>
            </a:pPr>
            <a:r>
              <a:t>No Maranhão, a grande maioria acessa a internet exclusivamente pelo smartphone. Por isso, a adaptação mobile foi prioridade técnica e humana: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103120"/>
            <a:ext cx="7162495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2103120"/>
            <a:ext cx="73152" cy="868680"/>
          </a:xfrm>
          <a:prstGeom prst="rect">
            <a:avLst/>
          </a:prstGeom>
          <a:solidFill>
            <a:srgbClr val="00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2176272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293B"/>
                </a:solidFill>
                <a:latin typeface="Segoe UI"/>
              </a:defRPr>
            </a:pPr>
            <a:r>
              <a:t>Menu Retrátil Acessível:</a:t>
            </a:r>
          </a:p>
          <a:p>
            <a:pPr algn="just">
              <a:defRPr sz="1050">
                <a:solidFill>
                  <a:srgbClr val="64748B"/>
                </a:solidFill>
                <a:latin typeface="Segoe UI"/>
              </a:defRPr>
            </a:pPr>
            <a:r>
              <a:t> O botão hambúrguer é fácil de tocar com o polegar, não polui a visão inicial e recolhe sozinho assim que o usuário clica na seção.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063240"/>
            <a:ext cx="7162495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97680" y="3063240"/>
            <a:ext cx="73152" cy="868680"/>
          </a:xfrm>
          <a:prstGeom prst="rect">
            <a:avLst/>
          </a:prstGeom>
          <a:solidFill>
            <a:srgbClr val="00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6280" y="3136392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293B"/>
                </a:solidFill>
                <a:latin typeface="Segoe UI"/>
              </a:defRPr>
            </a:pPr>
            <a:r>
              <a:t>Cards em Coluna Única:</a:t>
            </a:r>
          </a:p>
          <a:p>
            <a:pPr algn="just">
              <a:defRPr sz="1050">
                <a:solidFill>
                  <a:srgbClr val="64748B"/>
                </a:solidFill>
                <a:latin typeface="Segoe UI"/>
              </a:defRPr>
            </a:pPr>
            <a:r>
              <a:t> Os 13 bairros e os municípios do IBGE se reorganizam automaticamente em cascata vertical, sem barra de rolagem horizontal quebrada.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4023360"/>
            <a:ext cx="7162495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97680" y="4023360"/>
            <a:ext cx="73152" cy="868680"/>
          </a:xfrm>
          <a:prstGeom prst="rect">
            <a:avLst/>
          </a:prstGeom>
          <a:solidFill>
            <a:srgbClr val="00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6280" y="4096512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293B"/>
                </a:solidFill>
                <a:latin typeface="Segoe UI"/>
              </a:defRPr>
            </a:pPr>
            <a:r>
              <a:t>Player Compacto:</a:t>
            </a:r>
          </a:p>
          <a:p>
            <a:pPr algn="just">
              <a:defRPr sz="1050">
                <a:solidFill>
                  <a:srgbClr val="64748B"/>
                </a:solidFill>
                <a:latin typeface="Segoe UI"/>
              </a:defRPr>
            </a:pPr>
            <a:r>
              <a:t> A trilha sonora fica ancorada no canto inferior direito sem atrapalhar a leitura dos formulários.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983480"/>
            <a:ext cx="7162495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97680" y="4983480"/>
            <a:ext cx="73152" cy="868680"/>
          </a:xfrm>
          <a:prstGeom prst="rect">
            <a:avLst/>
          </a:prstGeom>
          <a:solidFill>
            <a:srgbClr val="00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26280" y="5056632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293B"/>
                </a:solidFill>
                <a:latin typeface="Segoe UI"/>
              </a:defRPr>
            </a:pPr>
            <a:r>
              <a:t>Teclado Numérico Otimizado:</a:t>
            </a:r>
          </a:p>
          <a:p>
            <a:pPr algn="just">
              <a:defRPr sz="1050">
                <a:solidFill>
                  <a:srgbClr val="64748B"/>
                </a:solidFill>
                <a:latin typeface="Segoe UI"/>
              </a:defRPr>
            </a:pPr>
            <a:r>
              <a:t> Campos de quantidade e valores abrem automaticamente o teclado numérico nativo do celular.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873E"/>
                </a:solidFill>
                <a:latin typeface="Segoe UI"/>
              </a:defRPr>
            </a:pPr>
            <a:r>
              <a:t>6. Conclusão: O Que Aprendemos na Pele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35440" y="411480"/>
            <a:ext cx="219456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6. APRENDIZADOS &amp; ABNT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Timbiras Solidária — ADS UEMA 2026 | Polo Universitário de Timbiras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Segoe UI"/>
              </a:defRPr>
            </a:pPr>
            <a:r>
              <a:t>Slide 13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166360" cy="2286000"/>
          </a:xfrm>
          <a:prstGeom prst="roundRect">
            <a:avLst/>
          </a:prstGeom>
          <a:solidFill>
            <a:srgbClr val="FEFCE8"/>
          </a:solidFill>
          <a:ln w="1270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234440"/>
            <a:ext cx="73152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371600"/>
            <a:ext cx="475488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B45309"/>
                </a:solidFill>
                <a:latin typeface="Segoe UI"/>
              </a:defRPr>
            </a:pPr>
            <a:r>
              <a:t>Tecnologia Feita por Pessoas, Para Pessoas:</a:t>
            </a:r>
          </a:p>
          <a:p>
            <a:br/>
            <a:r>
              <a:t>Aprendemos que um framework moderno como o React ou uma API do governo só têm valor quando resolvem um problema humano real. O código ganha vida quando serve para combater a fome e valorizar a nossa terra.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516636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3749039"/>
            <a:ext cx="73152" cy="2286000"/>
          </a:xfrm>
          <a:prstGeom prst="rect">
            <a:avLst/>
          </a:prstGeom>
          <a:solidFill>
            <a:srgbClr val="00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886200"/>
            <a:ext cx="475488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0873E"/>
                </a:solidFill>
                <a:latin typeface="Segoe UI"/>
              </a:defRPr>
            </a:pPr>
            <a:r>
              <a:t>Prontos para a Nota 3:</a:t>
            </a:r>
          </a:p>
          <a:p>
            <a:br/>
            <a:r>
              <a:t>A equipe conclui esta etapa com o sistema no ar, dados reais integrados e muito orgulho do que construímos. Estamos preparados e entusiasmados para a apresentação presencial no polo de Timbiras!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34440"/>
            <a:ext cx="5166360" cy="4800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417320"/>
            <a:ext cx="470916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873E"/>
                </a:solidFill>
                <a:latin typeface="Segoe UI"/>
              </a:defRPr>
            </a:pPr>
            <a:r>
              <a:t>Referências Bibliográficas (Normas ABNT)</a:t>
            </a:r>
          </a:p>
          <a:p>
            <a:br/>
            <a:r>
              <a:t>• BRASIL. Instituto Brasileiro de Geografia e Estatística (IBGE). API de Serviços de Dados: Localidades. Rio de Janeiro: IBGE, 2026. Disponível em: &lt;https://servicodados.ibge.gov.br/api/docs/localidades&gt;. Acesso em: 17 set. 2026.</a:t>
            </a:r>
          </a:p>
          <a:p>
            <a:br/>
            <a:r>
              <a:t>• LENNON, John. Imagine. In: Imagine. Produção: John Lennon, Yoko Ono, Phil Spector. Ascot Sound Studios: Apple Records, 1971. 1 faixa musical (3 min 3 s). Uso pedagógico e cultural.</a:t>
            </a:r>
          </a:p>
          <a:p>
            <a:br/>
            <a:r>
              <a:t>• MDN WEB DOCS. Fetch API. Mozilla Developer Network, 2026. Disponível em: &lt;https://developer.mozilla.org/pt-BR/docs/Web/API/Fetch_API&gt;. Acesso em: 17 set. 2026.</a:t>
            </a:r>
          </a:p>
          <a:p>
            <a:br/>
            <a:r>
              <a:t>• ORGANIZAÇÃO DAS NAÇÕES UNIDAS (ONU). Objetivo de Desenvolvimento Sustentável 2: Fome Zero e Agricultura Sustentável. Brasília: Nações Unidas Brasil, 2015. Disponível em: &lt;https://brasil.un.org/pt-br/sdgs/2&gt;. Acesso em: 17 set. 2026.</a:t>
            </a:r>
          </a:p>
          <a:p>
            <a:br/>
            <a:r>
              <a:t>• REACT. React — A JavaScript library for building user interfaces. Versão 19. Meta Open Source, 2026. Disponível em: &lt;https://react.dev/&gt;. Acesso em: 17 set. 2026.</a:t>
            </a:r>
          </a:p>
          <a:p>
            <a:br/>
            <a:r>
              <a:t>• VITE. Next Generation Frontend Tooling. Evan You &amp; Vite Team, 2026. Disponível em: &lt;https://vitejs.dev/&gt;. Acesso em: 17 set.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2814</Words>
  <Application>Microsoft Office PowerPoint</Application>
  <PresentationFormat>Widescreen</PresentationFormat>
  <Paragraphs>179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Segoe UI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Amberson Rogers Lindoso da Silva</cp:lastModifiedBy>
  <cp:revision>1</cp:revision>
  <dcterms:created xsi:type="dcterms:W3CDTF">2013-01-27T09:14:16Z</dcterms:created>
  <dcterms:modified xsi:type="dcterms:W3CDTF">2026-09-17T17:33:38Z</dcterms:modified>
  <cp:category/>
</cp:coreProperties>
</file>